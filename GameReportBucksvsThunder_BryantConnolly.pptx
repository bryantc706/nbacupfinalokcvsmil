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5.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6.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handoutMasterIdLst>
    <p:handoutMasterId r:id="rId27"/>
  </p:handoutMasterIdLst>
  <p:sldIdLst>
    <p:sldId id="257" r:id="rId2"/>
    <p:sldId id="267" r:id="rId3"/>
    <p:sldId id="299" r:id="rId4"/>
    <p:sldId id="270" r:id="rId5"/>
    <p:sldId id="276" r:id="rId6"/>
    <p:sldId id="298" r:id="rId7"/>
    <p:sldId id="288" r:id="rId8"/>
    <p:sldId id="291" r:id="rId9"/>
    <p:sldId id="292" r:id="rId10"/>
    <p:sldId id="300" r:id="rId11"/>
    <p:sldId id="295" r:id="rId12"/>
    <p:sldId id="264" r:id="rId13"/>
    <p:sldId id="268" r:id="rId14"/>
    <p:sldId id="269" r:id="rId15"/>
    <p:sldId id="272" r:id="rId16"/>
    <p:sldId id="296" r:id="rId17"/>
    <p:sldId id="297" r:id="rId18"/>
    <p:sldId id="274" r:id="rId19"/>
    <p:sldId id="277" r:id="rId20"/>
    <p:sldId id="281" r:id="rId21"/>
    <p:sldId id="279" r:id="rId22"/>
    <p:sldId id="280" r:id="rId23"/>
    <p:sldId id="286" r:id="rId24"/>
    <p:sldId id="278"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2215BD2-9597-4252-B01E-51E880D44D46}" v="2715" dt="2025-05-03T00:48:35.341"/>
    <p1510:client id="{D1C7451C-334D-4D2B-84E6-D471825FF4ED}" v="10" dt="2025-05-03T01:41:05.774"/>
  </p1510:revLst>
</p1510:revInfo>
</file>

<file path=ppt/tableStyles.xml><?xml version="1.0" encoding="utf-8"?>
<a:tblStyleLst xmlns:a="http://schemas.openxmlformats.org/drawingml/2006/main" def="{D03447BB-5D67-496B-8E87-E561075AD55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25" autoAdjust="0"/>
    <p:restoredTop sz="78039" autoAdjust="0"/>
  </p:normalViewPr>
  <p:slideViewPr>
    <p:cSldViewPr>
      <p:cViewPr varScale="1">
        <p:scale>
          <a:sx n="56" d="100"/>
          <a:sy n="56" d="100"/>
        </p:scale>
        <p:origin x="1574" y="274"/>
      </p:cViewPr>
      <p:guideLst/>
    </p:cSldViewPr>
  </p:slideViewPr>
  <p:notesTextViewPr>
    <p:cViewPr>
      <p:scale>
        <a:sx n="1" d="1"/>
        <a:sy n="1" d="1"/>
      </p:scale>
      <p:origin x="0" y="0"/>
    </p:cViewPr>
  </p:notesTextViewPr>
  <p:notesViewPr>
    <p:cSldViewPr>
      <p:cViewPr varScale="1">
        <p:scale>
          <a:sx n="95" d="100"/>
          <a:sy n="95" d="100"/>
        </p:scale>
        <p:origin x="696"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yant Connolly" userId="96744f3689a6d0e8" providerId="LiveId" clId="{D1C7451C-334D-4D2B-84E6-D471825FF4ED}"/>
    <pc:docChg chg="custSel addSld modSld">
      <pc:chgData name="Bryant Connolly" userId="96744f3689a6d0e8" providerId="LiveId" clId="{D1C7451C-334D-4D2B-84E6-D471825FF4ED}" dt="2025-05-03T01:57:56.152" v="433" actId="20577"/>
      <pc:docMkLst>
        <pc:docMk/>
      </pc:docMkLst>
      <pc:sldChg chg="modNotesTx">
        <pc:chgData name="Bryant Connolly" userId="96744f3689a6d0e8" providerId="LiveId" clId="{D1C7451C-334D-4D2B-84E6-D471825FF4ED}" dt="2025-05-03T01:44:57.851" v="103" actId="20577"/>
        <pc:sldMkLst>
          <pc:docMk/>
          <pc:sldMk cId="1949577601" sldId="264"/>
        </pc:sldMkLst>
      </pc:sldChg>
      <pc:sldChg chg="modNotesTx">
        <pc:chgData name="Bryant Connolly" userId="96744f3689a6d0e8" providerId="LiveId" clId="{D1C7451C-334D-4D2B-84E6-D471825FF4ED}" dt="2025-05-03T01:45:54.243" v="301" actId="20577"/>
        <pc:sldMkLst>
          <pc:docMk/>
          <pc:sldMk cId="2993111047" sldId="268"/>
        </pc:sldMkLst>
      </pc:sldChg>
      <pc:sldChg chg="modNotesTx">
        <pc:chgData name="Bryant Connolly" userId="96744f3689a6d0e8" providerId="LiveId" clId="{D1C7451C-334D-4D2B-84E6-D471825FF4ED}" dt="2025-05-03T01:48:21.780" v="305"/>
        <pc:sldMkLst>
          <pc:docMk/>
          <pc:sldMk cId="4078798235" sldId="269"/>
        </pc:sldMkLst>
      </pc:sldChg>
      <pc:sldChg chg="modNotesTx">
        <pc:chgData name="Bryant Connolly" userId="96744f3689a6d0e8" providerId="LiveId" clId="{D1C7451C-334D-4D2B-84E6-D471825FF4ED}" dt="2025-05-03T01:49:09.924" v="309"/>
        <pc:sldMkLst>
          <pc:docMk/>
          <pc:sldMk cId="1901797493" sldId="272"/>
        </pc:sldMkLst>
      </pc:sldChg>
      <pc:sldChg chg="modNotesTx">
        <pc:chgData name="Bryant Connolly" userId="96744f3689a6d0e8" providerId="LiveId" clId="{D1C7451C-334D-4D2B-84E6-D471825FF4ED}" dt="2025-05-03T01:53:18.590" v="323"/>
        <pc:sldMkLst>
          <pc:docMk/>
          <pc:sldMk cId="746266241" sldId="277"/>
        </pc:sldMkLst>
      </pc:sldChg>
      <pc:sldChg chg="modNotesTx">
        <pc:chgData name="Bryant Connolly" userId="96744f3689a6d0e8" providerId="LiveId" clId="{D1C7451C-334D-4D2B-84E6-D471825FF4ED}" dt="2025-05-03T01:56:19.643" v="430" actId="20577"/>
        <pc:sldMkLst>
          <pc:docMk/>
          <pc:sldMk cId="2289105194" sldId="278"/>
        </pc:sldMkLst>
      </pc:sldChg>
      <pc:sldChg chg="modNotesTx">
        <pc:chgData name="Bryant Connolly" userId="96744f3689a6d0e8" providerId="LiveId" clId="{D1C7451C-334D-4D2B-84E6-D471825FF4ED}" dt="2025-05-03T01:55:05.855" v="333"/>
        <pc:sldMkLst>
          <pc:docMk/>
          <pc:sldMk cId="4227956745" sldId="279"/>
        </pc:sldMkLst>
      </pc:sldChg>
      <pc:sldChg chg="modNotesTx">
        <pc:chgData name="Bryant Connolly" userId="96744f3689a6d0e8" providerId="LiveId" clId="{D1C7451C-334D-4D2B-84E6-D471825FF4ED}" dt="2025-05-03T01:55:44.698" v="337"/>
        <pc:sldMkLst>
          <pc:docMk/>
          <pc:sldMk cId="175664214" sldId="280"/>
        </pc:sldMkLst>
      </pc:sldChg>
      <pc:sldChg chg="modNotesTx">
        <pc:chgData name="Bryant Connolly" userId="96744f3689a6d0e8" providerId="LiveId" clId="{D1C7451C-334D-4D2B-84E6-D471825FF4ED}" dt="2025-05-03T01:54:05.912" v="327"/>
        <pc:sldMkLst>
          <pc:docMk/>
          <pc:sldMk cId="716474223" sldId="281"/>
        </pc:sldMkLst>
      </pc:sldChg>
      <pc:sldChg chg="modSp mod modNotesTx">
        <pc:chgData name="Bryant Connolly" userId="96744f3689a6d0e8" providerId="LiveId" clId="{D1C7451C-334D-4D2B-84E6-D471825FF4ED}" dt="2025-05-03T01:57:05.184" v="431"/>
        <pc:sldMkLst>
          <pc:docMk/>
          <pc:sldMk cId="3437920961" sldId="286"/>
        </pc:sldMkLst>
        <pc:spChg chg="mod">
          <ac:chgData name="Bryant Connolly" userId="96744f3689a6d0e8" providerId="LiveId" clId="{D1C7451C-334D-4D2B-84E6-D471825FF4ED}" dt="2025-05-03T01:54:20.476" v="329" actId="20577"/>
          <ac:spMkLst>
            <pc:docMk/>
            <pc:sldMk cId="3437920961" sldId="286"/>
            <ac:spMk id="13" creationId="{A08FE77C-60E8-2D48-EDC1-890C3A6ED5EE}"/>
          </ac:spMkLst>
        </pc:spChg>
      </pc:sldChg>
      <pc:sldChg chg="modSp mod">
        <pc:chgData name="Bryant Connolly" userId="96744f3689a6d0e8" providerId="LiveId" clId="{D1C7451C-334D-4D2B-84E6-D471825FF4ED}" dt="2025-05-03T01:57:56.152" v="433" actId="20577"/>
        <pc:sldMkLst>
          <pc:docMk/>
          <pc:sldMk cId="69843553" sldId="288"/>
        </pc:sldMkLst>
        <pc:spChg chg="mod">
          <ac:chgData name="Bryant Connolly" userId="96744f3689a6d0e8" providerId="LiveId" clId="{D1C7451C-334D-4D2B-84E6-D471825FF4ED}" dt="2025-05-03T01:57:56.152" v="433" actId="20577"/>
          <ac:spMkLst>
            <pc:docMk/>
            <pc:sldMk cId="69843553" sldId="288"/>
            <ac:spMk id="2" creationId="{59D21B50-3953-EB9D-60F4-FA8492C860C3}"/>
          </ac:spMkLst>
        </pc:spChg>
      </pc:sldChg>
      <pc:sldChg chg="modNotesTx">
        <pc:chgData name="Bryant Connolly" userId="96744f3689a6d0e8" providerId="LiveId" clId="{D1C7451C-334D-4D2B-84E6-D471825FF4ED}" dt="2025-05-03T01:50:15.666" v="313"/>
        <pc:sldMkLst>
          <pc:docMk/>
          <pc:sldMk cId="2787070698" sldId="296"/>
        </pc:sldMkLst>
      </pc:sldChg>
      <pc:sldChg chg="modNotesTx">
        <pc:chgData name="Bryant Connolly" userId="96744f3689a6d0e8" providerId="LiveId" clId="{D1C7451C-334D-4D2B-84E6-D471825FF4ED}" dt="2025-05-03T01:52:27.046" v="318" actId="20577"/>
        <pc:sldMkLst>
          <pc:docMk/>
          <pc:sldMk cId="4048503815" sldId="297"/>
        </pc:sldMkLst>
      </pc:sldChg>
      <pc:sldChg chg="modSp">
        <pc:chgData name="Bryant Connolly" userId="96744f3689a6d0e8" providerId="LiveId" clId="{D1C7451C-334D-4D2B-84E6-D471825FF4ED}" dt="2025-05-03T01:01:39.800" v="5"/>
        <pc:sldMkLst>
          <pc:docMk/>
          <pc:sldMk cId="303417510" sldId="298"/>
        </pc:sldMkLst>
        <pc:graphicFrameChg chg="mod">
          <ac:chgData name="Bryant Connolly" userId="96744f3689a6d0e8" providerId="LiveId" clId="{D1C7451C-334D-4D2B-84E6-D471825FF4ED}" dt="2025-05-03T01:01:39.800" v="5"/>
          <ac:graphicFrameMkLst>
            <pc:docMk/>
            <pc:sldMk cId="303417510" sldId="298"/>
            <ac:graphicFrameMk id="5" creationId="{51C17738-775F-3AE5-EA21-C679774A2F67}"/>
          </ac:graphicFrameMkLst>
        </pc:graphicFrameChg>
      </pc:sldChg>
      <pc:sldChg chg="modSp">
        <pc:chgData name="Bryant Connolly" userId="96744f3689a6d0e8" providerId="LiveId" clId="{D1C7451C-334D-4D2B-84E6-D471825FF4ED}" dt="2025-05-03T00:58:28.888" v="2" actId="113"/>
        <pc:sldMkLst>
          <pc:docMk/>
          <pc:sldMk cId="2728901334" sldId="299"/>
        </pc:sldMkLst>
        <pc:graphicFrameChg chg="mod">
          <ac:chgData name="Bryant Connolly" userId="96744f3689a6d0e8" providerId="LiveId" clId="{D1C7451C-334D-4D2B-84E6-D471825FF4ED}" dt="2025-05-03T00:58:28.888" v="2" actId="113"/>
          <ac:graphicFrameMkLst>
            <pc:docMk/>
            <pc:sldMk cId="2728901334" sldId="299"/>
            <ac:graphicFrameMk id="12" creationId="{16F1ED04-9ACE-D631-B7AE-0D216DC3E4FB}"/>
          </ac:graphicFrameMkLst>
        </pc:graphicFrameChg>
      </pc:sldChg>
      <pc:sldChg chg="addSp delSp modSp new mod modClrScheme chgLayout">
        <pc:chgData name="Bryant Connolly" userId="96744f3689a6d0e8" providerId="LiveId" clId="{D1C7451C-334D-4D2B-84E6-D471825FF4ED}" dt="2025-05-03T01:41:45.557" v="32" actId="26606"/>
        <pc:sldMkLst>
          <pc:docMk/>
          <pc:sldMk cId="766552538" sldId="300"/>
        </pc:sldMkLst>
        <pc:spChg chg="del">
          <ac:chgData name="Bryant Connolly" userId="96744f3689a6d0e8" providerId="LiveId" clId="{D1C7451C-334D-4D2B-84E6-D471825FF4ED}" dt="2025-05-03T01:37:07.766" v="7" actId="26606"/>
          <ac:spMkLst>
            <pc:docMk/>
            <pc:sldMk cId="766552538" sldId="300"/>
            <ac:spMk id="2" creationId="{8EEB7BC1-BB89-1443-13E3-774F0B3CAD37}"/>
          </ac:spMkLst>
        </pc:spChg>
        <pc:spChg chg="del">
          <ac:chgData name="Bryant Connolly" userId="96744f3689a6d0e8" providerId="LiveId" clId="{D1C7451C-334D-4D2B-84E6-D471825FF4ED}" dt="2025-05-03T01:37:07.766" v="7" actId="26606"/>
          <ac:spMkLst>
            <pc:docMk/>
            <pc:sldMk cId="766552538" sldId="300"/>
            <ac:spMk id="3" creationId="{7131E07D-C335-E90E-68EB-7034BAB71691}"/>
          </ac:spMkLst>
        </pc:spChg>
        <pc:spChg chg="del">
          <ac:chgData name="Bryant Connolly" userId="96744f3689a6d0e8" providerId="LiveId" clId="{D1C7451C-334D-4D2B-84E6-D471825FF4ED}" dt="2025-05-03T01:37:07.766" v="7" actId="26606"/>
          <ac:spMkLst>
            <pc:docMk/>
            <pc:sldMk cId="766552538" sldId="300"/>
            <ac:spMk id="4" creationId="{5E30507A-E754-0893-C273-6F886253B784}"/>
          </ac:spMkLst>
        </pc:spChg>
        <pc:spChg chg="add">
          <ac:chgData name="Bryant Connolly" userId="96744f3689a6d0e8" providerId="LiveId" clId="{D1C7451C-334D-4D2B-84E6-D471825FF4ED}" dt="2025-05-03T01:38:52.917" v="11"/>
          <ac:spMkLst>
            <pc:docMk/>
            <pc:sldMk cId="766552538" sldId="300"/>
            <ac:spMk id="5" creationId="{74095825-CCB6-E56F-7D3E-3AE11E6A4869}"/>
          </ac:spMkLst>
        </pc:spChg>
        <pc:spChg chg="add mod">
          <ac:chgData name="Bryant Connolly" userId="96744f3689a6d0e8" providerId="LiveId" clId="{D1C7451C-334D-4D2B-84E6-D471825FF4ED}" dt="2025-05-03T01:39:24.387" v="18" actId="26606"/>
          <ac:spMkLst>
            <pc:docMk/>
            <pc:sldMk cId="766552538" sldId="300"/>
            <ac:spMk id="9" creationId="{EB988451-B50F-FE7C-A20B-49910A6EBD83}"/>
          </ac:spMkLst>
        </pc:spChg>
        <pc:spChg chg="add del mod">
          <ac:chgData name="Bryant Connolly" userId="96744f3689a6d0e8" providerId="LiveId" clId="{D1C7451C-334D-4D2B-84E6-D471825FF4ED}" dt="2025-05-03T01:41:45.557" v="32" actId="26606"/>
          <ac:spMkLst>
            <pc:docMk/>
            <pc:sldMk cId="766552538" sldId="300"/>
            <ac:spMk id="11" creationId="{BE4401AD-FC2C-2487-AC64-8721D5695557}"/>
          </ac:spMkLst>
        </pc:spChg>
        <pc:spChg chg="add mod">
          <ac:chgData name="Bryant Connolly" userId="96744f3689a6d0e8" providerId="LiveId" clId="{D1C7451C-334D-4D2B-84E6-D471825FF4ED}" dt="2025-05-03T01:41:45.557" v="32" actId="26606"/>
          <ac:spMkLst>
            <pc:docMk/>
            <pc:sldMk cId="766552538" sldId="300"/>
            <ac:spMk id="16" creationId="{5B91C2FC-97A4-8386-8149-8A6FF557564C}"/>
          </ac:spMkLst>
        </pc:spChg>
        <pc:graphicFrameChg chg="add">
          <ac:chgData name="Bryant Connolly" userId="96744f3689a6d0e8" providerId="LiveId" clId="{D1C7451C-334D-4D2B-84E6-D471825FF4ED}" dt="2025-05-03T01:41:45.557" v="32" actId="26606"/>
          <ac:graphicFrameMkLst>
            <pc:docMk/>
            <pc:sldMk cId="766552538" sldId="300"/>
            <ac:graphicFrameMk id="18" creationId="{D93A5E38-2989-C367-07B6-4B749BB38AA9}"/>
          </ac:graphicFrameMkLst>
        </pc:graphicFrameChg>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_rels/data3.xml.rels><?xml version="1.0" encoding="UTF-8" standalone="yes"?>
<Relationships xmlns="http://schemas.openxmlformats.org/package/2006/relationships"><Relationship Id="rId3" Type="http://schemas.openxmlformats.org/officeDocument/2006/relationships/slide" Target="../slides/slide12.xml"/><Relationship Id="rId2" Type="http://schemas.openxmlformats.org/officeDocument/2006/relationships/slide" Target="../slides/slide14.xml"/><Relationship Id="rId1" Type="http://schemas.openxmlformats.org/officeDocument/2006/relationships/slide" Target="../slides/slide13.xml"/></Relationships>
</file>

<file path=ppt/diagrams/_rels/data4.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slide" Target="../slides/slide17.xml"/><Relationship Id="rId7" Type="http://schemas.openxmlformats.org/officeDocument/2006/relationships/image" Target="../media/image18.png"/><Relationship Id="rId12" Type="http://schemas.openxmlformats.org/officeDocument/2006/relationships/image" Target="../media/image22.svg"/><Relationship Id="rId2" Type="http://schemas.openxmlformats.org/officeDocument/2006/relationships/slide" Target="../slides/slide18.xml"/><Relationship Id="rId1" Type="http://schemas.openxmlformats.org/officeDocument/2006/relationships/slide" Target="../slides/slide15.xml"/><Relationship Id="rId6" Type="http://schemas.openxmlformats.org/officeDocument/2006/relationships/image" Target="../media/image11.svg"/><Relationship Id="rId11" Type="http://schemas.openxmlformats.org/officeDocument/2006/relationships/image" Target="../media/image6.png"/><Relationship Id="rId5" Type="http://schemas.openxmlformats.org/officeDocument/2006/relationships/image" Target="../media/image10.png"/><Relationship Id="rId10" Type="http://schemas.openxmlformats.org/officeDocument/2006/relationships/image" Target="../media/image21.svg"/><Relationship Id="rId4" Type="http://schemas.openxmlformats.org/officeDocument/2006/relationships/slide" Target="../slides/slide16.xml"/><Relationship Id="rId9" Type="http://schemas.openxmlformats.org/officeDocument/2006/relationships/image" Target="../media/image20.png"/></Relationships>
</file>

<file path=ppt/diagrams/_rels/data5.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slide" Target="../slides/slide22.xml"/><Relationship Id="rId7" Type="http://schemas.openxmlformats.org/officeDocument/2006/relationships/image" Target="../media/image25.png"/><Relationship Id="rId12" Type="http://schemas.openxmlformats.org/officeDocument/2006/relationships/image" Target="../media/image28.svg"/><Relationship Id="rId2" Type="http://schemas.openxmlformats.org/officeDocument/2006/relationships/slide" Target="../slides/slide20.xml"/><Relationship Id="rId1" Type="http://schemas.openxmlformats.org/officeDocument/2006/relationships/slide" Target="../slides/slide21.xml"/><Relationship Id="rId6" Type="http://schemas.openxmlformats.org/officeDocument/2006/relationships/image" Target="../media/image24.svg"/><Relationship Id="rId11" Type="http://schemas.openxmlformats.org/officeDocument/2006/relationships/image" Target="../media/image27.png"/><Relationship Id="rId5" Type="http://schemas.openxmlformats.org/officeDocument/2006/relationships/image" Target="../media/image23.png"/><Relationship Id="rId10" Type="http://schemas.openxmlformats.org/officeDocument/2006/relationships/image" Target="../media/image21.svg"/><Relationship Id="rId4" Type="http://schemas.openxmlformats.org/officeDocument/2006/relationships/slide" Target="../slides/slide19.xml"/><Relationship Id="rId9" Type="http://schemas.openxmlformats.org/officeDocument/2006/relationships/image" Target="../media/image20.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_rels/drawing4.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18.png"/><Relationship Id="rId7" Type="http://schemas.openxmlformats.org/officeDocument/2006/relationships/image" Target="../media/image6.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s>
</file>

<file path=ppt/diagrams/_rels/drawing5.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25.png"/><Relationship Id="rId7" Type="http://schemas.openxmlformats.org/officeDocument/2006/relationships/image" Target="../media/image27.png"/><Relationship Id="rId2" Type="http://schemas.openxmlformats.org/officeDocument/2006/relationships/image" Target="../media/image24.svg"/><Relationship Id="rId1" Type="http://schemas.openxmlformats.org/officeDocument/2006/relationships/image" Target="../media/image23.png"/><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26.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464AF41-D394-4CD9-A870-BEA288B73967}"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105E9E41-07C4-4978-A1FA-EA6A030C29E2}">
      <dgm:prSet/>
      <dgm:spPr/>
      <dgm:t>
        <a:bodyPr/>
        <a:lstStyle/>
        <a:p>
          <a:r>
            <a:rPr lang="en-US" dirty="0">
              <a:solidFill>
                <a:schemeClr val="bg1">
                  <a:lumMod val="85000"/>
                  <a:lumOff val="15000"/>
                </a:schemeClr>
              </a:solidFill>
            </a:rPr>
            <a:t>In the NBA Cup Final between the Milwaukee Bucks and the Oklahoma City Thunder, the Bucks prevailed 97 to 81. </a:t>
          </a:r>
        </a:p>
      </dgm:t>
    </dgm:pt>
    <dgm:pt modelId="{9E4D399D-71C4-4801-B8F0-2BDEDBE03871}" type="parTrans" cxnId="{378D5EFB-C350-423E-A4F3-570C20A858C5}">
      <dgm:prSet/>
      <dgm:spPr/>
      <dgm:t>
        <a:bodyPr/>
        <a:lstStyle/>
        <a:p>
          <a:endParaRPr lang="en-US"/>
        </a:p>
      </dgm:t>
    </dgm:pt>
    <dgm:pt modelId="{4278F099-9DF3-40A3-9FA6-24F1285E0E21}" type="sibTrans" cxnId="{378D5EFB-C350-423E-A4F3-570C20A858C5}">
      <dgm:prSet/>
      <dgm:spPr/>
      <dgm:t>
        <a:bodyPr/>
        <a:lstStyle/>
        <a:p>
          <a:endParaRPr lang="en-US"/>
        </a:p>
      </dgm:t>
    </dgm:pt>
    <dgm:pt modelId="{283234BC-ECC7-4CC3-932D-AAC89CB2FC18}">
      <dgm:prSet/>
      <dgm:spPr/>
      <dgm:t>
        <a:bodyPr/>
        <a:lstStyle/>
        <a:p>
          <a:r>
            <a:rPr lang="en-US" dirty="0">
              <a:solidFill>
                <a:schemeClr val="bg1">
                  <a:lumMod val="85000"/>
                  <a:lumOff val="15000"/>
                </a:schemeClr>
              </a:solidFill>
            </a:rPr>
            <a:t>Giannis Antetokounmpo and Shai Gilgeous-Alexander led their teams in scoring with </a:t>
          </a:r>
          <a:r>
            <a:rPr lang="en-US" b="1" dirty="0">
              <a:solidFill>
                <a:schemeClr val="bg1">
                  <a:lumMod val="85000"/>
                  <a:lumOff val="15000"/>
                </a:schemeClr>
              </a:solidFill>
            </a:rPr>
            <a:t>26</a:t>
          </a:r>
          <a:r>
            <a:rPr lang="en-US" dirty="0">
              <a:solidFill>
                <a:schemeClr val="bg1">
                  <a:lumMod val="85000"/>
                  <a:lumOff val="15000"/>
                </a:schemeClr>
              </a:solidFill>
            </a:rPr>
            <a:t> and </a:t>
          </a:r>
          <a:r>
            <a:rPr lang="en-US" b="1" dirty="0">
              <a:solidFill>
                <a:schemeClr val="bg1">
                  <a:lumMod val="85000"/>
                  <a:lumOff val="15000"/>
                </a:schemeClr>
              </a:solidFill>
            </a:rPr>
            <a:t>23</a:t>
          </a:r>
          <a:r>
            <a:rPr lang="en-US" dirty="0">
              <a:solidFill>
                <a:schemeClr val="bg1">
                  <a:lumMod val="85000"/>
                  <a:lumOff val="15000"/>
                </a:schemeClr>
              </a:solidFill>
            </a:rPr>
            <a:t>. </a:t>
          </a:r>
        </a:p>
      </dgm:t>
    </dgm:pt>
    <dgm:pt modelId="{3A02BB1A-6B72-4AA1-A413-F48CF756DFD1}" type="parTrans" cxnId="{F196C075-7294-439A-B53C-9ADED43C42F0}">
      <dgm:prSet/>
      <dgm:spPr/>
      <dgm:t>
        <a:bodyPr/>
        <a:lstStyle/>
        <a:p>
          <a:endParaRPr lang="en-US"/>
        </a:p>
      </dgm:t>
    </dgm:pt>
    <dgm:pt modelId="{5911F499-5DA7-4B7E-9317-C9C1F2966B4B}" type="sibTrans" cxnId="{F196C075-7294-439A-B53C-9ADED43C42F0}">
      <dgm:prSet/>
      <dgm:spPr/>
      <dgm:t>
        <a:bodyPr/>
        <a:lstStyle/>
        <a:p>
          <a:endParaRPr lang="en-US"/>
        </a:p>
      </dgm:t>
    </dgm:pt>
    <dgm:pt modelId="{96056DC0-4C3D-4C32-98BB-B24E3A9F3F6D}">
      <dgm:prSet/>
      <dgm:spPr/>
      <dgm:t>
        <a:bodyPr/>
        <a:lstStyle/>
        <a:p>
          <a:r>
            <a:rPr lang="en-US" dirty="0">
              <a:solidFill>
                <a:schemeClr val="bg1">
                  <a:lumMod val="85000"/>
                  <a:lumOff val="15000"/>
                </a:schemeClr>
              </a:solidFill>
            </a:rPr>
            <a:t>The game was competitive in the first half, but the Bucks extended their lead by outscoring the Thunder </a:t>
          </a:r>
          <a:r>
            <a:rPr lang="en-US" b="1" dirty="0">
              <a:solidFill>
                <a:schemeClr val="bg1">
                  <a:lumMod val="85000"/>
                  <a:lumOff val="15000"/>
                </a:schemeClr>
              </a:solidFill>
            </a:rPr>
            <a:t>26</a:t>
          </a:r>
          <a:r>
            <a:rPr lang="en-US" dirty="0">
              <a:solidFill>
                <a:schemeClr val="bg1">
                  <a:lumMod val="85000"/>
                  <a:lumOff val="15000"/>
                </a:schemeClr>
              </a:solidFill>
            </a:rPr>
            <a:t> to </a:t>
          </a:r>
          <a:r>
            <a:rPr lang="en-US" b="1" dirty="0">
              <a:solidFill>
                <a:schemeClr val="bg1">
                  <a:lumMod val="85000"/>
                  <a:lumOff val="15000"/>
                </a:schemeClr>
              </a:solidFill>
            </a:rPr>
            <a:t>14</a:t>
          </a:r>
          <a:r>
            <a:rPr lang="en-US" dirty="0">
              <a:solidFill>
                <a:schemeClr val="bg1">
                  <a:lumMod val="85000"/>
                  <a:lumOff val="15000"/>
                </a:schemeClr>
              </a:solidFill>
            </a:rPr>
            <a:t> in the third quarter.</a:t>
          </a:r>
        </a:p>
      </dgm:t>
    </dgm:pt>
    <dgm:pt modelId="{9CD826FD-7E73-4741-B314-E3FD48FF14D4}" type="parTrans" cxnId="{ECA34C52-4D22-40E2-9FE4-54DA827860BF}">
      <dgm:prSet/>
      <dgm:spPr/>
      <dgm:t>
        <a:bodyPr/>
        <a:lstStyle/>
        <a:p>
          <a:endParaRPr lang="en-US"/>
        </a:p>
      </dgm:t>
    </dgm:pt>
    <dgm:pt modelId="{C3199D05-F98A-431F-A1DF-56D136B724A4}" type="sibTrans" cxnId="{ECA34C52-4D22-40E2-9FE4-54DA827860BF}">
      <dgm:prSet/>
      <dgm:spPr/>
      <dgm:t>
        <a:bodyPr/>
        <a:lstStyle/>
        <a:p>
          <a:endParaRPr lang="en-US"/>
        </a:p>
      </dgm:t>
    </dgm:pt>
    <dgm:pt modelId="{7C8A2421-82D1-4D52-8F63-E8C25780573A}">
      <dgm:prSet/>
      <dgm:spPr/>
      <dgm:t>
        <a:bodyPr/>
        <a:lstStyle/>
        <a:p>
          <a:r>
            <a:rPr lang="en-US" dirty="0">
              <a:solidFill>
                <a:schemeClr val="bg1">
                  <a:lumMod val="85000"/>
                  <a:lumOff val="15000"/>
                </a:schemeClr>
              </a:solidFill>
            </a:rPr>
            <a:t>The Thunder team shot </a:t>
          </a:r>
          <a:r>
            <a:rPr lang="en-US" b="1" dirty="0">
              <a:solidFill>
                <a:schemeClr val="bg1">
                  <a:lumMod val="85000"/>
                  <a:lumOff val="15000"/>
                </a:schemeClr>
              </a:solidFill>
            </a:rPr>
            <a:t>33.7% </a:t>
          </a:r>
          <a:r>
            <a:rPr lang="en-US" dirty="0">
              <a:solidFill>
                <a:schemeClr val="bg1">
                  <a:lumMod val="85000"/>
                  <a:lumOff val="15000"/>
                </a:schemeClr>
              </a:solidFill>
            </a:rPr>
            <a:t>overall, with </a:t>
          </a:r>
          <a:r>
            <a:rPr lang="en-US" b="1" dirty="0">
              <a:solidFill>
                <a:schemeClr val="bg1">
                  <a:lumMod val="85000"/>
                  <a:lumOff val="15000"/>
                </a:schemeClr>
              </a:solidFill>
            </a:rPr>
            <a:t>15.6%</a:t>
          </a:r>
          <a:r>
            <a:rPr lang="en-US" dirty="0">
              <a:solidFill>
                <a:schemeClr val="bg1">
                  <a:lumMod val="85000"/>
                  <a:lumOff val="15000"/>
                </a:schemeClr>
              </a:solidFill>
            </a:rPr>
            <a:t> from three-point range. In the third quarter, they shot </a:t>
          </a:r>
          <a:r>
            <a:rPr lang="en-US" b="1" dirty="0">
              <a:solidFill>
                <a:schemeClr val="bg1">
                  <a:lumMod val="85000"/>
                  <a:lumOff val="15000"/>
                </a:schemeClr>
              </a:solidFill>
            </a:rPr>
            <a:t>26.3%</a:t>
          </a:r>
          <a:r>
            <a:rPr lang="en-US" dirty="0">
              <a:solidFill>
                <a:schemeClr val="bg1">
                  <a:lumMod val="85000"/>
                  <a:lumOff val="15000"/>
                </a:schemeClr>
              </a:solidFill>
            </a:rPr>
            <a:t> field goal percentage and </a:t>
          </a:r>
          <a:r>
            <a:rPr lang="en-US" b="1" dirty="0">
              <a:solidFill>
                <a:schemeClr val="bg1">
                  <a:lumMod val="85000"/>
                  <a:lumOff val="15000"/>
                </a:schemeClr>
              </a:solidFill>
            </a:rPr>
            <a:t>28.6%</a:t>
          </a:r>
          <a:r>
            <a:rPr lang="en-US" dirty="0">
              <a:solidFill>
                <a:schemeClr val="bg1">
                  <a:lumMod val="85000"/>
                  <a:lumOff val="15000"/>
                </a:schemeClr>
              </a:solidFill>
            </a:rPr>
            <a:t> from three-point range. (Had FG% of 48.2 and 3P% of 31.3 previously).</a:t>
          </a:r>
        </a:p>
      </dgm:t>
    </dgm:pt>
    <dgm:pt modelId="{A4B3A40F-0B23-497A-9648-0F0C7E18BBFC}" type="parTrans" cxnId="{90958CF7-A68C-4D63-A15C-0A069A6D1740}">
      <dgm:prSet/>
      <dgm:spPr/>
      <dgm:t>
        <a:bodyPr/>
        <a:lstStyle/>
        <a:p>
          <a:endParaRPr lang="en-US"/>
        </a:p>
      </dgm:t>
    </dgm:pt>
    <dgm:pt modelId="{0D0AF4B4-5053-49AE-A31E-72656C4AC0AB}" type="sibTrans" cxnId="{90958CF7-A68C-4D63-A15C-0A069A6D1740}">
      <dgm:prSet/>
      <dgm:spPr/>
      <dgm:t>
        <a:bodyPr/>
        <a:lstStyle/>
        <a:p>
          <a:endParaRPr lang="en-US"/>
        </a:p>
      </dgm:t>
    </dgm:pt>
    <dgm:pt modelId="{9EABE3CC-EC31-462B-8282-03A0A201AE8F}" type="pres">
      <dgm:prSet presAssocID="{A464AF41-D394-4CD9-A870-BEA288B73967}" presName="root" presStyleCnt="0">
        <dgm:presLayoutVars>
          <dgm:dir/>
          <dgm:resizeHandles val="exact"/>
        </dgm:presLayoutVars>
      </dgm:prSet>
      <dgm:spPr/>
    </dgm:pt>
    <dgm:pt modelId="{4D0D89DF-6CCF-452A-92AA-6A991BF34877}" type="pres">
      <dgm:prSet presAssocID="{105E9E41-07C4-4978-A1FA-EA6A030C29E2}" presName="compNode" presStyleCnt="0"/>
      <dgm:spPr/>
    </dgm:pt>
    <dgm:pt modelId="{5348FC19-6CC3-4460-9089-89A4AB6E15AA}" type="pres">
      <dgm:prSet presAssocID="{105E9E41-07C4-4978-A1FA-EA6A030C29E2}" presName="bgRect" presStyleLbl="bgShp" presStyleIdx="0" presStyleCnt="4"/>
      <dgm:spPr/>
    </dgm:pt>
    <dgm:pt modelId="{6B0E3332-E90F-4729-8E0D-D51A32DE7821}" type="pres">
      <dgm:prSet presAssocID="{105E9E41-07C4-4978-A1FA-EA6A030C29E2}"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asketball"/>
        </a:ext>
      </dgm:extLst>
    </dgm:pt>
    <dgm:pt modelId="{FCB6B9B2-7649-4B20-83DE-CE1F13FBF352}" type="pres">
      <dgm:prSet presAssocID="{105E9E41-07C4-4978-A1FA-EA6A030C29E2}" presName="spaceRect" presStyleCnt="0"/>
      <dgm:spPr/>
    </dgm:pt>
    <dgm:pt modelId="{DBFE5AE6-D258-4476-9E48-2BEEB213FADF}" type="pres">
      <dgm:prSet presAssocID="{105E9E41-07C4-4978-A1FA-EA6A030C29E2}" presName="parTx" presStyleLbl="revTx" presStyleIdx="0" presStyleCnt="4">
        <dgm:presLayoutVars>
          <dgm:chMax val="0"/>
          <dgm:chPref val="0"/>
        </dgm:presLayoutVars>
      </dgm:prSet>
      <dgm:spPr/>
    </dgm:pt>
    <dgm:pt modelId="{E7F71AD1-C405-4618-8AD3-2622D58D99BA}" type="pres">
      <dgm:prSet presAssocID="{4278F099-9DF3-40A3-9FA6-24F1285E0E21}" presName="sibTrans" presStyleCnt="0"/>
      <dgm:spPr/>
    </dgm:pt>
    <dgm:pt modelId="{F0D65B0F-E360-4A64-940C-BB21BDCDE6FE}" type="pres">
      <dgm:prSet presAssocID="{283234BC-ECC7-4CC3-932D-AAC89CB2FC18}" presName="compNode" presStyleCnt="0"/>
      <dgm:spPr/>
    </dgm:pt>
    <dgm:pt modelId="{CE80E8C3-8193-4258-BA23-5206199C172F}" type="pres">
      <dgm:prSet presAssocID="{283234BC-ECC7-4CC3-932D-AAC89CB2FC18}" presName="bgRect" presStyleLbl="bgShp" presStyleIdx="1" presStyleCnt="4"/>
      <dgm:spPr/>
    </dgm:pt>
    <dgm:pt modelId="{9F0781EA-5188-4D7F-A4E0-C8F159A4350A}" type="pres">
      <dgm:prSet presAssocID="{283234BC-ECC7-4CC3-932D-AAC89CB2FC18}" presName="iconRect" presStyleLbl="node1" presStyleIdx="1" presStyleCnt="4"/>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Medal outline"/>
        </a:ext>
      </dgm:extLst>
    </dgm:pt>
    <dgm:pt modelId="{81A07132-36EC-4587-9A0E-6F441E05FE05}" type="pres">
      <dgm:prSet presAssocID="{283234BC-ECC7-4CC3-932D-AAC89CB2FC18}" presName="spaceRect" presStyleCnt="0"/>
      <dgm:spPr/>
    </dgm:pt>
    <dgm:pt modelId="{33B9F8FA-8D2E-4329-A287-7F237FCCF7FC}" type="pres">
      <dgm:prSet presAssocID="{283234BC-ECC7-4CC3-932D-AAC89CB2FC18}" presName="parTx" presStyleLbl="revTx" presStyleIdx="1" presStyleCnt="4">
        <dgm:presLayoutVars>
          <dgm:chMax val="0"/>
          <dgm:chPref val="0"/>
        </dgm:presLayoutVars>
      </dgm:prSet>
      <dgm:spPr/>
    </dgm:pt>
    <dgm:pt modelId="{23345E33-CF64-4654-AD95-EF338C5A4715}" type="pres">
      <dgm:prSet presAssocID="{5911F499-5DA7-4B7E-9317-C9C1F2966B4B}" presName="sibTrans" presStyleCnt="0"/>
      <dgm:spPr/>
    </dgm:pt>
    <dgm:pt modelId="{0A8AF83B-6FF5-4A18-B279-7EBCC0C3E8E5}" type="pres">
      <dgm:prSet presAssocID="{96056DC0-4C3D-4C32-98BB-B24E3A9F3F6D}" presName="compNode" presStyleCnt="0"/>
      <dgm:spPr/>
    </dgm:pt>
    <dgm:pt modelId="{F0332529-85E5-4CF7-A085-0B21151E0521}" type="pres">
      <dgm:prSet presAssocID="{96056DC0-4C3D-4C32-98BB-B24E3A9F3F6D}" presName="bgRect" presStyleLbl="bgShp" presStyleIdx="2" presStyleCnt="4"/>
      <dgm:spPr/>
    </dgm:pt>
    <dgm:pt modelId="{BD26D0F7-0F12-4782-AE31-6E330AAFD41F}" type="pres">
      <dgm:prSet presAssocID="{96056DC0-4C3D-4C32-98BB-B24E3A9F3F6D}" presName="iconRect" presStyleLbl="node1" presStyleIdx="2" presStyleCnt="4"/>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Basketball Hoop outline"/>
        </a:ext>
      </dgm:extLst>
    </dgm:pt>
    <dgm:pt modelId="{B47F1A45-33A7-46AE-90B7-234CDEC5C933}" type="pres">
      <dgm:prSet presAssocID="{96056DC0-4C3D-4C32-98BB-B24E3A9F3F6D}" presName="spaceRect" presStyleCnt="0"/>
      <dgm:spPr/>
    </dgm:pt>
    <dgm:pt modelId="{2E502CC7-3673-4D05-B610-C82FBC8C7335}" type="pres">
      <dgm:prSet presAssocID="{96056DC0-4C3D-4C32-98BB-B24E3A9F3F6D}" presName="parTx" presStyleLbl="revTx" presStyleIdx="2" presStyleCnt="4">
        <dgm:presLayoutVars>
          <dgm:chMax val="0"/>
          <dgm:chPref val="0"/>
        </dgm:presLayoutVars>
      </dgm:prSet>
      <dgm:spPr/>
    </dgm:pt>
    <dgm:pt modelId="{870F774D-3203-4FDA-89BB-B0B74D6D7CB6}" type="pres">
      <dgm:prSet presAssocID="{C3199D05-F98A-431F-A1DF-56D136B724A4}" presName="sibTrans" presStyleCnt="0"/>
      <dgm:spPr/>
    </dgm:pt>
    <dgm:pt modelId="{67D645EB-3042-4E73-ABAD-7456DE6B446A}" type="pres">
      <dgm:prSet presAssocID="{7C8A2421-82D1-4D52-8F63-E8C25780573A}" presName="compNode" presStyleCnt="0"/>
      <dgm:spPr/>
    </dgm:pt>
    <dgm:pt modelId="{E57FB71C-E4B6-49A0-86B5-04EB32C7B119}" type="pres">
      <dgm:prSet presAssocID="{7C8A2421-82D1-4D52-8F63-E8C25780573A}" presName="bgRect" presStyleLbl="bgShp" presStyleIdx="3" presStyleCnt="4"/>
      <dgm:spPr/>
    </dgm:pt>
    <dgm:pt modelId="{187DAE1C-A530-497F-83F9-7F130470B53A}" type="pres">
      <dgm:prSet presAssocID="{7C8A2421-82D1-4D52-8F63-E8C25780573A}" presName="iconRect" presStyleLbl="node1" presStyleIdx="3" presStyleCnt="4"/>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a:noFill/>
        </a:ln>
      </dgm:spPr>
      <dgm:extLst>
        <a:ext uri="{E40237B7-FDA0-4F09-8148-C483321AD2D9}">
          <dgm14:cNvPr xmlns:dgm14="http://schemas.microsoft.com/office/drawing/2010/diagram" id="0" name="" descr="Snow with solid fill"/>
        </a:ext>
      </dgm:extLst>
    </dgm:pt>
    <dgm:pt modelId="{D74A0FBE-3EBD-47B5-9E06-8F218FC41F1D}" type="pres">
      <dgm:prSet presAssocID="{7C8A2421-82D1-4D52-8F63-E8C25780573A}" presName="spaceRect" presStyleCnt="0"/>
      <dgm:spPr/>
    </dgm:pt>
    <dgm:pt modelId="{498976B4-1D7A-43F0-B806-44FC955F1C81}" type="pres">
      <dgm:prSet presAssocID="{7C8A2421-82D1-4D52-8F63-E8C25780573A}" presName="parTx" presStyleLbl="revTx" presStyleIdx="3" presStyleCnt="4">
        <dgm:presLayoutVars>
          <dgm:chMax val="0"/>
          <dgm:chPref val="0"/>
        </dgm:presLayoutVars>
      </dgm:prSet>
      <dgm:spPr/>
    </dgm:pt>
  </dgm:ptLst>
  <dgm:cxnLst>
    <dgm:cxn modelId="{02C3B423-0545-4FA6-9E1D-E64D3B8BFA2D}" type="presOf" srcId="{105E9E41-07C4-4978-A1FA-EA6A030C29E2}" destId="{DBFE5AE6-D258-4476-9E48-2BEEB213FADF}" srcOrd="0" destOrd="0" presId="urn:microsoft.com/office/officeart/2018/2/layout/IconVerticalSolidList"/>
    <dgm:cxn modelId="{ECA34C52-4D22-40E2-9FE4-54DA827860BF}" srcId="{A464AF41-D394-4CD9-A870-BEA288B73967}" destId="{96056DC0-4C3D-4C32-98BB-B24E3A9F3F6D}" srcOrd="2" destOrd="0" parTransId="{9CD826FD-7E73-4741-B314-E3FD48FF14D4}" sibTransId="{C3199D05-F98A-431F-A1DF-56D136B724A4}"/>
    <dgm:cxn modelId="{F196C075-7294-439A-B53C-9ADED43C42F0}" srcId="{A464AF41-D394-4CD9-A870-BEA288B73967}" destId="{283234BC-ECC7-4CC3-932D-AAC89CB2FC18}" srcOrd="1" destOrd="0" parTransId="{3A02BB1A-6B72-4AA1-A413-F48CF756DFD1}" sibTransId="{5911F499-5DA7-4B7E-9317-C9C1F2966B4B}"/>
    <dgm:cxn modelId="{FA64A697-CD4F-43C6-9635-9BBDC49919DD}" type="presOf" srcId="{7C8A2421-82D1-4D52-8F63-E8C25780573A}" destId="{498976B4-1D7A-43F0-B806-44FC955F1C81}" srcOrd="0" destOrd="0" presId="urn:microsoft.com/office/officeart/2018/2/layout/IconVerticalSolidList"/>
    <dgm:cxn modelId="{C8ED35A9-EE3F-48FD-A8E0-DAFEF9C9B280}" type="presOf" srcId="{96056DC0-4C3D-4C32-98BB-B24E3A9F3F6D}" destId="{2E502CC7-3673-4D05-B610-C82FBC8C7335}" srcOrd="0" destOrd="0" presId="urn:microsoft.com/office/officeart/2018/2/layout/IconVerticalSolidList"/>
    <dgm:cxn modelId="{646EA3AD-4DBD-436C-9324-8D5D3710BBAD}" type="presOf" srcId="{283234BC-ECC7-4CC3-932D-AAC89CB2FC18}" destId="{33B9F8FA-8D2E-4329-A287-7F237FCCF7FC}" srcOrd="0" destOrd="0" presId="urn:microsoft.com/office/officeart/2018/2/layout/IconVerticalSolidList"/>
    <dgm:cxn modelId="{90958CF7-A68C-4D63-A15C-0A069A6D1740}" srcId="{A464AF41-D394-4CD9-A870-BEA288B73967}" destId="{7C8A2421-82D1-4D52-8F63-E8C25780573A}" srcOrd="3" destOrd="0" parTransId="{A4B3A40F-0B23-497A-9648-0F0C7E18BBFC}" sibTransId="{0D0AF4B4-5053-49AE-A31E-72656C4AC0AB}"/>
    <dgm:cxn modelId="{EF79DCF7-2564-494E-A055-754663BF1312}" type="presOf" srcId="{A464AF41-D394-4CD9-A870-BEA288B73967}" destId="{9EABE3CC-EC31-462B-8282-03A0A201AE8F}" srcOrd="0" destOrd="0" presId="urn:microsoft.com/office/officeart/2018/2/layout/IconVerticalSolidList"/>
    <dgm:cxn modelId="{378D5EFB-C350-423E-A4F3-570C20A858C5}" srcId="{A464AF41-D394-4CD9-A870-BEA288B73967}" destId="{105E9E41-07C4-4978-A1FA-EA6A030C29E2}" srcOrd="0" destOrd="0" parTransId="{9E4D399D-71C4-4801-B8F0-2BDEDBE03871}" sibTransId="{4278F099-9DF3-40A3-9FA6-24F1285E0E21}"/>
    <dgm:cxn modelId="{B8003736-E4E7-4B99-B5C3-0ED86A96D4EB}" type="presParOf" srcId="{9EABE3CC-EC31-462B-8282-03A0A201AE8F}" destId="{4D0D89DF-6CCF-452A-92AA-6A991BF34877}" srcOrd="0" destOrd="0" presId="urn:microsoft.com/office/officeart/2018/2/layout/IconVerticalSolidList"/>
    <dgm:cxn modelId="{1B536324-6CFD-49EE-AF05-B2861C6B0D5F}" type="presParOf" srcId="{4D0D89DF-6CCF-452A-92AA-6A991BF34877}" destId="{5348FC19-6CC3-4460-9089-89A4AB6E15AA}" srcOrd="0" destOrd="0" presId="urn:microsoft.com/office/officeart/2018/2/layout/IconVerticalSolidList"/>
    <dgm:cxn modelId="{6174E8D3-5B5D-4BDE-8F30-18375B4653F1}" type="presParOf" srcId="{4D0D89DF-6CCF-452A-92AA-6A991BF34877}" destId="{6B0E3332-E90F-4729-8E0D-D51A32DE7821}" srcOrd="1" destOrd="0" presId="urn:microsoft.com/office/officeart/2018/2/layout/IconVerticalSolidList"/>
    <dgm:cxn modelId="{07342114-9B96-45D2-9E7B-16B6CA4A416E}" type="presParOf" srcId="{4D0D89DF-6CCF-452A-92AA-6A991BF34877}" destId="{FCB6B9B2-7649-4B20-83DE-CE1F13FBF352}" srcOrd="2" destOrd="0" presId="urn:microsoft.com/office/officeart/2018/2/layout/IconVerticalSolidList"/>
    <dgm:cxn modelId="{38D98C2D-F252-46E0-9441-EB738E861394}" type="presParOf" srcId="{4D0D89DF-6CCF-452A-92AA-6A991BF34877}" destId="{DBFE5AE6-D258-4476-9E48-2BEEB213FADF}" srcOrd="3" destOrd="0" presId="urn:microsoft.com/office/officeart/2018/2/layout/IconVerticalSolidList"/>
    <dgm:cxn modelId="{602C8B6F-4F84-4309-B263-7445861620AC}" type="presParOf" srcId="{9EABE3CC-EC31-462B-8282-03A0A201AE8F}" destId="{E7F71AD1-C405-4618-8AD3-2622D58D99BA}" srcOrd="1" destOrd="0" presId="urn:microsoft.com/office/officeart/2018/2/layout/IconVerticalSolidList"/>
    <dgm:cxn modelId="{F8880378-EA4C-4E87-B882-577CA44A0735}" type="presParOf" srcId="{9EABE3CC-EC31-462B-8282-03A0A201AE8F}" destId="{F0D65B0F-E360-4A64-940C-BB21BDCDE6FE}" srcOrd="2" destOrd="0" presId="urn:microsoft.com/office/officeart/2018/2/layout/IconVerticalSolidList"/>
    <dgm:cxn modelId="{9E48A4B2-B734-410D-87CF-95E304F8B1C5}" type="presParOf" srcId="{F0D65B0F-E360-4A64-940C-BB21BDCDE6FE}" destId="{CE80E8C3-8193-4258-BA23-5206199C172F}" srcOrd="0" destOrd="0" presId="urn:microsoft.com/office/officeart/2018/2/layout/IconVerticalSolidList"/>
    <dgm:cxn modelId="{1A027B3A-D693-46D1-9EE2-2D7C38C48906}" type="presParOf" srcId="{F0D65B0F-E360-4A64-940C-BB21BDCDE6FE}" destId="{9F0781EA-5188-4D7F-A4E0-C8F159A4350A}" srcOrd="1" destOrd="0" presId="urn:microsoft.com/office/officeart/2018/2/layout/IconVerticalSolidList"/>
    <dgm:cxn modelId="{847DAAB7-9D7C-435B-B25D-5C3B2F2935A6}" type="presParOf" srcId="{F0D65B0F-E360-4A64-940C-BB21BDCDE6FE}" destId="{81A07132-36EC-4587-9A0E-6F441E05FE05}" srcOrd="2" destOrd="0" presId="urn:microsoft.com/office/officeart/2018/2/layout/IconVerticalSolidList"/>
    <dgm:cxn modelId="{071F91D1-91DC-49B5-B67E-E5529DC66E67}" type="presParOf" srcId="{F0D65B0F-E360-4A64-940C-BB21BDCDE6FE}" destId="{33B9F8FA-8D2E-4329-A287-7F237FCCF7FC}" srcOrd="3" destOrd="0" presId="urn:microsoft.com/office/officeart/2018/2/layout/IconVerticalSolidList"/>
    <dgm:cxn modelId="{AA3BC2B5-2408-45B0-BFBD-A3A15F42A380}" type="presParOf" srcId="{9EABE3CC-EC31-462B-8282-03A0A201AE8F}" destId="{23345E33-CF64-4654-AD95-EF338C5A4715}" srcOrd="3" destOrd="0" presId="urn:microsoft.com/office/officeart/2018/2/layout/IconVerticalSolidList"/>
    <dgm:cxn modelId="{EC609E37-F339-47E7-9CF0-F3686B88A4A3}" type="presParOf" srcId="{9EABE3CC-EC31-462B-8282-03A0A201AE8F}" destId="{0A8AF83B-6FF5-4A18-B279-7EBCC0C3E8E5}" srcOrd="4" destOrd="0" presId="urn:microsoft.com/office/officeart/2018/2/layout/IconVerticalSolidList"/>
    <dgm:cxn modelId="{8C69CA68-AD3A-4D15-9681-1DD9D7E82F88}" type="presParOf" srcId="{0A8AF83B-6FF5-4A18-B279-7EBCC0C3E8E5}" destId="{F0332529-85E5-4CF7-A085-0B21151E0521}" srcOrd="0" destOrd="0" presId="urn:microsoft.com/office/officeart/2018/2/layout/IconVerticalSolidList"/>
    <dgm:cxn modelId="{7F483FAB-1C7A-4773-99C9-4B97B69EB436}" type="presParOf" srcId="{0A8AF83B-6FF5-4A18-B279-7EBCC0C3E8E5}" destId="{BD26D0F7-0F12-4782-AE31-6E330AAFD41F}" srcOrd="1" destOrd="0" presId="urn:microsoft.com/office/officeart/2018/2/layout/IconVerticalSolidList"/>
    <dgm:cxn modelId="{E81D6EF9-D865-4376-852C-079E1401A28D}" type="presParOf" srcId="{0A8AF83B-6FF5-4A18-B279-7EBCC0C3E8E5}" destId="{B47F1A45-33A7-46AE-90B7-234CDEC5C933}" srcOrd="2" destOrd="0" presId="urn:microsoft.com/office/officeart/2018/2/layout/IconVerticalSolidList"/>
    <dgm:cxn modelId="{F7F8855D-A0E6-4806-A9F4-B7596F43731F}" type="presParOf" srcId="{0A8AF83B-6FF5-4A18-B279-7EBCC0C3E8E5}" destId="{2E502CC7-3673-4D05-B610-C82FBC8C7335}" srcOrd="3" destOrd="0" presId="urn:microsoft.com/office/officeart/2018/2/layout/IconVerticalSolidList"/>
    <dgm:cxn modelId="{9AADBF8A-B295-4127-8A46-7B4311E41BDB}" type="presParOf" srcId="{9EABE3CC-EC31-462B-8282-03A0A201AE8F}" destId="{870F774D-3203-4FDA-89BB-B0B74D6D7CB6}" srcOrd="5" destOrd="0" presId="urn:microsoft.com/office/officeart/2018/2/layout/IconVerticalSolidList"/>
    <dgm:cxn modelId="{65AF5021-90A4-4293-AB7F-48D3143066DD}" type="presParOf" srcId="{9EABE3CC-EC31-462B-8282-03A0A201AE8F}" destId="{67D645EB-3042-4E73-ABAD-7456DE6B446A}" srcOrd="6" destOrd="0" presId="urn:microsoft.com/office/officeart/2018/2/layout/IconVerticalSolidList"/>
    <dgm:cxn modelId="{F647F469-64D0-4BAD-9C15-F7AA15A320E2}" type="presParOf" srcId="{67D645EB-3042-4E73-ABAD-7456DE6B446A}" destId="{E57FB71C-E4B6-49A0-86B5-04EB32C7B119}" srcOrd="0" destOrd="0" presId="urn:microsoft.com/office/officeart/2018/2/layout/IconVerticalSolidList"/>
    <dgm:cxn modelId="{52B4BF71-83E0-4D2E-9AAD-D6C139DC9FB2}" type="presParOf" srcId="{67D645EB-3042-4E73-ABAD-7456DE6B446A}" destId="{187DAE1C-A530-497F-83F9-7F130470B53A}" srcOrd="1" destOrd="0" presId="urn:microsoft.com/office/officeart/2018/2/layout/IconVerticalSolidList"/>
    <dgm:cxn modelId="{616F3DB3-9257-4657-9732-4E5BEFEBFE0E}" type="presParOf" srcId="{67D645EB-3042-4E73-ABAD-7456DE6B446A}" destId="{D74A0FBE-3EBD-47B5-9E06-8F218FC41F1D}" srcOrd="2" destOrd="0" presId="urn:microsoft.com/office/officeart/2018/2/layout/IconVerticalSolidList"/>
    <dgm:cxn modelId="{63A4D930-730A-430C-BE8F-2A26E6953500}" type="presParOf" srcId="{67D645EB-3042-4E73-ABAD-7456DE6B446A}" destId="{498976B4-1D7A-43F0-B806-44FC955F1C81}"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7E2AADC-7F90-4B10-A698-FFAE605FC621}" type="doc">
      <dgm:prSet loTypeId="urn:microsoft.com/office/officeart/2005/8/layout/vList2" loCatId="list" qsTypeId="urn:microsoft.com/office/officeart/2005/8/quickstyle/simple5" qsCatId="simple" csTypeId="urn:microsoft.com/office/officeart/2005/8/colors/accent1_2" csCatId="accent1" phldr="1"/>
      <dgm:spPr/>
      <dgm:t>
        <a:bodyPr/>
        <a:lstStyle/>
        <a:p>
          <a:endParaRPr lang="en-US"/>
        </a:p>
      </dgm:t>
    </dgm:pt>
    <dgm:pt modelId="{068D5220-ABC3-4135-BC21-0AC7C9DA1CAD}">
      <dgm:prSet/>
      <dgm:spPr/>
      <dgm:t>
        <a:bodyPr/>
        <a:lstStyle/>
        <a:p>
          <a:r>
            <a:rPr lang="en-US" b="1" i="0" baseline="0"/>
            <a:t>Milwaukee Scored From All Over the Floor</a:t>
          </a:r>
          <a:br>
            <a:rPr lang="en-US" b="0" i="0" baseline="0"/>
          </a:br>
          <a:r>
            <a:rPr lang="en-US" b="0" i="0" baseline="0"/>
            <a:t>The Bucks spread their shot attempts across the half court — inside, mid-range, and beyond the arc — keeping OKC’s defense off balance. In contrast, OKC mostly attacked from the middle and became predictable.</a:t>
          </a:r>
          <a:endParaRPr lang="en-US"/>
        </a:p>
      </dgm:t>
    </dgm:pt>
    <dgm:pt modelId="{F0DA87BB-5803-4AD7-B514-820713A3002E}" type="parTrans" cxnId="{E4F32712-0546-4466-9458-26D8725471A7}">
      <dgm:prSet/>
      <dgm:spPr/>
      <dgm:t>
        <a:bodyPr/>
        <a:lstStyle/>
        <a:p>
          <a:endParaRPr lang="en-US"/>
        </a:p>
      </dgm:t>
    </dgm:pt>
    <dgm:pt modelId="{E7086575-787F-4A7F-A230-87BCAAD81DA9}" type="sibTrans" cxnId="{E4F32712-0546-4466-9458-26D8725471A7}">
      <dgm:prSet/>
      <dgm:spPr/>
      <dgm:t>
        <a:bodyPr/>
        <a:lstStyle/>
        <a:p>
          <a:endParaRPr lang="en-US"/>
        </a:p>
      </dgm:t>
    </dgm:pt>
    <dgm:pt modelId="{494AB3D7-D396-418D-9DFF-B92658E59EAB}">
      <dgm:prSet/>
      <dgm:spPr/>
      <dgm:t>
        <a:bodyPr/>
        <a:lstStyle/>
        <a:p>
          <a:r>
            <a:rPr lang="en-US" b="1" i="0" baseline="0" dirty="0"/>
            <a:t>Defensive Game Plan Worked on OKC’s Star</a:t>
          </a:r>
          <a:br>
            <a:rPr lang="en-US" b="0" i="0" baseline="0" dirty="0"/>
          </a:br>
          <a:r>
            <a:rPr lang="en-US" b="1" i="0" baseline="0" dirty="0"/>
            <a:t>Shai Gilgeous-Alexander </a:t>
          </a:r>
          <a:r>
            <a:rPr lang="en-US" b="0" i="0" baseline="0" dirty="0"/>
            <a:t>was held to lower shot quality than usual. Milwaukee’s defensive pressure limited his ability to take over the game.</a:t>
          </a:r>
          <a:endParaRPr lang="en-US" dirty="0"/>
        </a:p>
      </dgm:t>
    </dgm:pt>
    <dgm:pt modelId="{56CB6815-CCE9-4A17-897A-7A6342F88F64}" type="parTrans" cxnId="{5FFF4863-923B-4956-900A-D7C922FD42E0}">
      <dgm:prSet/>
      <dgm:spPr/>
      <dgm:t>
        <a:bodyPr/>
        <a:lstStyle/>
        <a:p>
          <a:endParaRPr lang="en-US"/>
        </a:p>
      </dgm:t>
    </dgm:pt>
    <dgm:pt modelId="{69A05A1E-28CE-492A-8970-73451DD25D41}" type="sibTrans" cxnId="{5FFF4863-923B-4956-900A-D7C922FD42E0}">
      <dgm:prSet/>
      <dgm:spPr/>
      <dgm:t>
        <a:bodyPr/>
        <a:lstStyle/>
        <a:p>
          <a:endParaRPr lang="en-US"/>
        </a:p>
      </dgm:t>
    </dgm:pt>
    <dgm:pt modelId="{A8084D19-17B8-492A-A7D8-F5AF76A53480}">
      <dgm:prSet/>
      <dgm:spPr/>
      <dgm:t>
        <a:bodyPr/>
        <a:lstStyle/>
        <a:p>
          <a:r>
            <a:rPr lang="en-US" b="1" i="0" baseline="0" dirty="0"/>
            <a:t>Clutch Execution Made the Difference</a:t>
          </a:r>
          <a:br>
            <a:rPr lang="en-US" b="0" i="0" baseline="0" dirty="0"/>
          </a:br>
          <a:r>
            <a:rPr lang="en-US" b="0" i="0" baseline="0" dirty="0"/>
            <a:t>The Bucks outperformed the Thunder during key stretches — especially late in the 1st half and especially in the 3rd quarter — swinging momentum in their favor.</a:t>
          </a:r>
          <a:endParaRPr lang="en-US" dirty="0"/>
        </a:p>
      </dgm:t>
    </dgm:pt>
    <dgm:pt modelId="{2CFDF18D-CCB5-4BBC-92BB-885F03A5863F}" type="parTrans" cxnId="{3870023D-F9A1-4315-9AA7-48E469B7B494}">
      <dgm:prSet/>
      <dgm:spPr/>
      <dgm:t>
        <a:bodyPr/>
        <a:lstStyle/>
        <a:p>
          <a:endParaRPr lang="en-US"/>
        </a:p>
      </dgm:t>
    </dgm:pt>
    <dgm:pt modelId="{DC6AC55E-BA21-452C-B2D3-FA42B6F66E01}" type="sibTrans" cxnId="{3870023D-F9A1-4315-9AA7-48E469B7B494}">
      <dgm:prSet/>
      <dgm:spPr/>
      <dgm:t>
        <a:bodyPr/>
        <a:lstStyle/>
        <a:p>
          <a:endParaRPr lang="en-US"/>
        </a:p>
      </dgm:t>
    </dgm:pt>
    <dgm:pt modelId="{E5E6BBDD-CB76-4A0A-BE80-3A6EC25F5416}">
      <dgm:prSet/>
      <dgm:spPr/>
      <dgm:t>
        <a:bodyPr/>
        <a:lstStyle/>
        <a:p>
          <a:r>
            <a:rPr lang="en-US" b="1" i="0" baseline="0" dirty="0"/>
            <a:t>More Efficient with Similar Shot Quality</a:t>
          </a:r>
          <a:br>
            <a:rPr lang="en-US" b="0" i="0" baseline="0" dirty="0"/>
          </a:br>
          <a:r>
            <a:rPr lang="en-US" b="0" i="0" baseline="0" dirty="0"/>
            <a:t>Despite both teams generating comparable shot quality, the Bucks were significantly more efficient in converting those chances, reflecting better shot selection and execution.</a:t>
          </a:r>
          <a:endParaRPr lang="en-US" dirty="0"/>
        </a:p>
      </dgm:t>
    </dgm:pt>
    <dgm:pt modelId="{A97825B6-DC74-4793-8CBF-C6EC77BC1625}" type="parTrans" cxnId="{6CDD1A82-17D6-4DD7-A063-1A9C434C4ECD}">
      <dgm:prSet/>
      <dgm:spPr/>
      <dgm:t>
        <a:bodyPr/>
        <a:lstStyle/>
        <a:p>
          <a:endParaRPr lang="en-US"/>
        </a:p>
      </dgm:t>
    </dgm:pt>
    <dgm:pt modelId="{A61E4155-1D79-48D5-86E5-64F9C7B6F2EA}" type="sibTrans" cxnId="{6CDD1A82-17D6-4DD7-A063-1A9C434C4ECD}">
      <dgm:prSet/>
      <dgm:spPr/>
      <dgm:t>
        <a:bodyPr/>
        <a:lstStyle/>
        <a:p>
          <a:endParaRPr lang="en-US"/>
        </a:p>
      </dgm:t>
    </dgm:pt>
    <dgm:pt modelId="{F9D0F935-B82A-408C-BE49-C39D6B7AFCE9}">
      <dgm:prSet/>
      <dgm:spPr/>
      <dgm:t>
        <a:bodyPr/>
        <a:lstStyle/>
        <a:p>
          <a:r>
            <a:rPr lang="en-US" b="1" i="0" baseline="0" dirty="0"/>
            <a:t>Room to Grow: High-Quality Shooters Underperformed</a:t>
          </a:r>
          <a:br>
            <a:rPr lang="en-US" b="0" i="0" baseline="0" dirty="0"/>
          </a:br>
          <a:r>
            <a:rPr lang="en-US" b="0" i="0" baseline="0" dirty="0"/>
            <a:t>Players like </a:t>
          </a:r>
          <a:r>
            <a:rPr lang="en-US" b="1" i="0" baseline="0" dirty="0"/>
            <a:t>Prince</a:t>
          </a:r>
          <a:r>
            <a:rPr lang="en-US" b="0" i="0" baseline="0" dirty="0"/>
            <a:t> and </a:t>
          </a:r>
          <a:r>
            <a:rPr lang="en-US" b="1" i="0" baseline="0" dirty="0"/>
            <a:t>Jackson Jr</a:t>
          </a:r>
          <a:r>
            <a:rPr lang="en-US" b="0" i="0" baseline="0" dirty="0"/>
            <a:t>. had great opportunities but didn’t convert. Focusing on confidence and rhythm could unlock more scoring potential.</a:t>
          </a:r>
          <a:endParaRPr lang="en-US" dirty="0"/>
        </a:p>
      </dgm:t>
    </dgm:pt>
    <dgm:pt modelId="{D8667F33-1E5D-4397-B39E-C745724C2845}" type="parTrans" cxnId="{981BECB1-A150-4A92-98EB-D3E810F7969C}">
      <dgm:prSet/>
      <dgm:spPr/>
      <dgm:t>
        <a:bodyPr/>
        <a:lstStyle/>
        <a:p>
          <a:endParaRPr lang="en-US"/>
        </a:p>
      </dgm:t>
    </dgm:pt>
    <dgm:pt modelId="{7AA89AD8-57D5-4C02-866F-3020CF982FE9}" type="sibTrans" cxnId="{981BECB1-A150-4A92-98EB-D3E810F7969C}">
      <dgm:prSet/>
      <dgm:spPr/>
      <dgm:t>
        <a:bodyPr/>
        <a:lstStyle/>
        <a:p>
          <a:endParaRPr lang="en-US"/>
        </a:p>
      </dgm:t>
    </dgm:pt>
    <dgm:pt modelId="{D64277A0-179F-4C31-A27D-A038D3B9979D}" type="pres">
      <dgm:prSet presAssocID="{E7E2AADC-7F90-4B10-A698-FFAE605FC621}" presName="linear" presStyleCnt="0">
        <dgm:presLayoutVars>
          <dgm:animLvl val="lvl"/>
          <dgm:resizeHandles val="exact"/>
        </dgm:presLayoutVars>
      </dgm:prSet>
      <dgm:spPr/>
    </dgm:pt>
    <dgm:pt modelId="{7DAD2CD0-ADFA-47E1-B224-373BAFA8FCAD}" type="pres">
      <dgm:prSet presAssocID="{068D5220-ABC3-4135-BC21-0AC7C9DA1CAD}" presName="parentText" presStyleLbl="node1" presStyleIdx="0" presStyleCnt="5">
        <dgm:presLayoutVars>
          <dgm:chMax val="0"/>
          <dgm:bulletEnabled val="1"/>
        </dgm:presLayoutVars>
      </dgm:prSet>
      <dgm:spPr/>
    </dgm:pt>
    <dgm:pt modelId="{2B428C33-B558-4CE8-918B-C409D226CA3D}" type="pres">
      <dgm:prSet presAssocID="{E7086575-787F-4A7F-A230-87BCAAD81DA9}" presName="spacer" presStyleCnt="0"/>
      <dgm:spPr/>
    </dgm:pt>
    <dgm:pt modelId="{833FBBCD-409D-47F4-A8AC-4E9827E3068E}" type="pres">
      <dgm:prSet presAssocID="{494AB3D7-D396-418D-9DFF-B92658E59EAB}" presName="parentText" presStyleLbl="node1" presStyleIdx="1" presStyleCnt="5">
        <dgm:presLayoutVars>
          <dgm:chMax val="0"/>
          <dgm:bulletEnabled val="1"/>
        </dgm:presLayoutVars>
      </dgm:prSet>
      <dgm:spPr/>
    </dgm:pt>
    <dgm:pt modelId="{AAE6581C-143C-415D-92BD-0B850F251139}" type="pres">
      <dgm:prSet presAssocID="{69A05A1E-28CE-492A-8970-73451DD25D41}" presName="spacer" presStyleCnt="0"/>
      <dgm:spPr/>
    </dgm:pt>
    <dgm:pt modelId="{1E52ADA1-BA72-470E-B79E-F71C55E20F71}" type="pres">
      <dgm:prSet presAssocID="{A8084D19-17B8-492A-A7D8-F5AF76A53480}" presName="parentText" presStyleLbl="node1" presStyleIdx="2" presStyleCnt="5">
        <dgm:presLayoutVars>
          <dgm:chMax val="0"/>
          <dgm:bulletEnabled val="1"/>
        </dgm:presLayoutVars>
      </dgm:prSet>
      <dgm:spPr/>
    </dgm:pt>
    <dgm:pt modelId="{B4BFAE4D-CB57-43A1-ACEA-7480EBC762F4}" type="pres">
      <dgm:prSet presAssocID="{DC6AC55E-BA21-452C-B2D3-FA42B6F66E01}" presName="spacer" presStyleCnt="0"/>
      <dgm:spPr/>
    </dgm:pt>
    <dgm:pt modelId="{994A74A7-B2E7-434A-A28E-378C8F744A16}" type="pres">
      <dgm:prSet presAssocID="{E5E6BBDD-CB76-4A0A-BE80-3A6EC25F5416}" presName="parentText" presStyleLbl="node1" presStyleIdx="3" presStyleCnt="5">
        <dgm:presLayoutVars>
          <dgm:chMax val="0"/>
          <dgm:bulletEnabled val="1"/>
        </dgm:presLayoutVars>
      </dgm:prSet>
      <dgm:spPr/>
    </dgm:pt>
    <dgm:pt modelId="{FC189078-FBC0-43B9-AF2E-0C409D897DD8}" type="pres">
      <dgm:prSet presAssocID="{A61E4155-1D79-48D5-86E5-64F9C7B6F2EA}" presName="spacer" presStyleCnt="0"/>
      <dgm:spPr/>
    </dgm:pt>
    <dgm:pt modelId="{41980ADF-5A11-4ED9-9021-CFBDDC5559E6}" type="pres">
      <dgm:prSet presAssocID="{F9D0F935-B82A-408C-BE49-C39D6B7AFCE9}" presName="parentText" presStyleLbl="node1" presStyleIdx="4" presStyleCnt="5">
        <dgm:presLayoutVars>
          <dgm:chMax val="0"/>
          <dgm:bulletEnabled val="1"/>
        </dgm:presLayoutVars>
      </dgm:prSet>
      <dgm:spPr/>
    </dgm:pt>
  </dgm:ptLst>
  <dgm:cxnLst>
    <dgm:cxn modelId="{E4F32712-0546-4466-9458-26D8725471A7}" srcId="{E7E2AADC-7F90-4B10-A698-FFAE605FC621}" destId="{068D5220-ABC3-4135-BC21-0AC7C9DA1CAD}" srcOrd="0" destOrd="0" parTransId="{F0DA87BB-5803-4AD7-B514-820713A3002E}" sibTransId="{E7086575-787F-4A7F-A230-87BCAAD81DA9}"/>
    <dgm:cxn modelId="{D16F6225-1930-48EB-A8F6-95C5D0BC9A17}" type="presOf" srcId="{494AB3D7-D396-418D-9DFF-B92658E59EAB}" destId="{833FBBCD-409D-47F4-A8AC-4E9827E3068E}" srcOrd="0" destOrd="0" presId="urn:microsoft.com/office/officeart/2005/8/layout/vList2"/>
    <dgm:cxn modelId="{701DD329-3C9A-4121-BF5D-2D032640CEEC}" type="presOf" srcId="{068D5220-ABC3-4135-BC21-0AC7C9DA1CAD}" destId="{7DAD2CD0-ADFA-47E1-B224-373BAFA8FCAD}" srcOrd="0" destOrd="0" presId="urn:microsoft.com/office/officeart/2005/8/layout/vList2"/>
    <dgm:cxn modelId="{3870023D-F9A1-4315-9AA7-48E469B7B494}" srcId="{E7E2AADC-7F90-4B10-A698-FFAE605FC621}" destId="{A8084D19-17B8-492A-A7D8-F5AF76A53480}" srcOrd="2" destOrd="0" parTransId="{2CFDF18D-CCB5-4BBC-92BB-885F03A5863F}" sibTransId="{DC6AC55E-BA21-452C-B2D3-FA42B6F66E01}"/>
    <dgm:cxn modelId="{29B6125D-07D8-47E4-89F5-BCCBB22E9BCF}" type="presOf" srcId="{A8084D19-17B8-492A-A7D8-F5AF76A53480}" destId="{1E52ADA1-BA72-470E-B79E-F71C55E20F71}" srcOrd="0" destOrd="0" presId="urn:microsoft.com/office/officeart/2005/8/layout/vList2"/>
    <dgm:cxn modelId="{DC7DE55F-359F-413C-A234-A1EF38C59892}" type="presOf" srcId="{F9D0F935-B82A-408C-BE49-C39D6B7AFCE9}" destId="{41980ADF-5A11-4ED9-9021-CFBDDC5559E6}" srcOrd="0" destOrd="0" presId="urn:microsoft.com/office/officeart/2005/8/layout/vList2"/>
    <dgm:cxn modelId="{5FFF4863-923B-4956-900A-D7C922FD42E0}" srcId="{E7E2AADC-7F90-4B10-A698-FFAE605FC621}" destId="{494AB3D7-D396-418D-9DFF-B92658E59EAB}" srcOrd="1" destOrd="0" parTransId="{56CB6815-CCE9-4A17-897A-7A6342F88F64}" sibTransId="{69A05A1E-28CE-492A-8970-73451DD25D41}"/>
    <dgm:cxn modelId="{69B2CC72-1307-4E23-A81B-C2E3EB3F95CD}" type="presOf" srcId="{E7E2AADC-7F90-4B10-A698-FFAE605FC621}" destId="{D64277A0-179F-4C31-A27D-A038D3B9979D}" srcOrd="0" destOrd="0" presId="urn:microsoft.com/office/officeart/2005/8/layout/vList2"/>
    <dgm:cxn modelId="{6CDD1A82-17D6-4DD7-A063-1A9C434C4ECD}" srcId="{E7E2AADC-7F90-4B10-A698-FFAE605FC621}" destId="{E5E6BBDD-CB76-4A0A-BE80-3A6EC25F5416}" srcOrd="3" destOrd="0" parTransId="{A97825B6-DC74-4793-8CBF-C6EC77BC1625}" sibTransId="{A61E4155-1D79-48D5-86E5-64F9C7B6F2EA}"/>
    <dgm:cxn modelId="{86E3BF9E-BF7D-4DFE-9B9B-573102C3D2FB}" type="presOf" srcId="{E5E6BBDD-CB76-4A0A-BE80-3A6EC25F5416}" destId="{994A74A7-B2E7-434A-A28E-378C8F744A16}" srcOrd="0" destOrd="0" presId="urn:microsoft.com/office/officeart/2005/8/layout/vList2"/>
    <dgm:cxn modelId="{981BECB1-A150-4A92-98EB-D3E810F7969C}" srcId="{E7E2AADC-7F90-4B10-A698-FFAE605FC621}" destId="{F9D0F935-B82A-408C-BE49-C39D6B7AFCE9}" srcOrd="4" destOrd="0" parTransId="{D8667F33-1E5D-4397-B39E-C745724C2845}" sibTransId="{7AA89AD8-57D5-4C02-866F-3020CF982FE9}"/>
    <dgm:cxn modelId="{D4535088-2E21-4D6D-877C-3EB82447713C}" type="presParOf" srcId="{D64277A0-179F-4C31-A27D-A038D3B9979D}" destId="{7DAD2CD0-ADFA-47E1-B224-373BAFA8FCAD}" srcOrd="0" destOrd="0" presId="urn:microsoft.com/office/officeart/2005/8/layout/vList2"/>
    <dgm:cxn modelId="{D0DE99FE-78E8-427A-A441-D2C31A16ADD2}" type="presParOf" srcId="{D64277A0-179F-4C31-A27D-A038D3B9979D}" destId="{2B428C33-B558-4CE8-918B-C409D226CA3D}" srcOrd="1" destOrd="0" presId="urn:microsoft.com/office/officeart/2005/8/layout/vList2"/>
    <dgm:cxn modelId="{09CD7C5D-0A37-4175-BC3B-6515C236E6F0}" type="presParOf" srcId="{D64277A0-179F-4C31-A27D-A038D3B9979D}" destId="{833FBBCD-409D-47F4-A8AC-4E9827E3068E}" srcOrd="2" destOrd="0" presId="urn:microsoft.com/office/officeart/2005/8/layout/vList2"/>
    <dgm:cxn modelId="{1D70CE42-1DDD-4FE4-B49C-6EDE54DF7D5E}" type="presParOf" srcId="{D64277A0-179F-4C31-A27D-A038D3B9979D}" destId="{AAE6581C-143C-415D-92BD-0B850F251139}" srcOrd="3" destOrd="0" presId="urn:microsoft.com/office/officeart/2005/8/layout/vList2"/>
    <dgm:cxn modelId="{DB527C25-765F-478D-9C00-98015DE73376}" type="presParOf" srcId="{D64277A0-179F-4C31-A27D-A038D3B9979D}" destId="{1E52ADA1-BA72-470E-B79E-F71C55E20F71}" srcOrd="4" destOrd="0" presId="urn:microsoft.com/office/officeart/2005/8/layout/vList2"/>
    <dgm:cxn modelId="{0B6389C4-4605-4103-A1D4-5A6D6E58C0FD}" type="presParOf" srcId="{D64277A0-179F-4C31-A27D-A038D3B9979D}" destId="{B4BFAE4D-CB57-43A1-ACEA-7480EBC762F4}" srcOrd="5" destOrd="0" presId="urn:microsoft.com/office/officeart/2005/8/layout/vList2"/>
    <dgm:cxn modelId="{EEB628B8-94B2-495C-B1B8-C6D569F909A1}" type="presParOf" srcId="{D64277A0-179F-4C31-A27D-A038D3B9979D}" destId="{994A74A7-B2E7-434A-A28E-378C8F744A16}" srcOrd="6" destOrd="0" presId="urn:microsoft.com/office/officeart/2005/8/layout/vList2"/>
    <dgm:cxn modelId="{962DF8D1-FE85-4F79-93C2-D2E567DEF6B7}" type="presParOf" srcId="{D64277A0-179F-4C31-A27D-A038D3B9979D}" destId="{FC189078-FBC0-43B9-AF2E-0C409D897DD8}" srcOrd="7" destOrd="0" presId="urn:microsoft.com/office/officeart/2005/8/layout/vList2"/>
    <dgm:cxn modelId="{E80FD71D-2C70-44A2-B001-65EF4DCF784C}" type="presParOf" srcId="{D64277A0-179F-4C31-A27D-A038D3B9979D}" destId="{41980ADF-5A11-4ED9-9021-CFBDDC5559E6}"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19FE338-02B5-4CBA-8E23-B41F3AACA21E}" type="doc">
      <dgm:prSet loTypeId="urn:microsoft.com/office/officeart/2005/8/layout/vList2" loCatId="list" qsTypeId="urn:microsoft.com/office/officeart/2005/8/quickstyle/simple5" qsCatId="simple" csTypeId="urn:microsoft.com/office/officeart/2005/8/colors/accent1_2" csCatId="accent1" phldr="1"/>
      <dgm:spPr/>
      <dgm:t>
        <a:bodyPr/>
        <a:lstStyle/>
        <a:p>
          <a:endParaRPr lang="en-US"/>
        </a:p>
      </dgm:t>
    </dgm:pt>
    <dgm:pt modelId="{98AEF15A-D0D8-4D22-B4D0-CBFFEC925B74}">
      <dgm:prSet/>
      <dgm:spPr/>
      <dgm:t>
        <a:bodyPr/>
        <a:lstStyle/>
        <a:p>
          <a:r>
            <a:rPr lang="en-US" dirty="0"/>
            <a:t>Milwaukee demonstrated a stronger performance within the paint, right wing, and corner areas of the court. (</a:t>
          </a:r>
          <a:r>
            <a:rPr lang="en-US" dirty="0">
              <a:hlinkClick xmlns:r="http://schemas.openxmlformats.org/officeDocument/2006/relationships" r:id="rId1" action="ppaction://hlinksldjump"/>
            </a:rPr>
            <a:t>A2: Shot Chart For the Bucks &amp; Thunder</a:t>
          </a:r>
          <a:r>
            <a:rPr lang="en-US" dirty="0"/>
            <a:t> &amp; (</a:t>
          </a:r>
          <a:r>
            <a:rPr lang="en-US" dirty="0">
              <a:hlinkClick xmlns:r="http://schemas.openxmlformats.org/officeDocument/2006/relationships" r:id="rId2" action="ppaction://hlinksldjump"/>
            </a:rPr>
            <a:t>A3:Shot Zone &amp; Shot Type Percentages</a:t>
          </a:r>
          <a:r>
            <a:rPr lang="en-US" dirty="0"/>
            <a:t>).</a:t>
          </a:r>
        </a:p>
      </dgm:t>
    </dgm:pt>
    <dgm:pt modelId="{55EF84ED-8E95-485A-A497-D049BB99F70C}" type="parTrans" cxnId="{88915A76-093E-4923-97C8-A5DA1BC7E55E}">
      <dgm:prSet/>
      <dgm:spPr/>
      <dgm:t>
        <a:bodyPr/>
        <a:lstStyle/>
        <a:p>
          <a:endParaRPr lang="en-US"/>
        </a:p>
      </dgm:t>
    </dgm:pt>
    <dgm:pt modelId="{1D2ECC15-71DF-4ABD-BC5F-214C662064F8}" type="sibTrans" cxnId="{88915A76-093E-4923-97C8-A5DA1BC7E55E}">
      <dgm:prSet/>
      <dgm:spPr/>
      <dgm:t>
        <a:bodyPr/>
        <a:lstStyle/>
        <a:p>
          <a:endParaRPr lang="en-US"/>
        </a:p>
      </dgm:t>
    </dgm:pt>
    <dgm:pt modelId="{C8FE3EBD-32F1-46CD-BAEB-7CA68F89E0BD}">
      <dgm:prSet/>
      <dgm:spPr/>
      <dgm:t>
        <a:bodyPr/>
        <a:lstStyle/>
        <a:p>
          <a:r>
            <a:rPr lang="en-US" dirty="0"/>
            <a:t>The Bucks were more efficient on layups and post attempts, while OKC struggled with 3-point shooting. (</a:t>
          </a:r>
          <a:r>
            <a:rPr lang="en-US" dirty="0">
              <a:hlinkClick xmlns:r="http://schemas.openxmlformats.org/officeDocument/2006/relationships" r:id="rId2" action="ppaction://hlinksldjump"/>
            </a:rPr>
            <a:t>A3: Shot Zone &amp; Shot Type Percentages</a:t>
          </a:r>
          <a:r>
            <a:rPr lang="en-US" dirty="0"/>
            <a:t>).</a:t>
          </a:r>
        </a:p>
      </dgm:t>
    </dgm:pt>
    <dgm:pt modelId="{9ED4F629-D167-4FBB-BA90-F725F2D36A34}" type="parTrans" cxnId="{99378181-6A4A-435E-A913-088B03A22F1E}">
      <dgm:prSet/>
      <dgm:spPr/>
      <dgm:t>
        <a:bodyPr/>
        <a:lstStyle/>
        <a:p>
          <a:endParaRPr lang="en-US"/>
        </a:p>
      </dgm:t>
    </dgm:pt>
    <dgm:pt modelId="{21A08E9A-6273-4577-A4CB-4ED5147EB11F}" type="sibTrans" cxnId="{99378181-6A4A-435E-A913-088B03A22F1E}">
      <dgm:prSet/>
      <dgm:spPr/>
      <dgm:t>
        <a:bodyPr/>
        <a:lstStyle/>
        <a:p>
          <a:endParaRPr lang="en-US"/>
        </a:p>
      </dgm:t>
    </dgm:pt>
    <dgm:pt modelId="{DE403FFA-7D6F-494A-B5B4-6D5BD60609CF}">
      <dgm:prSet/>
      <dgm:spPr/>
      <dgm:t>
        <a:bodyPr/>
        <a:lstStyle/>
        <a:p>
          <a:r>
            <a:rPr lang="en-US" dirty="0"/>
            <a:t>Milwaukee distributed shots more evenly compared to the Thunder, and the Thunder relied on mid-range jumpers (</a:t>
          </a:r>
          <a:r>
            <a:rPr lang="en-US" dirty="0">
              <a:hlinkClick xmlns:r="http://schemas.openxmlformats.org/officeDocument/2006/relationships" r:id="rId1" action="ppaction://hlinksldjump"/>
            </a:rPr>
            <a:t>A2: Shot Chart For the Bucks &amp; Thunder</a:t>
          </a:r>
          <a:r>
            <a:rPr lang="en-US" dirty="0"/>
            <a:t>). </a:t>
          </a:r>
        </a:p>
      </dgm:t>
    </dgm:pt>
    <dgm:pt modelId="{7096FB2D-6AE9-4AF9-8DF4-EE5E325AC435}" type="parTrans" cxnId="{18EBB943-B7B6-43E5-A35F-4F77065E86EF}">
      <dgm:prSet/>
      <dgm:spPr/>
      <dgm:t>
        <a:bodyPr/>
        <a:lstStyle/>
        <a:p>
          <a:endParaRPr lang="en-US"/>
        </a:p>
      </dgm:t>
    </dgm:pt>
    <dgm:pt modelId="{15A47EF6-D022-434B-9A76-369EAE3073F9}" type="sibTrans" cxnId="{18EBB943-B7B6-43E5-A35F-4F77065E86EF}">
      <dgm:prSet/>
      <dgm:spPr/>
      <dgm:t>
        <a:bodyPr/>
        <a:lstStyle/>
        <a:p>
          <a:endParaRPr lang="en-US"/>
        </a:p>
      </dgm:t>
    </dgm:pt>
    <dgm:pt modelId="{3F799B6D-3F91-49FA-9A19-378C5BE6816A}">
      <dgm:prSet/>
      <dgm:spPr/>
      <dgm:t>
        <a:bodyPr/>
        <a:lstStyle/>
        <a:p>
          <a:r>
            <a:rPr lang="en-US" dirty="0"/>
            <a:t>The Bucks demonstrated superior perimeter efficiency, hitting </a:t>
          </a:r>
          <a:r>
            <a:rPr lang="en-US" b="1" dirty="0"/>
            <a:t>41%</a:t>
          </a:r>
          <a:r>
            <a:rPr lang="en-US" dirty="0"/>
            <a:t> of their outside shots vs OKC’s </a:t>
          </a:r>
          <a:r>
            <a:rPr lang="en-US" b="1" dirty="0"/>
            <a:t>16% </a:t>
          </a:r>
          <a:r>
            <a:rPr lang="en-US" dirty="0"/>
            <a:t>(</a:t>
          </a:r>
          <a:r>
            <a:rPr lang="en-US" dirty="0">
              <a:hlinkClick xmlns:r="http://schemas.openxmlformats.org/officeDocument/2006/relationships" r:id="rId3" action="ppaction://hlinksldjump"/>
            </a:rPr>
            <a:t>A1: Shot Chart For the Bucks &amp; Thunder</a:t>
          </a:r>
          <a:r>
            <a:rPr lang="en-US" dirty="0"/>
            <a:t>).</a:t>
          </a:r>
        </a:p>
      </dgm:t>
    </dgm:pt>
    <dgm:pt modelId="{E1F72810-E409-4E06-9A07-4EB2B71C03DC}" type="parTrans" cxnId="{6D57FC5D-8C96-4FA5-972B-CE33EDC903B2}">
      <dgm:prSet/>
      <dgm:spPr/>
      <dgm:t>
        <a:bodyPr/>
        <a:lstStyle/>
        <a:p>
          <a:endParaRPr lang="en-US"/>
        </a:p>
      </dgm:t>
    </dgm:pt>
    <dgm:pt modelId="{1BC39B00-B078-4887-934A-D3DF0BD23373}" type="sibTrans" cxnId="{6D57FC5D-8C96-4FA5-972B-CE33EDC903B2}">
      <dgm:prSet/>
      <dgm:spPr/>
      <dgm:t>
        <a:bodyPr/>
        <a:lstStyle/>
        <a:p>
          <a:endParaRPr lang="en-US"/>
        </a:p>
      </dgm:t>
    </dgm:pt>
    <dgm:pt modelId="{120B9428-BD85-40A3-B5F8-3029CFFD1546}" type="pres">
      <dgm:prSet presAssocID="{219FE338-02B5-4CBA-8E23-B41F3AACA21E}" presName="linear" presStyleCnt="0">
        <dgm:presLayoutVars>
          <dgm:animLvl val="lvl"/>
          <dgm:resizeHandles val="exact"/>
        </dgm:presLayoutVars>
      </dgm:prSet>
      <dgm:spPr/>
    </dgm:pt>
    <dgm:pt modelId="{DACC64AB-86E5-4E2B-918F-5458C8832840}" type="pres">
      <dgm:prSet presAssocID="{3F799B6D-3F91-49FA-9A19-378C5BE6816A}" presName="parentText" presStyleLbl="node1" presStyleIdx="0" presStyleCnt="4">
        <dgm:presLayoutVars>
          <dgm:chMax val="0"/>
          <dgm:bulletEnabled val="1"/>
        </dgm:presLayoutVars>
      </dgm:prSet>
      <dgm:spPr/>
    </dgm:pt>
    <dgm:pt modelId="{38D2CBC6-149F-44D7-BFA7-D9961BD4D2B7}" type="pres">
      <dgm:prSet presAssocID="{1BC39B00-B078-4887-934A-D3DF0BD23373}" presName="spacer" presStyleCnt="0"/>
      <dgm:spPr/>
    </dgm:pt>
    <dgm:pt modelId="{7A179E75-480E-44CA-A962-47425A60E246}" type="pres">
      <dgm:prSet presAssocID="{98AEF15A-D0D8-4D22-B4D0-CBFFEC925B74}" presName="parentText" presStyleLbl="node1" presStyleIdx="1" presStyleCnt="4">
        <dgm:presLayoutVars>
          <dgm:chMax val="0"/>
          <dgm:bulletEnabled val="1"/>
        </dgm:presLayoutVars>
      </dgm:prSet>
      <dgm:spPr/>
    </dgm:pt>
    <dgm:pt modelId="{5ECBD8E7-9E9A-4A34-8655-3DE93CDC50F9}" type="pres">
      <dgm:prSet presAssocID="{1D2ECC15-71DF-4ABD-BC5F-214C662064F8}" presName="spacer" presStyleCnt="0"/>
      <dgm:spPr/>
    </dgm:pt>
    <dgm:pt modelId="{D01B1AA9-89D6-4A00-9D3C-2BA553FE574C}" type="pres">
      <dgm:prSet presAssocID="{C8FE3EBD-32F1-46CD-BAEB-7CA68F89E0BD}" presName="parentText" presStyleLbl="node1" presStyleIdx="2" presStyleCnt="4">
        <dgm:presLayoutVars>
          <dgm:chMax val="0"/>
          <dgm:bulletEnabled val="1"/>
        </dgm:presLayoutVars>
      </dgm:prSet>
      <dgm:spPr/>
    </dgm:pt>
    <dgm:pt modelId="{3C9CD823-FF1D-4746-96E4-E57D46541689}" type="pres">
      <dgm:prSet presAssocID="{21A08E9A-6273-4577-A4CB-4ED5147EB11F}" presName="spacer" presStyleCnt="0"/>
      <dgm:spPr/>
    </dgm:pt>
    <dgm:pt modelId="{C4A1A009-2E67-4B99-91CF-B5F56E7DEBB7}" type="pres">
      <dgm:prSet presAssocID="{DE403FFA-7D6F-494A-B5B4-6D5BD60609CF}" presName="parentText" presStyleLbl="node1" presStyleIdx="3" presStyleCnt="4">
        <dgm:presLayoutVars>
          <dgm:chMax val="0"/>
          <dgm:bulletEnabled val="1"/>
        </dgm:presLayoutVars>
      </dgm:prSet>
      <dgm:spPr/>
    </dgm:pt>
  </dgm:ptLst>
  <dgm:cxnLst>
    <dgm:cxn modelId="{49AE9915-9A3A-4691-9FD7-07A70F9E67BD}" type="presOf" srcId="{DE403FFA-7D6F-494A-B5B4-6D5BD60609CF}" destId="{C4A1A009-2E67-4B99-91CF-B5F56E7DEBB7}" srcOrd="0" destOrd="0" presId="urn:microsoft.com/office/officeart/2005/8/layout/vList2"/>
    <dgm:cxn modelId="{BA16B317-1CEE-4AE1-8E75-E2F9DB8701E5}" type="presOf" srcId="{219FE338-02B5-4CBA-8E23-B41F3AACA21E}" destId="{120B9428-BD85-40A3-B5F8-3029CFFD1546}" srcOrd="0" destOrd="0" presId="urn:microsoft.com/office/officeart/2005/8/layout/vList2"/>
    <dgm:cxn modelId="{DBA48319-DD02-41EF-B99F-3EC357B804EE}" type="presOf" srcId="{3F799B6D-3F91-49FA-9A19-378C5BE6816A}" destId="{DACC64AB-86E5-4E2B-918F-5458C8832840}" srcOrd="0" destOrd="0" presId="urn:microsoft.com/office/officeart/2005/8/layout/vList2"/>
    <dgm:cxn modelId="{6D57FC5D-8C96-4FA5-972B-CE33EDC903B2}" srcId="{219FE338-02B5-4CBA-8E23-B41F3AACA21E}" destId="{3F799B6D-3F91-49FA-9A19-378C5BE6816A}" srcOrd="0" destOrd="0" parTransId="{E1F72810-E409-4E06-9A07-4EB2B71C03DC}" sibTransId="{1BC39B00-B078-4887-934A-D3DF0BD23373}"/>
    <dgm:cxn modelId="{18EBB943-B7B6-43E5-A35F-4F77065E86EF}" srcId="{219FE338-02B5-4CBA-8E23-B41F3AACA21E}" destId="{DE403FFA-7D6F-494A-B5B4-6D5BD60609CF}" srcOrd="3" destOrd="0" parTransId="{7096FB2D-6AE9-4AF9-8DF4-EE5E325AC435}" sibTransId="{15A47EF6-D022-434B-9A76-369EAE3073F9}"/>
    <dgm:cxn modelId="{88915A76-093E-4923-97C8-A5DA1BC7E55E}" srcId="{219FE338-02B5-4CBA-8E23-B41F3AACA21E}" destId="{98AEF15A-D0D8-4D22-B4D0-CBFFEC925B74}" srcOrd="1" destOrd="0" parTransId="{55EF84ED-8E95-485A-A497-D049BB99F70C}" sibTransId="{1D2ECC15-71DF-4ABD-BC5F-214C662064F8}"/>
    <dgm:cxn modelId="{99378181-6A4A-435E-A913-088B03A22F1E}" srcId="{219FE338-02B5-4CBA-8E23-B41F3AACA21E}" destId="{C8FE3EBD-32F1-46CD-BAEB-7CA68F89E0BD}" srcOrd="2" destOrd="0" parTransId="{9ED4F629-D167-4FBB-BA90-F725F2D36A34}" sibTransId="{21A08E9A-6273-4577-A4CB-4ED5147EB11F}"/>
    <dgm:cxn modelId="{975D90DB-298B-41E3-96C7-4999BBDB0767}" type="presOf" srcId="{C8FE3EBD-32F1-46CD-BAEB-7CA68F89E0BD}" destId="{D01B1AA9-89D6-4A00-9D3C-2BA553FE574C}" srcOrd="0" destOrd="0" presId="urn:microsoft.com/office/officeart/2005/8/layout/vList2"/>
    <dgm:cxn modelId="{D2EF60E6-96A1-45CC-AFA7-FDAC276470D7}" type="presOf" srcId="{98AEF15A-D0D8-4D22-B4D0-CBFFEC925B74}" destId="{7A179E75-480E-44CA-A962-47425A60E246}" srcOrd="0" destOrd="0" presId="urn:microsoft.com/office/officeart/2005/8/layout/vList2"/>
    <dgm:cxn modelId="{C83B0D9E-62DE-417B-B995-D6A4D97796E4}" type="presParOf" srcId="{120B9428-BD85-40A3-B5F8-3029CFFD1546}" destId="{DACC64AB-86E5-4E2B-918F-5458C8832840}" srcOrd="0" destOrd="0" presId="urn:microsoft.com/office/officeart/2005/8/layout/vList2"/>
    <dgm:cxn modelId="{2EDA943B-1CB1-4F03-9C3F-6C7893EF88A9}" type="presParOf" srcId="{120B9428-BD85-40A3-B5F8-3029CFFD1546}" destId="{38D2CBC6-149F-44D7-BFA7-D9961BD4D2B7}" srcOrd="1" destOrd="0" presId="urn:microsoft.com/office/officeart/2005/8/layout/vList2"/>
    <dgm:cxn modelId="{1E0A7D15-6304-4A04-870B-3ED05B049D39}" type="presParOf" srcId="{120B9428-BD85-40A3-B5F8-3029CFFD1546}" destId="{7A179E75-480E-44CA-A962-47425A60E246}" srcOrd="2" destOrd="0" presId="urn:microsoft.com/office/officeart/2005/8/layout/vList2"/>
    <dgm:cxn modelId="{E23C8871-AECE-42E9-9A29-449DE3B330D6}" type="presParOf" srcId="{120B9428-BD85-40A3-B5F8-3029CFFD1546}" destId="{5ECBD8E7-9E9A-4A34-8655-3DE93CDC50F9}" srcOrd="3" destOrd="0" presId="urn:microsoft.com/office/officeart/2005/8/layout/vList2"/>
    <dgm:cxn modelId="{35CFB17E-AA8F-42F9-8E18-038583117287}" type="presParOf" srcId="{120B9428-BD85-40A3-B5F8-3029CFFD1546}" destId="{D01B1AA9-89D6-4A00-9D3C-2BA553FE574C}" srcOrd="4" destOrd="0" presId="urn:microsoft.com/office/officeart/2005/8/layout/vList2"/>
    <dgm:cxn modelId="{4C15F82E-0E8B-49C5-995C-9BE6BE1EA517}" type="presParOf" srcId="{120B9428-BD85-40A3-B5F8-3029CFFD1546}" destId="{3C9CD823-FF1D-4746-96E4-E57D46541689}" srcOrd="5" destOrd="0" presId="urn:microsoft.com/office/officeart/2005/8/layout/vList2"/>
    <dgm:cxn modelId="{4A0A5B6E-95FB-47B4-BDF6-8AEF74E0215B}" type="presParOf" srcId="{120B9428-BD85-40A3-B5F8-3029CFFD1546}" destId="{C4A1A009-2E67-4B99-91CF-B5F56E7DEBB7}"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A7F481D-176A-4596-A9A1-0E134679D964}"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0B1F3741-B70C-46F8-AC1B-C0DC40AE6379}">
      <dgm:prSet/>
      <dgm:spPr/>
      <dgm:t>
        <a:bodyPr/>
        <a:lstStyle/>
        <a:p>
          <a:r>
            <a:rPr lang="en-US" dirty="0">
              <a:solidFill>
                <a:schemeClr val="bg1">
                  <a:lumMod val="85000"/>
                  <a:lumOff val="15000"/>
                </a:schemeClr>
              </a:solidFill>
            </a:rPr>
            <a:t>While both the Thunder and Bucks had a similar Shot Quality, the Bucks had a much better field goal percentage. </a:t>
          </a:r>
          <a:r>
            <a:rPr lang="en-US" dirty="0">
              <a:hlinkClick xmlns:r="http://schemas.openxmlformats.org/officeDocument/2006/relationships" r:id="rId1" action="ppaction://hlinksldjump"/>
            </a:rPr>
            <a:t>(A4: Average Shot Quality Team &amp; Individual</a:t>
          </a:r>
          <a:r>
            <a:rPr lang="en-US" dirty="0">
              <a:hlinkClick xmlns:r="http://schemas.openxmlformats.org/officeDocument/2006/relationships" r:id="rId2" action="ppaction://hlinksldjump"/>
            </a:rPr>
            <a:t>)</a:t>
          </a:r>
          <a:endParaRPr lang="en-US" dirty="0">
            <a:solidFill>
              <a:schemeClr val="bg1">
                <a:lumMod val="85000"/>
                <a:lumOff val="15000"/>
              </a:schemeClr>
            </a:solidFill>
          </a:endParaRPr>
        </a:p>
      </dgm:t>
    </dgm:pt>
    <dgm:pt modelId="{F1DC0D07-5729-4BD7-8A81-D3423EEE84D6}" type="parTrans" cxnId="{1CABABDD-66E3-458D-871B-49A31FD943F2}">
      <dgm:prSet/>
      <dgm:spPr/>
      <dgm:t>
        <a:bodyPr/>
        <a:lstStyle/>
        <a:p>
          <a:endParaRPr lang="en-US"/>
        </a:p>
      </dgm:t>
    </dgm:pt>
    <dgm:pt modelId="{3B17EC9F-679A-44CA-8366-A71B10245B61}" type="sibTrans" cxnId="{1CABABDD-66E3-458D-871B-49A31FD943F2}">
      <dgm:prSet/>
      <dgm:spPr/>
      <dgm:t>
        <a:bodyPr/>
        <a:lstStyle/>
        <a:p>
          <a:endParaRPr lang="en-US"/>
        </a:p>
      </dgm:t>
    </dgm:pt>
    <dgm:pt modelId="{C345989A-1DF3-4A3C-865B-A2E48A2C68F9}">
      <dgm:prSet/>
      <dgm:spPr/>
      <dgm:t>
        <a:bodyPr/>
        <a:lstStyle/>
        <a:p>
          <a:r>
            <a:rPr lang="en-US" dirty="0">
              <a:solidFill>
                <a:schemeClr val="bg1">
                  <a:lumMod val="85000"/>
                  <a:lumOff val="15000"/>
                </a:schemeClr>
              </a:solidFill>
            </a:rPr>
            <a:t>Several Bucks players posted exceptionally high FG% during the final 4 minutes of the first half and throughout the 3rd quarter </a:t>
          </a:r>
          <a:r>
            <a:rPr lang="en-US" dirty="0">
              <a:solidFill>
                <a:schemeClr val="bg1">
                  <a:lumMod val="85000"/>
                  <a:lumOff val="15000"/>
                </a:schemeClr>
              </a:solidFill>
              <a:hlinkClick xmlns:r="http://schemas.openxmlformats.org/officeDocument/2006/relationships" r:id="rId3" action="ppaction://hlinksldjump"/>
            </a:rPr>
            <a:t>(</a:t>
          </a:r>
          <a:r>
            <a:rPr lang="en-US" dirty="0">
              <a:hlinkClick xmlns:r="http://schemas.openxmlformats.org/officeDocument/2006/relationships" r:id="rId3" action="ppaction://hlinksldjump"/>
            </a:rPr>
            <a:t>A6: Individual Shot Quality &amp; Field Goal Percentage (Important Time). </a:t>
          </a:r>
          <a:endParaRPr lang="en-US" dirty="0">
            <a:solidFill>
              <a:schemeClr val="bg1">
                <a:lumMod val="85000"/>
                <a:lumOff val="15000"/>
              </a:schemeClr>
            </a:solidFill>
          </a:endParaRPr>
        </a:p>
      </dgm:t>
    </dgm:pt>
    <dgm:pt modelId="{427EC39B-D149-49DB-9C09-966019650C3D}" type="parTrans" cxnId="{DEEFDBAB-65B9-4833-AACD-582D9BCF6F87}">
      <dgm:prSet/>
      <dgm:spPr/>
      <dgm:t>
        <a:bodyPr/>
        <a:lstStyle/>
        <a:p>
          <a:endParaRPr lang="en-US"/>
        </a:p>
      </dgm:t>
    </dgm:pt>
    <dgm:pt modelId="{1CDAB798-CD5B-4B8A-B13E-DD7C4A45684E}" type="sibTrans" cxnId="{DEEFDBAB-65B9-4833-AACD-582D9BCF6F87}">
      <dgm:prSet/>
      <dgm:spPr/>
      <dgm:t>
        <a:bodyPr/>
        <a:lstStyle/>
        <a:p>
          <a:endParaRPr lang="en-US"/>
        </a:p>
      </dgm:t>
    </dgm:pt>
    <dgm:pt modelId="{F38E1C66-43B6-4EE0-A0E7-9BD31339C04D}">
      <dgm:prSet/>
      <dgm:spPr/>
      <dgm:t>
        <a:bodyPr/>
        <a:lstStyle/>
        <a:p>
          <a:r>
            <a:rPr lang="en-US" dirty="0">
              <a:solidFill>
                <a:schemeClr val="bg1">
                  <a:lumMod val="85000"/>
                  <a:lumOff val="15000"/>
                </a:schemeClr>
              </a:solidFill>
            </a:rPr>
            <a:t>The Thunder had several players with a high shot quality percentage, but not all converted their attempts during the game. (</a:t>
          </a:r>
          <a:r>
            <a:rPr lang="en-US" dirty="0">
              <a:solidFill>
                <a:schemeClr val="bg1">
                  <a:lumMod val="85000"/>
                  <a:lumOff val="15000"/>
                </a:schemeClr>
              </a:solidFill>
              <a:hlinkClick xmlns:r="http://schemas.openxmlformats.org/officeDocument/2006/relationships" r:id="rId4" action="ppaction://hlinksldjump"/>
            </a:rPr>
            <a:t>A5</a:t>
          </a:r>
          <a:r>
            <a:rPr lang="en-US" dirty="0">
              <a:solidFill>
                <a:schemeClr val="bg1">
                  <a:lumMod val="85000"/>
                  <a:lumOff val="15000"/>
                </a:schemeClr>
              </a:solidFill>
            </a:rPr>
            <a:t>,</a:t>
          </a:r>
          <a:r>
            <a:rPr lang="en-US" dirty="0">
              <a:solidFill>
                <a:schemeClr val="bg1">
                  <a:lumMod val="85000"/>
                  <a:lumOff val="15000"/>
                </a:schemeClr>
              </a:solidFill>
              <a:hlinkClick xmlns:r="http://schemas.openxmlformats.org/officeDocument/2006/relationships" r:id="rId3" action="ppaction://hlinksldjump"/>
            </a:rPr>
            <a:t>A6</a:t>
          </a:r>
          <a:r>
            <a:rPr lang="en-US" dirty="0">
              <a:solidFill>
                <a:schemeClr val="bg1">
                  <a:lumMod val="85000"/>
                  <a:lumOff val="15000"/>
                </a:schemeClr>
              </a:solidFill>
            </a:rPr>
            <a:t>,</a:t>
          </a:r>
          <a:r>
            <a:rPr lang="en-US" dirty="0">
              <a:solidFill>
                <a:schemeClr val="bg1">
                  <a:lumMod val="85000"/>
                  <a:lumOff val="15000"/>
                </a:schemeClr>
              </a:solidFill>
              <a:hlinkClick xmlns:r="http://schemas.openxmlformats.org/officeDocument/2006/relationships" r:id="rId2" action="ppaction://hlinksldjump"/>
            </a:rPr>
            <a:t>A7</a:t>
          </a:r>
          <a:r>
            <a:rPr lang="en-US" dirty="0">
              <a:solidFill>
                <a:schemeClr val="bg1">
                  <a:lumMod val="85000"/>
                  <a:lumOff val="15000"/>
                </a:schemeClr>
              </a:solidFill>
            </a:rPr>
            <a:t>)</a:t>
          </a:r>
        </a:p>
      </dgm:t>
    </dgm:pt>
    <dgm:pt modelId="{55D9FD42-B8E0-4EE6-8830-B01AC35C4986}" type="parTrans" cxnId="{CB7B05ED-6B1F-4E7D-92FA-E9C6CF3FEE83}">
      <dgm:prSet/>
      <dgm:spPr/>
      <dgm:t>
        <a:bodyPr/>
        <a:lstStyle/>
        <a:p>
          <a:endParaRPr lang="en-US"/>
        </a:p>
      </dgm:t>
    </dgm:pt>
    <dgm:pt modelId="{6493D2E9-3FBB-4558-A05F-2F69E7A6B6A5}" type="sibTrans" cxnId="{CB7B05ED-6B1F-4E7D-92FA-E9C6CF3FEE83}">
      <dgm:prSet/>
      <dgm:spPr/>
      <dgm:t>
        <a:bodyPr/>
        <a:lstStyle/>
        <a:p>
          <a:endParaRPr lang="en-US"/>
        </a:p>
      </dgm:t>
    </dgm:pt>
    <dgm:pt modelId="{9EC75336-E2FF-4007-B2B6-C302969F3331}">
      <dgm:prSet/>
      <dgm:spPr/>
      <dgm:t>
        <a:bodyPr/>
        <a:lstStyle/>
        <a:p>
          <a:r>
            <a:rPr lang="en-US" dirty="0">
              <a:solidFill>
                <a:schemeClr val="bg1">
                  <a:lumMod val="85000"/>
                  <a:lumOff val="15000"/>
                </a:schemeClr>
              </a:solidFill>
            </a:rPr>
            <a:t>The bucks did a great job containing Shai throughout the game 10</a:t>
          </a:r>
          <a:r>
            <a:rPr lang="en-US" baseline="30000" dirty="0">
              <a:solidFill>
                <a:schemeClr val="bg1">
                  <a:lumMod val="85000"/>
                  <a:lumOff val="15000"/>
                </a:schemeClr>
              </a:solidFill>
            </a:rPr>
            <a:t>th</a:t>
          </a:r>
          <a:r>
            <a:rPr lang="en-US" dirty="0">
              <a:solidFill>
                <a:schemeClr val="bg1">
                  <a:lumMod val="85000"/>
                  <a:lumOff val="15000"/>
                </a:schemeClr>
              </a:solidFill>
            </a:rPr>
            <a:t> in Shot quality overall and had a </a:t>
          </a:r>
          <a:r>
            <a:rPr lang="en-US" b="1" dirty="0">
              <a:solidFill>
                <a:schemeClr val="bg1">
                  <a:lumMod val="85000"/>
                  <a:lumOff val="15000"/>
                </a:schemeClr>
              </a:solidFill>
            </a:rPr>
            <a:t>30.8% </a:t>
          </a:r>
          <a:r>
            <a:rPr lang="en-US" dirty="0">
              <a:solidFill>
                <a:schemeClr val="bg1">
                  <a:lumMod val="85000"/>
                  <a:lumOff val="15000"/>
                </a:schemeClr>
              </a:solidFill>
            </a:rPr>
            <a:t>FG% </a:t>
          </a:r>
          <a:r>
            <a:rPr lang="en-US" dirty="0">
              <a:solidFill>
                <a:schemeClr val="bg1">
                  <a:lumMod val="85000"/>
                  <a:lumOff val="15000"/>
                </a:schemeClr>
              </a:solidFill>
              <a:hlinkClick xmlns:r="http://schemas.openxmlformats.org/officeDocument/2006/relationships" r:id="rId4" action="ppaction://hlinksldjump"/>
            </a:rPr>
            <a:t>(A5:Individual Shot Quality &amp; Field Goal Percentage)</a:t>
          </a:r>
          <a:endParaRPr lang="en-US" dirty="0">
            <a:solidFill>
              <a:schemeClr val="bg1">
                <a:lumMod val="85000"/>
                <a:lumOff val="15000"/>
              </a:schemeClr>
            </a:solidFill>
          </a:endParaRPr>
        </a:p>
      </dgm:t>
    </dgm:pt>
    <dgm:pt modelId="{94AFA893-A58F-480E-9430-6DDC86094E66}" type="parTrans" cxnId="{76CBB58E-972A-4359-AC8E-1545E8EBFAE9}">
      <dgm:prSet/>
      <dgm:spPr/>
      <dgm:t>
        <a:bodyPr/>
        <a:lstStyle/>
        <a:p>
          <a:endParaRPr lang="en-US"/>
        </a:p>
      </dgm:t>
    </dgm:pt>
    <dgm:pt modelId="{0A3C4CDC-EFFE-400A-B75D-2D8B002D73A9}" type="sibTrans" cxnId="{76CBB58E-972A-4359-AC8E-1545E8EBFAE9}">
      <dgm:prSet/>
      <dgm:spPr/>
      <dgm:t>
        <a:bodyPr/>
        <a:lstStyle/>
        <a:p>
          <a:endParaRPr lang="en-US"/>
        </a:p>
      </dgm:t>
    </dgm:pt>
    <dgm:pt modelId="{8EE8C2E9-6273-42C2-A023-FD95222A28DA}" type="pres">
      <dgm:prSet presAssocID="{3A7F481D-176A-4596-A9A1-0E134679D964}" presName="root" presStyleCnt="0">
        <dgm:presLayoutVars>
          <dgm:dir/>
          <dgm:resizeHandles val="exact"/>
        </dgm:presLayoutVars>
      </dgm:prSet>
      <dgm:spPr/>
    </dgm:pt>
    <dgm:pt modelId="{D90549C2-1CCB-44F4-9099-1D5FEE82CEBC}" type="pres">
      <dgm:prSet presAssocID="{0B1F3741-B70C-46F8-AC1B-C0DC40AE6379}" presName="compNode" presStyleCnt="0"/>
      <dgm:spPr/>
    </dgm:pt>
    <dgm:pt modelId="{925E516E-BAE4-4188-8F97-A122EB5E9AA9}" type="pres">
      <dgm:prSet presAssocID="{0B1F3741-B70C-46F8-AC1B-C0DC40AE6379}" presName="bgRect" presStyleLbl="bgShp" presStyleIdx="0" presStyleCnt="4"/>
      <dgm:spPr/>
    </dgm:pt>
    <dgm:pt modelId="{9E6212FF-36B7-40EF-A8B9-685C3A9A82C2}" type="pres">
      <dgm:prSet presAssocID="{0B1F3741-B70C-46F8-AC1B-C0DC40AE6379}" presName="iconRect" presStyleLbl="node1" presStyleIdx="0" presStyleCnt="4"/>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Basketball Hoop outline"/>
        </a:ext>
      </dgm:extLst>
    </dgm:pt>
    <dgm:pt modelId="{7F0AE9D6-A5A2-4C42-89EC-A50006653687}" type="pres">
      <dgm:prSet presAssocID="{0B1F3741-B70C-46F8-AC1B-C0DC40AE6379}" presName="spaceRect" presStyleCnt="0"/>
      <dgm:spPr/>
    </dgm:pt>
    <dgm:pt modelId="{32F25CAA-8417-4DB3-9E63-215D72E09C12}" type="pres">
      <dgm:prSet presAssocID="{0B1F3741-B70C-46F8-AC1B-C0DC40AE6379}" presName="parTx" presStyleLbl="revTx" presStyleIdx="0" presStyleCnt="4">
        <dgm:presLayoutVars>
          <dgm:chMax val="0"/>
          <dgm:chPref val="0"/>
        </dgm:presLayoutVars>
      </dgm:prSet>
      <dgm:spPr/>
    </dgm:pt>
    <dgm:pt modelId="{E84F0A0D-6249-49AA-9E2F-8FD3000983A4}" type="pres">
      <dgm:prSet presAssocID="{3B17EC9F-679A-44CA-8366-A71B10245B61}" presName="sibTrans" presStyleCnt="0"/>
      <dgm:spPr/>
    </dgm:pt>
    <dgm:pt modelId="{2C50514A-8A7E-425A-B84E-37CCBA4DD0B9}" type="pres">
      <dgm:prSet presAssocID="{C345989A-1DF3-4A3C-865B-A2E48A2C68F9}" presName="compNode" presStyleCnt="0"/>
      <dgm:spPr/>
    </dgm:pt>
    <dgm:pt modelId="{FC069E30-B11E-47C6-B273-015C98CE4440}" type="pres">
      <dgm:prSet presAssocID="{C345989A-1DF3-4A3C-865B-A2E48A2C68F9}" presName="bgRect" presStyleLbl="bgShp" presStyleIdx="1" presStyleCnt="4"/>
      <dgm:spPr/>
    </dgm:pt>
    <dgm:pt modelId="{548A8AD9-E7C4-4286-B7F0-2BB6C0D23D37}" type="pres">
      <dgm:prSet presAssocID="{C345989A-1DF3-4A3C-865B-A2E48A2C68F9}" presName="iconRect" presStyleLbl="node1" presStyleIdx="1" presStyleCnt="4"/>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a:noFill/>
        </a:ln>
      </dgm:spPr>
      <dgm:extLst>
        <a:ext uri="{E40237B7-FDA0-4F09-8148-C483321AD2D9}">
          <dgm14:cNvPr xmlns:dgm14="http://schemas.microsoft.com/office/drawing/2010/diagram" id="0" name="" descr="Arrow Up with solid fill"/>
        </a:ext>
      </dgm:extLst>
    </dgm:pt>
    <dgm:pt modelId="{3FB1113F-1087-4572-B742-E469D1A151C1}" type="pres">
      <dgm:prSet presAssocID="{C345989A-1DF3-4A3C-865B-A2E48A2C68F9}" presName="spaceRect" presStyleCnt="0"/>
      <dgm:spPr/>
    </dgm:pt>
    <dgm:pt modelId="{9873894D-20DB-4892-A09E-9D4B699D788B}" type="pres">
      <dgm:prSet presAssocID="{C345989A-1DF3-4A3C-865B-A2E48A2C68F9}" presName="parTx" presStyleLbl="revTx" presStyleIdx="1" presStyleCnt="4">
        <dgm:presLayoutVars>
          <dgm:chMax val="0"/>
          <dgm:chPref val="0"/>
        </dgm:presLayoutVars>
      </dgm:prSet>
      <dgm:spPr/>
    </dgm:pt>
    <dgm:pt modelId="{F18B0C82-90C9-44ED-A9E0-FB337E5131FA}" type="pres">
      <dgm:prSet presAssocID="{1CDAB798-CD5B-4B8A-B13E-DD7C4A45684E}" presName="sibTrans" presStyleCnt="0"/>
      <dgm:spPr/>
    </dgm:pt>
    <dgm:pt modelId="{2A55902B-42B9-4D6E-839A-E77BE10CEA7C}" type="pres">
      <dgm:prSet presAssocID="{F38E1C66-43B6-4EE0-A0E7-9BD31339C04D}" presName="compNode" presStyleCnt="0"/>
      <dgm:spPr/>
    </dgm:pt>
    <dgm:pt modelId="{324C49C8-4795-4AA3-AECB-B52E41808C5D}" type="pres">
      <dgm:prSet presAssocID="{F38E1C66-43B6-4EE0-A0E7-9BD31339C04D}" presName="bgRect" presStyleLbl="bgShp" presStyleIdx="2" presStyleCnt="4"/>
      <dgm:spPr/>
    </dgm:pt>
    <dgm:pt modelId="{F5B0A5D6-1514-44D0-A80D-054DA820992A}" type="pres">
      <dgm:prSet presAssocID="{F38E1C66-43B6-4EE0-A0E7-9BD31339C04D}" presName="iconRect" presStyleLbl="node1" presStyleIdx="2" presStyleCnt="4"/>
      <dgm:spPr>
        <a:blipFill>
          <a:blip xmlns:r="http://schemas.openxmlformats.org/officeDocument/2006/relationships" r:embed="rId9">
            <a:extLst>
              <a:ext uri="{96DAC541-7B7A-43D3-8B79-37D633B846F1}">
                <asvg:svgBlip xmlns:asvg="http://schemas.microsoft.com/office/drawing/2016/SVG/main" r:embed="rId10"/>
              </a:ext>
            </a:extLst>
          </a:blip>
          <a:srcRect/>
          <a:stretch>
            <a:fillRect/>
          </a:stretch>
        </a:blipFill>
        <a:ln>
          <a:noFill/>
        </a:ln>
      </dgm:spPr>
      <dgm:extLst>
        <a:ext uri="{E40237B7-FDA0-4F09-8148-C483321AD2D9}">
          <dgm14:cNvPr xmlns:dgm14="http://schemas.microsoft.com/office/drawing/2010/diagram" id="0" name="" descr="Horseshoe with solid fill"/>
        </a:ext>
      </dgm:extLst>
    </dgm:pt>
    <dgm:pt modelId="{45970803-8531-40E4-AB61-D5B0B4324127}" type="pres">
      <dgm:prSet presAssocID="{F38E1C66-43B6-4EE0-A0E7-9BD31339C04D}" presName="spaceRect" presStyleCnt="0"/>
      <dgm:spPr/>
    </dgm:pt>
    <dgm:pt modelId="{1E43E3EC-B04D-4B84-A6F8-6DD9B7AD9B06}" type="pres">
      <dgm:prSet presAssocID="{F38E1C66-43B6-4EE0-A0E7-9BD31339C04D}" presName="parTx" presStyleLbl="revTx" presStyleIdx="2" presStyleCnt="4">
        <dgm:presLayoutVars>
          <dgm:chMax val="0"/>
          <dgm:chPref val="0"/>
        </dgm:presLayoutVars>
      </dgm:prSet>
      <dgm:spPr/>
    </dgm:pt>
    <dgm:pt modelId="{C87C6B1D-D12A-4793-BE87-903D434D9589}" type="pres">
      <dgm:prSet presAssocID="{6493D2E9-3FBB-4558-A05F-2F69E7A6B6A5}" presName="sibTrans" presStyleCnt="0"/>
      <dgm:spPr/>
    </dgm:pt>
    <dgm:pt modelId="{D9BE1004-E6DE-4E91-B543-0E708134CECB}" type="pres">
      <dgm:prSet presAssocID="{9EC75336-E2FF-4007-B2B6-C302969F3331}" presName="compNode" presStyleCnt="0"/>
      <dgm:spPr/>
    </dgm:pt>
    <dgm:pt modelId="{97787804-8530-4E3D-8CD6-1B55518F36A2}" type="pres">
      <dgm:prSet presAssocID="{9EC75336-E2FF-4007-B2B6-C302969F3331}" presName="bgRect" presStyleLbl="bgShp" presStyleIdx="3" presStyleCnt="4"/>
      <dgm:spPr/>
    </dgm:pt>
    <dgm:pt modelId="{927FC7B9-09F2-4CDD-873B-B57101FD3B8F}" type="pres">
      <dgm:prSet presAssocID="{9EC75336-E2FF-4007-B2B6-C302969F3331}" presName="iconRect" presStyleLbl="node1" presStyleIdx="3" presStyleCnt="4"/>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Basketball"/>
        </a:ext>
      </dgm:extLst>
    </dgm:pt>
    <dgm:pt modelId="{CFD4A20B-501F-4C88-B61C-9AEB79045B2C}" type="pres">
      <dgm:prSet presAssocID="{9EC75336-E2FF-4007-B2B6-C302969F3331}" presName="spaceRect" presStyleCnt="0"/>
      <dgm:spPr/>
    </dgm:pt>
    <dgm:pt modelId="{6F7C5B77-F14C-434C-9D2C-01AFF68E16A5}" type="pres">
      <dgm:prSet presAssocID="{9EC75336-E2FF-4007-B2B6-C302969F3331}" presName="parTx" presStyleLbl="revTx" presStyleIdx="3" presStyleCnt="4">
        <dgm:presLayoutVars>
          <dgm:chMax val="0"/>
          <dgm:chPref val="0"/>
        </dgm:presLayoutVars>
      </dgm:prSet>
      <dgm:spPr/>
    </dgm:pt>
  </dgm:ptLst>
  <dgm:cxnLst>
    <dgm:cxn modelId="{DEAE9B63-7177-414A-8219-841C9BC8C642}" type="presOf" srcId="{F38E1C66-43B6-4EE0-A0E7-9BD31339C04D}" destId="{1E43E3EC-B04D-4B84-A6F8-6DD9B7AD9B06}" srcOrd="0" destOrd="0" presId="urn:microsoft.com/office/officeart/2018/2/layout/IconVerticalSolidList"/>
    <dgm:cxn modelId="{DC7D267C-3E4A-4BA6-97A4-4A7C1DACDA29}" type="presOf" srcId="{0B1F3741-B70C-46F8-AC1B-C0DC40AE6379}" destId="{32F25CAA-8417-4DB3-9E63-215D72E09C12}" srcOrd="0" destOrd="0" presId="urn:microsoft.com/office/officeart/2018/2/layout/IconVerticalSolidList"/>
    <dgm:cxn modelId="{8C605D85-1852-4FCE-8BFB-212173B9CAAF}" type="presOf" srcId="{9EC75336-E2FF-4007-B2B6-C302969F3331}" destId="{6F7C5B77-F14C-434C-9D2C-01AFF68E16A5}" srcOrd="0" destOrd="0" presId="urn:microsoft.com/office/officeart/2018/2/layout/IconVerticalSolidList"/>
    <dgm:cxn modelId="{76CBB58E-972A-4359-AC8E-1545E8EBFAE9}" srcId="{3A7F481D-176A-4596-A9A1-0E134679D964}" destId="{9EC75336-E2FF-4007-B2B6-C302969F3331}" srcOrd="3" destOrd="0" parTransId="{94AFA893-A58F-480E-9430-6DDC86094E66}" sibTransId="{0A3C4CDC-EFFE-400A-B75D-2D8B002D73A9}"/>
    <dgm:cxn modelId="{DEEFDBAB-65B9-4833-AACD-582D9BCF6F87}" srcId="{3A7F481D-176A-4596-A9A1-0E134679D964}" destId="{C345989A-1DF3-4A3C-865B-A2E48A2C68F9}" srcOrd="1" destOrd="0" parTransId="{427EC39B-D149-49DB-9C09-966019650C3D}" sibTransId="{1CDAB798-CD5B-4B8A-B13E-DD7C4A45684E}"/>
    <dgm:cxn modelId="{1CABABDD-66E3-458D-871B-49A31FD943F2}" srcId="{3A7F481D-176A-4596-A9A1-0E134679D964}" destId="{0B1F3741-B70C-46F8-AC1B-C0DC40AE6379}" srcOrd="0" destOrd="0" parTransId="{F1DC0D07-5729-4BD7-8A81-D3423EEE84D6}" sibTransId="{3B17EC9F-679A-44CA-8366-A71B10245B61}"/>
    <dgm:cxn modelId="{915EFEE1-8DCB-41CA-BDE7-721A79FD1171}" type="presOf" srcId="{C345989A-1DF3-4A3C-865B-A2E48A2C68F9}" destId="{9873894D-20DB-4892-A09E-9D4B699D788B}" srcOrd="0" destOrd="0" presId="urn:microsoft.com/office/officeart/2018/2/layout/IconVerticalSolidList"/>
    <dgm:cxn modelId="{ECFD8CE3-878B-4B1B-95F9-651DA08AD0DD}" type="presOf" srcId="{3A7F481D-176A-4596-A9A1-0E134679D964}" destId="{8EE8C2E9-6273-42C2-A023-FD95222A28DA}" srcOrd="0" destOrd="0" presId="urn:microsoft.com/office/officeart/2018/2/layout/IconVerticalSolidList"/>
    <dgm:cxn modelId="{CB7B05ED-6B1F-4E7D-92FA-E9C6CF3FEE83}" srcId="{3A7F481D-176A-4596-A9A1-0E134679D964}" destId="{F38E1C66-43B6-4EE0-A0E7-9BD31339C04D}" srcOrd="2" destOrd="0" parTransId="{55D9FD42-B8E0-4EE6-8830-B01AC35C4986}" sibTransId="{6493D2E9-3FBB-4558-A05F-2F69E7A6B6A5}"/>
    <dgm:cxn modelId="{F670F292-EDAB-475C-AB01-DAEE94BB92C8}" type="presParOf" srcId="{8EE8C2E9-6273-42C2-A023-FD95222A28DA}" destId="{D90549C2-1CCB-44F4-9099-1D5FEE82CEBC}" srcOrd="0" destOrd="0" presId="urn:microsoft.com/office/officeart/2018/2/layout/IconVerticalSolidList"/>
    <dgm:cxn modelId="{C9E3483E-C36D-4E7C-8EDF-F95C7A1B121E}" type="presParOf" srcId="{D90549C2-1CCB-44F4-9099-1D5FEE82CEBC}" destId="{925E516E-BAE4-4188-8F97-A122EB5E9AA9}" srcOrd="0" destOrd="0" presId="urn:microsoft.com/office/officeart/2018/2/layout/IconVerticalSolidList"/>
    <dgm:cxn modelId="{CFE5F698-9ED5-483A-A256-30706580435A}" type="presParOf" srcId="{D90549C2-1CCB-44F4-9099-1D5FEE82CEBC}" destId="{9E6212FF-36B7-40EF-A8B9-685C3A9A82C2}" srcOrd="1" destOrd="0" presId="urn:microsoft.com/office/officeart/2018/2/layout/IconVerticalSolidList"/>
    <dgm:cxn modelId="{AF47FBDB-813B-42ED-8496-5F80DEC533FF}" type="presParOf" srcId="{D90549C2-1CCB-44F4-9099-1D5FEE82CEBC}" destId="{7F0AE9D6-A5A2-4C42-89EC-A50006653687}" srcOrd="2" destOrd="0" presId="urn:microsoft.com/office/officeart/2018/2/layout/IconVerticalSolidList"/>
    <dgm:cxn modelId="{22C48A23-D23E-4F32-B71F-A0F0A0ADB742}" type="presParOf" srcId="{D90549C2-1CCB-44F4-9099-1D5FEE82CEBC}" destId="{32F25CAA-8417-4DB3-9E63-215D72E09C12}" srcOrd="3" destOrd="0" presId="urn:microsoft.com/office/officeart/2018/2/layout/IconVerticalSolidList"/>
    <dgm:cxn modelId="{2D32EC86-41D7-4E4E-9766-F70C3EE0DB79}" type="presParOf" srcId="{8EE8C2E9-6273-42C2-A023-FD95222A28DA}" destId="{E84F0A0D-6249-49AA-9E2F-8FD3000983A4}" srcOrd="1" destOrd="0" presId="urn:microsoft.com/office/officeart/2018/2/layout/IconVerticalSolidList"/>
    <dgm:cxn modelId="{ADE89EF4-CE45-44B6-A134-EB88E97262D5}" type="presParOf" srcId="{8EE8C2E9-6273-42C2-A023-FD95222A28DA}" destId="{2C50514A-8A7E-425A-B84E-37CCBA4DD0B9}" srcOrd="2" destOrd="0" presId="urn:microsoft.com/office/officeart/2018/2/layout/IconVerticalSolidList"/>
    <dgm:cxn modelId="{AFCE4296-8AEB-4B74-84FA-7465A5FA9533}" type="presParOf" srcId="{2C50514A-8A7E-425A-B84E-37CCBA4DD0B9}" destId="{FC069E30-B11E-47C6-B273-015C98CE4440}" srcOrd="0" destOrd="0" presId="urn:microsoft.com/office/officeart/2018/2/layout/IconVerticalSolidList"/>
    <dgm:cxn modelId="{B74B43A6-AAEE-4AB5-BB72-B0DB18F18CB2}" type="presParOf" srcId="{2C50514A-8A7E-425A-B84E-37CCBA4DD0B9}" destId="{548A8AD9-E7C4-4286-B7F0-2BB6C0D23D37}" srcOrd="1" destOrd="0" presId="urn:microsoft.com/office/officeart/2018/2/layout/IconVerticalSolidList"/>
    <dgm:cxn modelId="{9096A3CA-7008-4D99-8EAB-CF05D798310F}" type="presParOf" srcId="{2C50514A-8A7E-425A-B84E-37CCBA4DD0B9}" destId="{3FB1113F-1087-4572-B742-E469D1A151C1}" srcOrd="2" destOrd="0" presId="urn:microsoft.com/office/officeart/2018/2/layout/IconVerticalSolidList"/>
    <dgm:cxn modelId="{68CD08E3-379E-404A-9781-63882C660751}" type="presParOf" srcId="{2C50514A-8A7E-425A-B84E-37CCBA4DD0B9}" destId="{9873894D-20DB-4892-A09E-9D4B699D788B}" srcOrd="3" destOrd="0" presId="urn:microsoft.com/office/officeart/2018/2/layout/IconVerticalSolidList"/>
    <dgm:cxn modelId="{52E975FA-79A8-44EC-9B54-89DD7F105A12}" type="presParOf" srcId="{8EE8C2E9-6273-42C2-A023-FD95222A28DA}" destId="{F18B0C82-90C9-44ED-A9E0-FB337E5131FA}" srcOrd="3" destOrd="0" presId="urn:microsoft.com/office/officeart/2018/2/layout/IconVerticalSolidList"/>
    <dgm:cxn modelId="{1C497D06-2DA3-4768-A284-A40E3ABE615F}" type="presParOf" srcId="{8EE8C2E9-6273-42C2-A023-FD95222A28DA}" destId="{2A55902B-42B9-4D6E-839A-E77BE10CEA7C}" srcOrd="4" destOrd="0" presId="urn:microsoft.com/office/officeart/2018/2/layout/IconVerticalSolidList"/>
    <dgm:cxn modelId="{E6BCA4B2-620E-4D06-B3B3-CA1FF6CAD5DF}" type="presParOf" srcId="{2A55902B-42B9-4D6E-839A-E77BE10CEA7C}" destId="{324C49C8-4795-4AA3-AECB-B52E41808C5D}" srcOrd="0" destOrd="0" presId="urn:microsoft.com/office/officeart/2018/2/layout/IconVerticalSolidList"/>
    <dgm:cxn modelId="{065ED5B3-0390-4A6B-B368-932F0F0E23D8}" type="presParOf" srcId="{2A55902B-42B9-4D6E-839A-E77BE10CEA7C}" destId="{F5B0A5D6-1514-44D0-A80D-054DA820992A}" srcOrd="1" destOrd="0" presId="urn:microsoft.com/office/officeart/2018/2/layout/IconVerticalSolidList"/>
    <dgm:cxn modelId="{C4DBBACF-B5E9-4DA9-B64C-04681AC67FAD}" type="presParOf" srcId="{2A55902B-42B9-4D6E-839A-E77BE10CEA7C}" destId="{45970803-8531-40E4-AB61-D5B0B4324127}" srcOrd="2" destOrd="0" presId="urn:microsoft.com/office/officeart/2018/2/layout/IconVerticalSolidList"/>
    <dgm:cxn modelId="{D67D0B7B-5DBB-4448-B329-6E80E569A922}" type="presParOf" srcId="{2A55902B-42B9-4D6E-839A-E77BE10CEA7C}" destId="{1E43E3EC-B04D-4B84-A6F8-6DD9B7AD9B06}" srcOrd="3" destOrd="0" presId="urn:microsoft.com/office/officeart/2018/2/layout/IconVerticalSolidList"/>
    <dgm:cxn modelId="{6537F05D-C561-41ED-948A-14C68B892FBC}" type="presParOf" srcId="{8EE8C2E9-6273-42C2-A023-FD95222A28DA}" destId="{C87C6B1D-D12A-4793-BE87-903D434D9589}" srcOrd="5" destOrd="0" presId="urn:microsoft.com/office/officeart/2018/2/layout/IconVerticalSolidList"/>
    <dgm:cxn modelId="{BF68F049-31C0-4FFB-900A-6878B164C8C4}" type="presParOf" srcId="{8EE8C2E9-6273-42C2-A023-FD95222A28DA}" destId="{D9BE1004-E6DE-4E91-B543-0E708134CECB}" srcOrd="6" destOrd="0" presId="urn:microsoft.com/office/officeart/2018/2/layout/IconVerticalSolidList"/>
    <dgm:cxn modelId="{EE70B563-C801-4E66-A0F5-17B3474761F1}" type="presParOf" srcId="{D9BE1004-E6DE-4E91-B543-0E708134CECB}" destId="{97787804-8530-4E3D-8CD6-1B55518F36A2}" srcOrd="0" destOrd="0" presId="urn:microsoft.com/office/officeart/2018/2/layout/IconVerticalSolidList"/>
    <dgm:cxn modelId="{D87AD994-85DE-4F07-9497-ADA9C8386015}" type="presParOf" srcId="{D9BE1004-E6DE-4E91-B543-0E708134CECB}" destId="{927FC7B9-09F2-4CDD-873B-B57101FD3B8F}" srcOrd="1" destOrd="0" presId="urn:microsoft.com/office/officeart/2018/2/layout/IconVerticalSolidList"/>
    <dgm:cxn modelId="{59A7C7F6-E2E5-4ED7-98B3-B68BDB61B7EC}" type="presParOf" srcId="{D9BE1004-E6DE-4E91-B543-0E708134CECB}" destId="{CFD4A20B-501F-4C88-B61C-9AEB79045B2C}" srcOrd="2" destOrd="0" presId="urn:microsoft.com/office/officeart/2018/2/layout/IconVerticalSolidList"/>
    <dgm:cxn modelId="{A88B811C-FB81-4DAA-AF72-7636763AF56D}" type="presParOf" srcId="{D9BE1004-E6DE-4E91-B543-0E708134CECB}" destId="{6F7C5B77-F14C-434C-9D2C-01AFF68E16A5}"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A7F481D-176A-4596-A9A1-0E134679D964}"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0B1F3741-B70C-46F8-AC1B-C0DC40AE6379}">
      <dgm:prSet/>
      <dgm:spPr/>
      <dgm:t>
        <a:bodyPr/>
        <a:lstStyle/>
        <a:p>
          <a:r>
            <a:rPr lang="en-US" dirty="0">
              <a:solidFill>
                <a:schemeClr val="bg1">
                  <a:lumMod val="85000"/>
                  <a:lumOff val="15000"/>
                </a:schemeClr>
              </a:solidFill>
            </a:rPr>
            <a:t>The Bucks took advantage of lightly contested shots as they shot much higher compared to OKC (</a:t>
          </a:r>
          <a:r>
            <a:rPr lang="en-US" b="1" dirty="0">
              <a:solidFill>
                <a:schemeClr val="bg1">
                  <a:lumMod val="85000"/>
                  <a:lumOff val="15000"/>
                </a:schemeClr>
              </a:solidFill>
            </a:rPr>
            <a:t>48%</a:t>
          </a:r>
          <a:r>
            <a:rPr lang="en-US" dirty="0">
              <a:solidFill>
                <a:schemeClr val="bg1">
                  <a:lumMod val="85000"/>
                  <a:lumOff val="15000"/>
                </a:schemeClr>
              </a:solidFill>
            </a:rPr>
            <a:t> to </a:t>
          </a:r>
          <a:r>
            <a:rPr lang="en-US" b="1" dirty="0">
              <a:solidFill>
                <a:schemeClr val="bg1">
                  <a:lumMod val="85000"/>
                  <a:lumOff val="15000"/>
                </a:schemeClr>
              </a:solidFill>
            </a:rPr>
            <a:t>17%</a:t>
          </a:r>
          <a:r>
            <a:rPr lang="en-US" dirty="0">
              <a:solidFill>
                <a:schemeClr val="bg1">
                  <a:lumMod val="85000"/>
                  <a:lumOff val="15000"/>
                </a:schemeClr>
              </a:solidFill>
            </a:rPr>
            <a:t>). </a:t>
          </a:r>
          <a:r>
            <a:rPr lang="en-US" dirty="0">
              <a:solidFill>
                <a:schemeClr val="bg1">
                  <a:lumMod val="85000"/>
                  <a:lumOff val="15000"/>
                </a:schemeClr>
              </a:solidFill>
              <a:hlinkClick xmlns:r="http://schemas.openxmlformats.org/officeDocument/2006/relationships" r:id="rId1" action="ppaction://hlinksldjump"/>
            </a:rPr>
            <a:t>(A10: Contest Level Graph Results &amp; Defender Distance FG%) </a:t>
          </a:r>
          <a:endParaRPr lang="en-US" dirty="0">
            <a:solidFill>
              <a:schemeClr val="bg1">
                <a:lumMod val="85000"/>
                <a:lumOff val="15000"/>
              </a:schemeClr>
            </a:solidFill>
          </a:endParaRPr>
        </a:p>
      </dgm:t>
    </dgm:pt>
    <dgm:pt modelId="{F1DC0D07-5729-4BD7-8A81-D3423EEE84D6}" type="parTrans" cxnId="{1CABABDD-66E3-458D-871B-49A31FD943F2}">
      <dgm:prSet/>
      <dgm:spPr/>
      <dgm:t>
        <a:bodyPr/>
        <a:lstStyle/>
        <a:p>
          <a:endParaRPr lang="en-US"/>
        </a:p>
      </dgm:t>
    </dgm:pt>
    <dgm:pt modelId="{3B17EC9F-679A-44CA-8366-A71B10245B61}" type="sibTrans" cxnId="{1CABABDD-66E3-458D-871B-49A31FD943F2}">
      <dgm:prSet/>
      <dgm:spPr/>
      <dgm:t>
        <a:bodyPr/>
        <a:lstStyle/>
        <a:p>
          <a:endParaRPr lang="en-US"/>
        </a:p>
      </dgm:t>
    </dgm:pt>
    <dgm:pt modelId="{C345989A-1DF3-4A3C-865B-A2E48A2C68F9}">
      <dgm:prSet/>
      <dgm:spPr/>
      <dgm:t>
        <a:bodyPr/>
        <a:lstStyle/>
        <a:p>
          <a:r>
            <a:rPr lang="en-US" dirty="0">
              <a:solidFill>
                <a:schemeClr val="bg1">
                  <a:lumMod val="85000"/>
                  <a:lumOff val="15000"/>
                </a:schemeClr>
              </a:solidFill>
            </a:rPr>
            <a:t>Bucks players not only scored more efficiently than the Thunder, but also effectively defended Shai — limiting him to 10th in Points Per Shot. </a:t>
          </a:r>
          <a:r>
            <a:rPr lang="en-US" dirty="0">
              <a:solidFill>
                <a:schemeClr val="bg1">
                  <a:lumMod val="85000"/>
                  <a:lumOff val="15000"/>
                </a:schemeClr>
              </a:solidFill>
              <a:hlinkClick xmlns:r="http://schemas.openxmlformats.org/officeDocument/2006/relationships" r:id="rId2" action="ppaction://hlinksldjump"/>
            </a:rPr>
            <a:t>(A9: Points Per Shot Top 10) </a:t>
          </a:r>
          <a:endParaRPr lang="en-US" dirty="0">
            <a:solidFill>
              <a:schemeClr val="bg1">
                <a:lumMod val="85000"/>
                <a:lumOff val="15000"/>
              </a:schemeClr>
            </a:solidFill>
          </a:endParaRPr>
        </a:p>
      </dgm:t>
    </dgm:pt>
    <dgm:pt modelId="{427EC39B-D149-49DB-9C09-966019650C3D}" type="parTrans" cxnId="{DEEFDBAB-65B9-4833-AACD-582D9BCF6F87}">
      <dgm:prSet/>
      <dgm:spPr/>
      <dgm:t>
        <a:bodyPr/>
        <a:lstStyle/>
        <a:p>
          <a:endParaRPr lang="en-US"/>
        </a:p>
      </dgm:t>
    </dgm:pt>
    <dgm:pt modelId="{1CDAB798-CD5B-4B8A-B13E-DD7C4A45684E}" type="sibTrans" cxnId="{DEEFDBAB-65B9-4833-AACD-582D9BCF6F87}">
      <dgm:prSet/>
      <dgm:spPr/>
      <dgm:t>
        <a:bodyPr/>
        <a:lstStyle/>
        <a:p>
          <a:endParaRPr lang="en-US"/>
        </a:p>
      </dgm:t>
    </dgm:pt>
    <dgm:pt modelId="{F38E1C66-43B6-4EE0-A0E7-9BD31339C04D}">
      <dgm:prSet/>
      <dgm:spPr/>
      <dgm:t>
        <a:bodyPr/>
        <a:lstStyle/>
        <a:p>
          <a:r>
            <a:rPr lang="en-US" dirty="0">
              <a:solidFill>
                <a:schemeClr val="bg1">
                  <a:lumMod val="85000"/>
                  <a:lumOff val="15000"/>
                </a:schemeClr>
              </a:solidFill>
            </a:rPr>
            <a:t>The Thunder did not capitalize on field goals when the defender distancer was more than 6 ft whereas the bucks were able to. (</a:t>
          </a:r>
          <a:r>
            <a:rPr lang="en-US" dirty="0">
              <a:solidFill>
                <a:schemeClr val="bg1">
                  <a:lumMod val="85000"/>
                  <a:lumOff val="15000"/>
                </a:schemeClr>
              </a:solidFill>
              <a:hlinkClick xmlns:r="http://schemas.openxmlformats.org/officeDocument/2006/relationships" r:id="rId1" action="ppaction://hlinksldjump"/>
            </a:rPr>
            <a:t>A10</a:t>
          </a:r>
          <a:r>
            <a:rPr lang="en-US" dirty="0">
              <a:solidFill>
                <a:schemeClr val="bg1">
                  <a:lumMod val="85000"/>
                  <a:lumOff val="15000"/>
                </a:schemeClr>
              </a:solidFill>
            </a:rPr>
            <a:t> &amp; </a:t>
          </a:r>
          <a:r>
            <a:rPr lang="en-US" dirty="0">
              <a:solidFill>
                <a:schemeClr val="bg1">
                  <a:lumMod val="85000"/>
                  <a:lumOff val="15000"/>
                </a:schemeClr>
              </a:solidFill>
              <a:hlinkClick xmlns:r="http://schemas.openxmlformats.org/officeDocument/2006/relationships" r:id="rId3" action="ppaction://hlinksldjump"/>
            </a:rPr>
            <a:t>A11</a:t>
          </a:r>
          <a:r>
            <a:rPr lang="en-US" dirty="0">
              <a:solidFill>
                <a:schemeClr val="bg1">
                  <a:lumMod val="85000"/>
                  <a:lumOff val="15000"/>
                </a:schemeClr>
              </a:solidFill>
            </a:rPr>
            <a:t>) </a:t>
          </a:r>
        </a:p>
      </dgm:t>
    </dgm:pt>
    <dgm:pt modelId="{55D9FD42-B8E0-4EE6-8830-B01AC35C4986}" type="parTrans" cxnId="{CB7B05ED-6B1F-4E7D-92FA-E9C6CF3FEE83}">
      <dgm:prSet/>
      <dgm:spPr/>
      <dgm:t>
        <a:bodyPr/>
        <a:lstStyle/>
        <a:p>
          <a:endParaRPr lang="en-US"/>
        </a:p>
      </dgm:t>
    </dgm:pt>
    <dgm:pt modelId="{6493D2E9-3FBB-4558-A05F-2F69E7A6B6A5}" type="sibTrans" cxnId="{CB7B05ED-6B1F-4E7D-92FA-E9C6CF3FEE83}">
      <dgm:prSet/>
      <dgm:spPr/>
      <dgm:t>
        <a:bodyPr/>
        <a:lstStyle/>
        <a:p>
          <a:endParaRPr lang="en-US"/>
        </a:p>
      </dgm:t>
    </dgm:pt>
    <dgm:pt modelId="{9EC75336-E2FF-4007-B2B6-C302969F3331}">
      <dgm:prSet/>
      <dgm:spPr/>
      <dgm:t>
        <a:bodyPr/>
        <a:lstStyle/>
        <a:p>
          <a:r>
            <a:rPr lang="en-US" dirty="0">
              <a:solidFill>
                <a:schemeClr val="bg1"/>
              </a:solidFill>
            </a:rPr>
            <a:t>While the Bucks outperformed the Thunder from three, only two of their attempts were uncontested — indicating a need to improve spacing and generate more open looks. </a:t>
          </a:r>
          <a:r>
            <a:rPr lang="en-US" dirty="0">
              <a:solidFill>
                <a:schemeClr val="bg1"/>
              </a:solidFill>
              <a:hlinkClick xmlns:r="http://schemas.openxmlformats.org/officeDocument/2006/relationships" r:id="rId4" action="ppaction://hlinksldjump"/>
            </a:rPr>
            <a:t>(A8: Shot Contest Model) </a:t>
          </a:r>
          <a:endParaRPr lang="en-US" dirty="0">
            <a:solidFill>
              <a:schemeClr val="bg1"/>
            </a:solidFill>
          </a:endParaRPr>
        </a:p>
      </dgm:t>
    </dgm:pt>
    <dgm:pt modelId="{94AFA893-A58F-480E-9430-6DDC86094E66}" type="parTrans" cxnId="{76CBB58E-972A-4359-AC8E-1545E8EBFAE9}">
      <dgm:prSet/>
      <dgm:spPr/>
      <dgm:t>
        <a:bodyPr/>
        <a:lstStyle/>
        <a:p>
          <a:endParaRPr lang="en-US"/>
        </a:p>
      </dgm:t>
    </dgm:pt>
    <dgm:pt modelId="{0A3C4CDC-EFFE-400A-B75D-2D8B002D73A9}" type="sibTrans" cxnId="{76CBB58E-972A-4359-AC8E-1545E8EBFAE9}">
      <dgm:prSet/>
      <dgm:spPr/>
      <dgm:t>
        <a:bodyPr/>
        <a:lstStyle/>
        <a:p>
          <a:endParaRPr lang="en-US"/>
        </a:p>
      </dgm:t>
    </dgm:pt>
    <dgm:pt modelId="{8EE8C2E9-6273-42C2-A023-FD95222A28DA}" type="pres">
      <dgm:prSet presAssocID="{3A7F481D-176A-4596-A9A1-0E134679D964}" presName="root" presStyleCnt="0">
        <dgm:presLayoutVars>
          <dgm:dir/>
          <dgm:resizeHandles val="exact"/>
        </dgm:presLayoutVars>
      </dgm:prSet>
      <dgm:spPr/>
    </dgm:pt>
    <dgm:pt modelId="{D90549C2-1CCB-44F4-9099-1D5FEE82CEBC}" type="pres">
      <dgm:prSet presAssocID="{0B1F3741-B70C-46F8-AC1B-C0DC40AE6379}" presName="compNode" presStyleCnt="0"/>
      <dgm:spPr/>
    </dgm:pt>
    <dgm:pt modelId="{925E516E-BAE4-4188-8F97-A122EB5E9AA9}" type="pres">
      <dgm:prSet presAssocID="{0B1F3741-B70C-46F8-AC1B-C0DC40AE6379}" presName="bgRect" presStyleLbl="bgShp" presStyleIdx="0" presStyleCnt="4"/>
      <dgm:spPr/>
    </dgm:pt>
    <dgm:pt modelId="{9E6212FF-36B7-40EF-A8B9-685C3A9A82C2}" type="pres">
      <dgm:prSet presAssocID="{0B1F3741-B70C-46F8-AC1B-C0DC40AE6379}" presName="iconRect" presStyleLbl="node1" presStyleIdx="0" presStyleCnt="4"/>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Bar graph with upward trend with solid fill"/>
        </a:ext>
      </dgm:extLst>
    </dgm:pt>
    <dgm:pt modelId="{7F0AE9D6-A5A2-4C42-89EC-A50006653687}" type="pres">
      <dgm:prSet presAssocID="{0B1F3741-B70C-46F8-AC1B-C0DC40AE6379}" presName="spaceRect" presStyleCnt="0"/>
      <dgm:spPr/>
    </dgm:pt>
    <dgm:pt modelId="{32F25CAA-8417-4DB3-9E63-215D72E09C12}" type="pres">
      <dgm:prSet presAssocID="{0B1F3741-B70C-46F8-AC1B-C0DC40AE6379}" presName="parTx" presStyleLbl="revTx" presStyleIdx="0" presStyleCnt="4">
        <dgm:presLayoutVars>
          <dgm:chMax val="0"/>
          <dgm:chPref val="0"/>
        </dgm:presLayoutVars>
      </dgm:prSet>
      <dgm:spPr/>
    </dgm:pt>
    <dgm:pt modelId="{E84F0A0D-6249-49AA-9E2F-8FD3000983A4}" type="pres">
      <dgm:prSet presAssocID="{3B17EC9F-679A-44CA-8366-A71B10245B61}" presName="sibTrans" presStyleCnt="0"/>
      <dgm:spPr/>
    </dgm:pt>
    <dgm:pt modelId="{2C50514A-8A7E-425A-B84E-37CCBA4DD0B9}" type="pres">
      <dgm:prSet presAssocID="{C345989A-1DF3-4A3C-865B-A2E48A2C68F9}" presName="compNode" presStyleCnt="0"/>
      <dgm:spPr/>
    </dgm:pt>
    <dgm:pt modelId="{FC069E30-B11E-47C6-B273-015C98CE4440}" type="pres">
      <dgm:prSet presAssocID="{C345989A-1DF3-4A3C-865B-A2E48A2C68F9}" presName="bgRect" presStyleLbl="bgShp" presStyleIdx="1" presStyleCnt="4"/>
      <dgm:spPr/>
    </dgm:pt>
    <dgm:pt modelId="{548A8AD9-E7C4-4286-B7F0-2BB6C0D23D37}" type="pres">
      <dgm:prSet presAssocID="{C345989A-1DF3-4A3C-865B-A2E48A2C68F9}" presName="iconRect" presStyleLbl="node1" presStyleIdx="1" presStyleCnt="4"/>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a:noFill/>
        </a:ln>
      </dgm:spPr>
      <dgm:extLst>
        <a:ext uri="{E40237B7-FDA0-4F09-8148-C483321AD2D9}">
          <dgm14:cNvPr xmlns:dgm14="http://schemas.microsoft.com/office/drawing/2010/diagram" id="0" name="" descr="Medieval Armor with solid fill"/>
        </a:ext>
      </dgm:extLst>
    </dgm:pt>
    <dgm:pt modelId="{3FB1113F-1087-4572-B742-E469D1A151C1}" type="pres">
      <dgm:prSet presAssocID="{C345989A-1DF3-4A3C-865B-A2E48A2C68F9}" presName="spaceRect" presStyleCnt="0"/>
      <dgm:spPr/>
    </dgm:pt>
    <dgm:pt modelId="{9873894D-20DB-4892-A09E-9D4B699D788B}" type="pres">
      <dgm:prSet presAssocID="{C345989A-1DF3-4A3C-865B-A2E48A2C68F9}" presName="parTx" presStyleLbl="revTx" presStyleIdx="1" presStyleCnt="4">
        <dgm:presLayoutVars>
          <dgm:chMax val="0"/>
          <dgm:chPref val="0"/>
        </dgm:presLayoutVars>
      </dgm:prSet>
      <dgm:spPr/>
    </dgm:pt>
    <dgm:pt modelId="{F18B0C82-90C9-44ED-A9E0-FB337E5131FA}" type="pres">
      <dgm:prSet presAssocID="{1CDAB798-CD5B-4B8A-B13E-DD7C4A45684E}" presName="sibTrans" presStyleCnt="0"/>
      <dgm:spPr/>
    </dgm:pt>
    <dgm:pt modelId="{2A55902B-42B9-4D6E-839A-E77BE10CEA7C}" type="pres">
      <dgm:prSet presAssocID="{F38E1C66-43B6-4EE0-A0E7-9BD31339C04D}" presName="compNode" presStyleCnt="0"/>
      <dgm:spPr/>
    </dgm:pt>
    <dgm:pt modelId="{324C49C8-4795-4AA3-AECB-B52E41808C5D}" type="pres">
      <dgm:prSet presAssocID="{F38E1C66-43B6-4EE0-A0E7-9BD31339C04D}" presName="bgRect" presStyleLbl="bgShp" presStyleIdx="2" presStyleCnt="4"/>
      <dgm:spPr/>
    </dgm:pt>
    <dgm:pt modelId="{F5B0A5D6-1514-44D0-A80D-054DA820992A}" type="pres">
      <dgm:prSet presAssocID="{F38E1C66-43B6-4EE0-A0E7-9BD31339C04D}" presName="iconRect" presStyleLbl="node1" presStyleIdx="2" presStyleCnt="4"/>
      <dgm:spPr>
        <a:blipFill>
          <a:blip xmlns:r="http://schemas.openxmlformats.org/officeDocument/2006/relationships" r:embed="rId9">
            <a:extLst>
              <a:ext uri="{96DAC541-7B7A-43D3-8B79-37D633B846F1}">
                <asvg:svgBlip xmlns:asvg="http://schemas.microsoft.com/office/drawing/2016/SVG/main" r:embed="rId10"/>
              </a:ext>
            </a:extLst>
          </a:blip>
          <a:srcRect/>
          <a:stretch>
            <a:fillRect/>
          </a:stretch>
        </a:blipFill>
        <a:ln>
          <a:noFill/>
        </a:ln>
      </dgm:spPr>
      <dgm:extLst>
        <a:ext uri="{E40237B7-FDA0-4F09-8148-C483321AD2D9}">
          <dgm14:cNvPr xmlns:dgm14="http://schemas.microsoft.com/office/drawing/2010/diagram" id="0" name="" descr="Horseshoe with solid fill"/>
        </a:ext>
      </dgm:extLst>
    </dgm:pt>
    <dgm:pt modelId="{45970803-8531-40E4-AB61-D5B0B4324127}" type="pres">
      <dgm:prSet presAssocID="{F38E1C66-43B6-4EE0-A0E7-9BD31339C04D}" presName="spaceRect" presStyleCnt="0"/>
      <dgm:spPr/>
    </dgm:pt>
    <dgm:pt modelId="{1E43E3EC-B04D-4B84-A6F8-6DD9B7AD9B06}" type="pres">
      <dgm:prSet presAssocID="{F38E1C66-43B6-4EE0-A0E7-9BD31339C04D}" presName="parTx" presStyleLbl="revTx" presStyleIdx="2" presStyleCnt="4">
        <dgm:presLayoutVars>
          <dgm:chMax val="0"/>
          <dgm:chPref val="0"/>
        </dgm:presLayoutVars>
      </dgm:prSet>
      <dgm:spPr/>
    </dgm:pt>
    <dgm:pt modelId="{C87C6B1D-D12A-4793-BE87-903D434D9589}" type="pres">
      <dgm:prSet presAssocID="{6493D2E9-3FBB-4558-A05F-2F69E7A6B6A5}" presName="sibTrans" presStyleCnt="0"/>
      <dgm:spPr/>
    </dgm:pt>
    <dgm:pt modelId="{D9BE1004-E6DE-4E91-B543-0E708134CECB}" type="pres">
      <dgm:prSet presAssocID="{9EC75336-E2FF-4007-B2B6-C302969F3331}" presName="compNode" presStyleCnt="0"/>
      <dgm:spPr/>
    </dgm:pt>
    <dgm:pt modelId="{97787804-8530-4E3D-8CD6-1B55518F36A2}" type="pres">
      <dgm:prSet presAssocID="{9EC75336-E2FF-4007-B2B6-C302969F3331}" presName="bgRect" presStyleLbl="bgShp" presStyleIdx="3" presStyleCnt="4"/>
      <dgm:spPr/>
    </dgm:pt>
    <dgm:pt modelId="{927FC7B9-09F2-4CDD-873B-B57101FD3B8F}" type="pres">
      <dgm:prSet presAssocID="{9EC75336-E2FF-4007-B2B6-C302969F3331}" presName="iconRect" presStyleLbl="node1" presStyleIdx="3" presStyleCnt="4"/>
      <dgm:spPr>
        <a:blipFill>
          <a:blip xmlns:r="http://schemas.openxmlformats.org/officeDocument/2006/relationships" r:embed="rId11">
            <a:extLst>
              <a:ext uri="{96DAC541-7B7A-43D3-8B79-37D633B846F1}">
                <asvg:svgBlip xmlns:asvg="http://schemas.microsoft.com/office/drawing/2016/SVG/main" r:embed="rId12"/>
              </a:ext>
            </a:extLst>
          </a:blip>
          <a:srcRect/>
          <a:stretch>
            <a:fillRect/>
          </a:stretch>
        </a:blipFill>
        <a:ln>
          <a:noFill/>
        </a:ln>
      </dgm:spPr>
      <dgm:extLst>
        <a:ext uri="{E40237B7-FDA0-4F09-8148-C483321AD2D9}">
          <dgm14:cNvPr xmlns:dgm14="http://schemas.microsoft.com/office/drawing/2010/diagram" id="0" name="" descr="Basketball Hoop with solid fill"/>
        </a:ext>
      </dgm:extLst>
    </dgm:pt>
    <dgm:pt modelId="{CFD4A20B-501F-4C88-B61C-9AEB79045B2C}" type="pres">
      <dgm:prSet presAssocID="{9EC75336-E2FF-4007-B2B6-C302969F3331}" presName="spaceRect" presStyleCnt="0"/>
      <dgm:spPr/>
    </dgm:pt>
    <dgm:pt modelId="{6F7C5B77-F14C-434C-9D2C-01AFF68E16A5}" type="pres">
      <dgm:prSet presAssocID="{9EC75336-E2FF-4007-B2B6-C302969F3331}" presName="parTx" presStyleLbl="revTx" presStyleIdx="3" presStyleCnt="4">
        <dgm:presLayoutVars>
          <dgm:chMax val="0"/>
          <dgm:chPref val="0"/>
        </dgm:presLayoutVars>
      </dgm:prSet>
      <dgm:spPr/>
    </dgm:pt>
  </dgm:ptLst>
  <dgm:cxnLst>
    <dgm:cxn modelId="{DEAE9B63-7177-414A-8219-841C9BC8C642}" type="presOf" srcId="{F38E1C66-43B6-4EE0-A0E7-9BD31339C04D}" destId="{1E43E3EC-B04D-4B84-A6F8-6DD9B7AD9B06}" srcOrd="0" destOrd="0" presId="urn:microsoft.com/office/officeart/2018/2/layout/IconVerticalSolidList"/>
    <dgm:cxn modelId="{DC7D267C-3E4A-4BA6-97A4-4A7C1DACDA29}" type="presOf" srcId="{0B1F3741-B70C-46F8-AC1B-C0DC40AE6379}" destId="{32F25CAA-8417-4DB3-9E63-215D72E09C12}" srcOrd="0" destOrd="0" presId="urn:microsoft.com/office/officeart/2018/2/layout/IconVerticalSolidList"/>
    <dgm:cxn modelId="{8C605D85-1852-4FCE-8BFB-212173B9CAAF}" type="presOf" srcId="{9EC75336-E2FF-4007-B2B6-C302969F3331}" destId="{6F7C5B77-F14C-434C-9D2C-01AFF68E16A5}" srcOrd="0" destOrd="0" presId="urn:microsoft.com/office/officeart/2018/2/layout/IconVerticalSolidList"/>
    <dgm:cxn modelId="{76CBB58E-972A-4359-AC8E-1545E8EBFAE9}" srcId="{3A7F481D-176A-4596-A9A1-0E134679D964}" destId="{9EC75336-E2FF-4007-B2B6-C302969F3331}" srcOrd="3" destOrd="0" parTransId="{94AFA893-A58F-480E-9430-6DDC86094E66}" sibTransId="{0A3C4CDC-EFFE-400A-B75D-2D8B002D73A9}"/>
    <dgm:cxn modelId="{DEEFDBAB-65B9-4833-AACD-582D9BCF6F87}" srcId="{3A7F481D-176A-4596-A9A1-0E134679D964}" destId="{C345989A-1DF3-4A3C-865B-A2E48A2C68F9}" srcOrd="1" destOrd="0" parTransId="{427EC39B-D149-49DB-9C09-966019650C3D}" sibTransId="{1CDAB798-CD5B-4B8A-B13E-DD7C4A45684E}"/>
    <dgm:cxn modelId="{1CABABDD-66E3-458D-871B-49A31FD943F2}" srcId="{3A7F481D-176A-4596-A9A1-0E134679D964}" destId="{0B1F3741-B70C-46F8-AC1B-C0DC40AE6379}" srcOrd="0" destOrd="0" parTransId="{F1DC0D07-5729-4BD7-8A81-D3423EEE84D6}" sibTransId="{3B17EC9F-679A-44CA-8366-A71B10245B61}"/>
    <dgm:cxn modelId="{915EFEE1-8DCB-41CA-BDE7-721A79FD1171}" type="presOf" srcId="{C345989A-1DF3-4A3C-865B-A2E48A2C68F9}" destId="{9873894D-20DB-4892-A09E-9D4B699D788B}" srcOrd="0" destOrd="0" presId="urn:microsoft.com/office/officeart/2018/2/layout/IconVerticalSolidList"/>
    <dgm:cxn modelId="{ECFD8CE3-878B-4B1B-95F9-651DA08AD0DD}" type="presOf" srcId="{3A7F481D-176A-4596-A9A1-0E134679D964}" destId="{8EE8C2E9-6273-42C2-A023-FD95222A28DA}" srcOrd="0" destOrd="0" presId="urn:microsoft.com/office/officeart/2018/2/layout/IconVerticalSolidList"/>
    <dgm:cxn modelId="{CB7B05ED-6B1F-4E7D-92FA-E9C6CF3FEE83}" srcId="{3A7F481D-176A-4596-A9A1-0E134679D964}" destId="{F38E1C66-43B6-4EE0-A0E7-9BD31339C04D}" srcOrd="2" destOrd="0" parTransId="{55D9FD42-B8E0-4EE6-8830-B01AC35C4986}" sibTransId="{6493D2E9-3FBB-4558-A05F-2F69E7A6B6A5}"/>
    <dgm:cxn modelId="{F670F292-EDAB-475C-AB01-DAEE94BB92C8}" type="presParOf" srcId="{8EE8C2E9-6273-42C2-A023-FD95222A28DA}" destId="{D90549C2-1CCB-44F4-9099-1D5FEE82CEBC}" srcOrd="0" destOrd="0" presId="urn:microsoft.com/office/officeart/2018/2/layout/IconVerticalSolidList"/>
    <dgm:cxn modelId="{C9E3483E-C36D-4E7C-8EDF-F95C7A1B121E}" type="presParOf" srcId="{D90549C2-1CCB-44F4-9099-1D5FEE82CEBC}" destId="{925E516E-BAE4-4188-8F97-A122EB5E9AA9}" srcOrd="0" destOrd="0" presId="urn:microsoft.com/office/officeart/2018/2/layout/IconVerticalSolidList"/>
    <dgm:cxn modelId="{CFE5F698-9ED5-483A-A256-30706580435A}" type="presParOf" srcId="{D90549C2-1CCB-44F4-9099-1D5FEE82CEBC}" destId="{9E6212FF-36B7-40EF-A8B9-685C3A9A82C2}" srcOrd="1" destOrd="0" presId="urn:microsoft.com/office/officeart/2018/2/layout/IconVerticalSolidList"/>
    <dgm:cxn modelId="{AF47FBDB-813B-42ED-8496-5F80DEC533FF}" type="presParOf" srcId="{D90549C2-1CCB-44F4-9099-1D5FEE82CEBC}" destId="{7F0AE9D6-A5A2-4C42-89EC-A50006653687}" srcOrd="2" destOrd="0" presId="urn:microsoft.com/office/officeart/2018/2/layout/IconVerticalSolidList"/>
    <dgm:cxn modelId="{22C48A23-D23E-4F32-B71F-A0F0A0ADB742}" type="presParOf" srcId="{D90549C2-1CCB-44F4-9099-1D5FEE82CEBC}" destId="{32F25CAA-8417-4DB3-9E63-215D72E09C12}" srcOrd="3" destOrd="0" presId="urn:microsoft.com/office/officeart/2018/2/layout/IconVerticalSolidList"/>
    <dgm:cxn modelId="{2D32EC86-41D7-4E4E-9766-F70C3EE0DB79}" type="presParOf" srcId="{8EE8C2E9-6273-42C2-A023-FD95222A28DA}" destId="{E84F0A0D-6249-49AA-9E2F-8FD3000983A4}" srcOrd="1" destOrd="0" presId="urn:microsoft.com/office/officeart/2018/2/layout/IconVerticalSolidList"/>
    <dgm:cxn modelId="{ADE89EF4-CE45-44B6-A134-EB88E97262D5}" type="presParOf" srcId="{8EE8C2E9-6273-42C2-A023-FD95222A28DA}" destId="{2C50514A-8A7E-425A-B84E-37CCBA4DD0B9}" srcOrd="2" destOrd="0" presId="urn:microsoft.com/office/officeart/2018/2/layout/IconVerticalSolidList"/>
    <dgm:cxn modelId="{AFCE4296-8AEB-4B74-84FA-7465A5FA9533}" type="presParOf" srcId="{2C50514A-8A7E-425A-B84E-37CCBA4DD0B9}" destId="{FC069E30-B11E-47C6-B273-015C98CE4440}" srcOrd="0" destOrd="0" presId="urn:microsoft.com/office/officeart/2018/2/layout/IconVerticalSolidList"/>
    <dgm:cxn modelId="{B74B43A6-AAEE-4AB5-BB72-B0DB18F18CB2}" type="presParOf" srcId="{2C50514A-8A7E-425A-B84E-37CCBA4DD0B9}" destId="{548A8AD9-E7C4-4286-B7F0-2BB6C0D23D37}" srcOrd="1" destOrd="0" presId="urn:microsoft.com/office/officeart/2018/2/layout/IconVerticalSolidList"/>
    <dgm:cxn modelId="{9096A3CA-7008-4D99-8EAB-CF05D798310F}" type="presParOf" srcId="{2C50514A-8A7E-425A-B84E-37CCBA4DD0B9}" destId="{3FB1113F-1087-4572-B742-E469D1A151C1}" srcOrd="2" destOrd="0" presId="urn:microsoft.com/office/officeart/2018/2/layout/IconVerticalSolidList"/>
    <dgm:cxn modelId="{68CD08E3-379E-404A-9781-63882C660751}" type="presParOf" srcId="{2C50514A-8A7E-425A-B84E-37CCBA4DD0B9}" destId="{9873894D-20DB-4892-A09E-9D4B699D788B}" srcOrd="3" destOrd="0" presId="urn:microsoft.com/office/officeart/2018/2/layout/IconVerticalSolidList"/>
    <dgm:cxn modelId="{52E975FA-79A8-44EC-9B54-89DD7F105A12}" type="presParOf" srcId="{8EE8C2E9-6273-42C2-A023-FD95222A28DA}" destId="{F18B0C82-90C9-44ED-A9E0-FB337E5131FA}" srcOrd="3" destOrd="0" presId="urn:microsoft.com/office/officeart/2018/2/layout/IconVerticalSolidList"/>
    <dgm:cxn modelId="{1C497D06-2DA3-4768-A284-A40E3ABE615F}" type="presParOf" srcId="{8EE8C2E9-6273-42C2-A023-FD95222A28DA}" destId="{2A55902B-42B9-4D6E-839A-E77BE10CEA7C}" srcOrd="4" destOrd="0" presId="urn:microsoft.com/office/officeart/2018/2/layout/IconVerticalSolidList"/>
    <dgm:cxn modelId="{E6BCA4B2-620E-4D06-B3B3-CA1FF6CAD5DF}" type="presParOf" srcId="{2A55902B-42B9-4D6E-839A-E77BE10CEA7C}" destId="{324C49C8-4795-4AA3-AECB-B52E41808C5D}" srcOrd="0" destOrd="0" presId="urn:microsoft.com/office/officeart/2018/2/layout/IconVerticalSolidList"/>
    <dgm:cxn modelId="{065ED5B3-0390-4A6B-B368-932F0F0E23D8}" type="presParOf" srcId="{2A55902B-42B9-4D6E-839A-E77BE10CEA7C}" destId="{F5B0A5D6-1514-44D0-A80D-054DA820992A}" srcOrd="1" destOrd="0" presId="urn:microsoft.com/office/officeart/2018/2/layout/IconVerticalSolidList"/>
    <dgm:cxn modelId="{C4DBBACF-B5E9-4DA9-B64C-04681AC67FAD}" type="presParOf" srcId="{2A55902B-42B9-4D6E-839A-E77BE10CEA7C}" destId="{45970803-8531-40E4-AB61-D5B0B4324127}" srcOrd="2" destOrd="0" presId="urn:microsoft.com/office/officeart/2018/2/layout/IconVerticalSolidList"/>
    <dgm:cxn modelId="{D67D0B7B-5DBB-4448-B329-6E80E569A922}" type="presParOf" srcId="{2A55902B-42B9-4D6E-839A-E77BE10CEA7C}" destId="{1E43E3EC-B04D-4B84-A6F8-6DD9B7AD9B06}" srcOrd="3" destOrd="0" presId="urn:microsoft.com/office/officeart/2018/2/layout/IconVerticalSolidList"/>
    <dgm:cxn modelId="{6537F05D-C561-41ED-948A-14C68B892FBC}" type="presParOf" srcId="{8EE8C2E9-6273-42C2-A023-FD95222A28DA}" destId="{C87C6B1D-D12A-4793-BE87-903D434D9589}" srcOrd="5" destOrd="0" presId="urn:microsoft.com/office/officeart/2018/2/layout/IconVerticalSolidList"/>
    <dgm:cxn modelId="{BF68F049-31C0-4FFB-900A-6878B164C8C4}" type="presParOf" srcId="{8EE8C2E9-6273-42C2-A023-FD95222A28DA}" destId="{D9BE1004-E6DE-4E91-B543-0E708134CECB}" srcOrd="6" destOrd="0" presId="urn:microsoft.com/office/officeart/2018/2/layout/IconVerticalSolidList"/>
    <dgm:cxn modelId="{EE70B563-C801-4E66-A0F5-17B3474761F1}" type="presParOf" srcId="{D9BE1004-E6DE-4E91-B543-0E708134CECB}" destId="{97787804-8530-4E3D-8CD6-1B55518F36A2}" srcOrd="0" destOrd="0" presId="urn:microsoft.com/office/officeart/2018/2/layout/IconVerticalSolidList"/>
    <dgm:cxn modelId="{D87AD994-85DE-4F07-9497-ADA9C8386015}" type="presParOf" srcId="{D9BE1004-E6DE-4E91-B543-0E708134CECB}" destId="{927FC7B9-09F2-4CDD-873B-B57101FD3B8F}" srcOrd="1" destOrd="0" presId="urn:microsoft.com/office/officeart/2018/2/layout/IconVerticalSolidList"/>
    <dgm:cxn modelId="{59A7C7F6-E2E5-4ED7-98B3-B68BDB61B7EC}" type="presParOf" srcId="{D9BE1004-E6DE-4E91-B543-0E708134CECB}" destId="{CFD4A20B-501F-4C88-B61C-9AEB79045B2C}" srcOrd="2" destOrd="0" presId="urn:microsoft.com/office/officeart/2018/2/layout/IconVerticalSolidList"/>
    <dgm:cxn modelId="{A88B811C-FB81-4DAA-AF72-7636763AF56D}" type="presParOf" srcId="{D9BE1004-E6DE-4E91-B543-0E708134CECB}" destId="{6F7C5B77-F14C-434C-9D2C-01AFF68E16A5}"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14503E9A-5DCF-46F7-B756-135C4DDFED2F}" type="doc">
      <dgm:prSet loTypeId="urn:microsoft.com/office/officeart/2005/8/layout/vProcess5" loCatId="process" qsTypeId="urn:microsoft.com/office/officeart/2005/8/quickstyle/simple2" qsCatId="simple" csTypeId="urn:microsoft.com/office/officeart/2005/8/colors/accent1_2" csCatId="accent1" phldr="1"/>
      <dgm:spPr/>
      <dgm:t>
        <a:bodyPr/>
        <a:lstStyle/>
        <a:p>
          <a:endParaRPr lang="en-US"/>
        </a:p>
      </dgm:t>
    </dgm:pt>
    <dgm:pt modelId="{38374B46-EC13-4EA6-A2CE-7D6A6ED217A7}">
      <dgm:prSet/>
      <dgm:spPr/>
      <dgm:t>
        <a:bodyPr/>
        <a:lstStyle/>
        <a:p>
          <a:r>
            <a:rPr lang="en-US" dirty="0"/>
            <a:t>Key Drivers: Shot area, shooter speed, and clock pressure were top predictors — confirming Milwaukee’s edge in efficient zones and quick execution.</a:t>
          </a:r>
        </a:p>
      </dgm:t>
    </dgm:pt>
    <dgm:pt modelId="{3D0D1A5E-C1D2-4BBD-8AE5-FC3CF20EEC44}" type="parTrans" cxnId="{AC85578F-3FB5-4EC0-AAA3-EC0E5C55BBD3}">
      <dgm:prSet/>
      <dgm:spPr/>
      <dgm:t>
        <a:bodyPr/>
        <a:lstStyle/>
        <a:p>
          <a:endParaRPr lang="en-US"/>
        </a:p>
      </dgm:t>
    </dgm:pt>
    <dgm:pt modelId="{99CC072A-27A5-4FFE-902D-CA94290B2AAB}" type="sibTrans" cxnId="{AC85578F-3FB5-4EC0-AAA3-EC0E5C55BBD3}">
      <dgm:prSet/>
      <dgm:spPr/>
      <dgm:t>
        <a:bodyPr/>
        <a:lstStyle/>
        <a:p>
          <a:endParaRPr lang="en-US"/>
        </a:p>
      </dgm:t>
    </dgm:pt>
    <dgm:pt modelId="{D562479F-9488-4D29-810D-808880395D77}">
      <dgm:prSet/>
      <dgm:spPr/>
      <dgm:t>
        <a:bodyPr/>
        <a:lstStyle/>
        <a:p>
          <a:r>
            <a:rPr lang="en-US" dirty="0"/>
            <a:t>Game Alignment: Model features reflect game trends: Bucks created quality looks, moved well, and converted under pressure.</a:t>
          </a:r>
        </a:p>
      </dgm:t>
    </dgm:pt>
    <dgm:pt modelId="{7E06C3F2-7C81-403E-B62C-329A11666594}" type="parTrans" cxnId="{1D891E5E-7C3B-40BD-9651-2D5C832A0D0D}">
      <dgm:prSet/>
      <dgm:spPr/>
      <dgm:t>
        <a:bodyPr/>
        <a:lstStyle/>
        <a:p>
          <a:endParaRPr lang="en-US"/>
        </a:p>
      </dgm:t>
    </dgm:pt>
    <dgm:pt modelId="{5F8F9DE3-EBE4-471A-BD20-B4557F9536A5}" type="sibTrans" cxnId="{1D891E5E-7C3B-40BD-9651-2D5C832A0D0D}">
      <dgm:prSet/>
      <dgm:spPr/>
      <dgm:t>
        <a:bodyPr/>
        <a:lstStyle/>
        <a:p>
          <a:endParaRPr lang="en-US"/>
        </a:p>
      </dgm:t>
    </dgm:pt>
    <dgm:pt modelId="{94200F63-AEB7-49B8-95CB-AE99EE49D57E}">
      <dgm:prSet/>
      <dgm:spPr/>
      <dgm:t>
        <a:bodyPr/>
        <a:lstStyle/>
        <a:p>
          <a:r>
            <a:rPr lang="en-US" dirty="0"/>
            <a:t>Model Limitations: The model struggled to predict which shots would go in — showing that things like confidence, momentum, and timing still play a big role.</a:t>
          </a:r>
        </a:p>
      </dgm:t>
    </dgm:pt>
    <dgm:pt modelId="{49232242-8E6D-40E4-883F-A2F4CF02204D}" type="parTrans" cxnId="{C2F43DDF-3172-43AC-BAA3-384CBDD575DB}">
      <dgm:prSet/>
      <dgm:spPr/>
      <dgm:t>
        <a:bodyPr/>
        <a:lstStyle/>
        <a:p>
          <a:endParaRPr lang="en-US"/>
        </a:p>
      </dgm:t>
    </dgm:pt>
    <dgm:pt modelId="{119B2D60-6F37-4B33-9F2D-918E0D9FE403}" type="sibTrans" cxnId="{C2F43DDF-3172-43AC-BAA3-384CBDD575DB}">
      <dgm:prSet/>
      <dgm:spPr/>
      <dgm:t>
        <a:bodyPr/>
        <a:lstStyle/>
        <a:p>
          <a:endParaRPr lang="en-US"/>
        </a:p>
      </dgm:t>
    </dgm:pt>
    <dgm:pt modelId="{0EF57BE1-C359-4D25-B625-DE2A3B71FDB4}" type="pres">
      <dgm:prSet presAssocID="{14503E9A-5DCF-46F7-B756-135C4DDFED2F}" presName="outerComposite" presStyleCnt="0">
        <dgm:presLayoutVars>
          <dgm:chMax val="5"/>
          <dgm:dir/>
          <dgm:resizeHandles val="exact"/>
        </dgm:presLayoutVars>
      </dgm:prSet>
      <dgm:spPr/>
    </dgm:pt>
    <dgm:pt modelId="{AC477E5A-C212-4739-8914-0377BDE7F58C}" type="pres">
      <dgm:prSet presAssocID="{14503E9A-5DCF-46F7-B756-135C4DDFED2F}" presName="dummyMaxCanvas" presStyleCnt="0">
        <dgm:presLayoutVars/>
      </dgm:prSet>
      <dgm:spPr/>
    </dgm:pt>
    <dgm:pt modelId="{DA47A530-8E15-44AB-9355-C3A5696A1F8B}" type="pres">
      <dgm:prSet presAssocID="{14503E9A-5DCF-46F7-B756-135C4DDFED2F}" presName="ThreeNodes_1" presStyleLbl="node1" presStyleIdx="0" presStyleCnt="3">
        <dgm:presLayoutVars>
          <dgm:bulletEnabled val="1"/>
        </dgm:presLayoutVars>
      </dgm:prSet>
      <dgm:spPr/>
    </dgm:pt>
    <dgm:pt modelId="{9AF5C242-BC56-432B-8970-76CC2258E2BE}" type="pres">
      <dgm:prSet presAssocID="{14503E9A-5DCF-46F7-B756-135C4DDFED2F}" presName="ThreeNodes_2" presStyleLbl="node1" presStyleIdx="1" presStyleCnt="3">
        <dgm:presLayoutVars>
          <dgm:bulletEnabled val="1"/>
        </dgm:presLayoutVars>
      </dgm:prSet>
      <dgm:spPr/>
    </dgm:pt>
    <dgm:pt modelId="{A981E647-EABA-4413-9033-0B75A85B0A1F}" type="pres">
      <dgm:prSet presAssocID="{14503E9A-5DCF-46F7-B756-135C4DDFED2F}" presName="ThreeNodes_3" presStyleLbl="node1" presStyleIdx="2" presStyleCnt="3">
        <dgm:presLayoutVars>
          <dgm:bulletEnabled val="1"/>
        </dgm:presLayoutVars>
      </dgm:prSet>
      <dgm:spPr/>
    </dgm:pt>
    <dgm:pt modelId="{DBE61127-48F5-4CC0-9EED-8C90F60152E0}" type="pres">
      <dgm:prSet presAssocID="{14503E9A-5DCF-46F7-B756-135C4DDFED2F}" presName="ThreeConn_1-2" presStyleLbl="fgAccFollowNode1" presStyleIdx="0" presStyleCnt="2">
        <dgm:presLayoutVars>
          <dgm:bulletEnabled val="1"/>
        </dgm:presLayoutVars>
      </dgm:prSet>
      <dgm:spPr/>
    </dgm:pt>
    <dgm:pt modelId="{96D7AC4A-19D2-4FC5-B3D8-FC8CE9CFFA1E}" type="pres">
      <dgm:prSet presAssocID="{14503E9A-5DCF-46F7-B756-135C4DDFED2F}" presName="ThreeConn_2-3" presStyleLbl="fgAccFollowNode1" presStyleIdx="1" presStyleCnt="2">
        <dgm:presLayoutVars>
          <dgm:bulletEnabled val="1"/>
        </dgm:presLayoutVars>
      </dgm:prSet>
      <dgm:spPr/>
    </dgm:pt>
    <dgm:pt modelId="{96BC343E-1138-4145-A031-3DE604B95B76}" type="pres">
      <dgm:prSet presAssocID="{14503E9A-5DCF-46F7-B756-135C4DDFED2F}" presName="ThreeNodes_1_text" presStyleLbl="node1" presStyleIdx="2" presStyleCnt="3">
        <dgm:presLayoutVars>
          <dgm:bulletEnabled val="1"/>
        </dgm:presLayoutVars>
      </dgm:prSet>
      <dgm:spPr/>
    </dgm:pt>
    <dgm:pt modelId="{D127ED21-3F67-4044-8530-969CDDDF628A}" type="pres">
      <dgm:prSet presAssocID="{14503E9A-5DCF-46F7-B756-135C4DDFED2F}" presName="ThreeNodes_2_text" presStyleLbl="node1" presStyleIdx="2" presStyleCnt="3">
        <dgm:presLayoutVars>
          <dgm:bulletEnabled val="1"/>
        </dgm:presLayoutVars>
      </dgm:prSet>
      <dgm:spPr/>
    </dgm:pt>
    <dgm:pt modelId="{B983BAF8-7261-43BC-B2EA-F47BE930C0DF}" type="pres">
      <dgm:prSet presAssocID="{14503E9A-5DCF-46F7-B756-135C4DDFED2F}" presName="ThreeNodes_3_text" presStyleLbl="node1" presStyleIdx="2" presStyleCnt="3">
        <dgm:presLayoutVars>
          <dgm:bulletEnabled val="1"/>
        </dgm:presLayoutVars>
      </dgm:prSet>
      <dgm:spPr/>
    </dgm:pt>
  </dgm:ptLst>
  <dgm:cxnLst>
    <dgm:cxn modelId="{BD79DF19-3CD3-4322-A32C-E810EB955BD0}" type="presOf" srcId="{D562479F-9488-4D29-810D-808880395D77}" destId="{D127ED21-3F67-4044-8530-969CDDDF628A}" srcOrd="1" destOrd="0" presId="urn:microsoft.com/office/officeart/2005/8/layout/vProcess5"/>
    <dgm:cxn modelId="{1D891E5E-7C3B-40BD-9651-2D5C832A0D0D}" srcId="{14503E9A-5DCF-46F7-B756-135C4DDFED2F}" destId="{D562479F-9488-4D29-810D-808880395D77}" srcOrd="1" destOrd="0" parTransId="{7E06C3F2-7C81-403E-B62C-329A11666594}" sibTransId="{5F8F9DE3-EBE4-471A-BD20-B4557F9536A5}"/>
    <dgm:cxn modelId="{D8B8D059-61FE-475E-857E-1DDB765A0F5E}" type="presOf" srcId="{38374B46-EC13-4EA6-A2CE-7D6A6ED217A7}" destId="{96BC343E-1138-4145-A031-3DE604B95B76}" srcOrd="1" destOrd="0" presId="urn:microsoft.com/office/officeart/2005/8/layout/vProcess5"/>
    <dgm:cxn modelId="{AC85578F-3FB5-4EC0-AAA3-EC0E5C55BBD3}" srcId="{14503E9A-5DCF-46F7-B756-135C4DDFED2F}" destId="{38374B46-EC13-4EA6-A2CE-7D6A6ED217A7}" srcOrd="0" destOrd="0" parTransId="{3D0D1A5E-C1D2-4BBD-8AE5-FC3CF20EEC44}" sibTransId="{99CC072A-27A5-4FFE-902D-CA94290B2AAB}"/>
    <dgm:cxn modelId="{F6AAB192-849A-42DC-BB7D-36494F786846}" type="presOf" srcId="{14503E9A-5DCF-46F7-B756-135C4DDFED2F}" destId="{0EF57BE1-C359-4D25-B625-DE2A3B71FDB4}" srcOrd="0" destOrd="0" presId="urn:microsoft.com/office/officeart/2005/8/layout/vProcess5"/>
    <dgm:cxn modelId="{EA358198-D172-4827-9F8A-246DD9851E12}" type="presOf" srcId="{38374B46-EC13-4EA6-A2CE-7D6A6ED217A7}" destId="{DA47A530-8E15-44AB-9355-C3A5696A1F8B}" srcOrd="0" destOrd="0" presId="urn:microsoft.com/office/officeart/2005/8/layout/vProcess5"/>
    <dgm:cxn modelId="{866AB9BE-2293-4FF3-ADB9-97BCC085DC39}" type="presOf" srcId="{99CC072A-27A5-4FFE-902D-CA94290B2AAB}" destId="{DBE61127-48F5-4CC0-9EED-8C90F60152E0}" srcOrd="0" destOrd="0" presId="urn:microsoft.com/office/officeart/2005/8/layout/vProcess5"/>
    <dgm:cxn modelId="{B764F2CE-40EF-4CEB-B0F1-D1B1BB843681}" type="presOf" srcId="{94200F63-AEB7-49B8-95CB-AE99EE49D57E}" destId="{B983BAF8-7261-43BC-B2EA-F47BE930C0DF}" srcOrd="1" destOrd="0" presId="urn:microsoft.com/office/officeart/2005/8/layout/vProcess5"/>
    <dgm:cxn modelId="{D4EC30CF-A00C-44A2-AC72-08275320E467}" type="presOf" srcId="{5F8F9DE3-EBE4-471A-BD20-B4557F9536A5}" destId="{96D7AC4A-19D2-4FC5-B3D8-FC8CE9CFFA1E}" srcOrd="0" destOrd="0" presId="urn:microsoft.com/office/officeart/2005/8/layout/vProcess5"/>
    <dgm:cxn modelId="{C2F43DDF-3172-43AC-BAA3-384CBDD575DB}" srcId="{14503E9A-5DCF-46F7-B756-135C4DDFED2F}" destId="{94200F63-AEB7-49B8-95CB-AE99EE49D57E}" srcOrd="2" destOrd="0" parTransId="{49232242-8E6D-40E4-883F-A2F4CF02204D}" sibTransId="{119B2D60-6F37-4B33-9F2D-918E0D9FE403}"/>
    <dgm:cxn modelId="{9538FEE5-0D52-49D1-8169-3C6B9F73FE95}" type="presOf" srcId="{D562479F-9488-4D29-810D-808880395D77}" destId="{9AF5C242-BC56-432B-8970-76CC2258E2BE}" srcOrd="0" destOrd="0" presId="urn:microsoft.com/office/officeart/2005/8/layout/vProcess5"/>
    <dgm:cxn modelId="{85C9A0E8-BFDE-4725-8390-5EC7FB3066B8}" type="presOf" srcId="{94200F63-AEB7-49B8-95CB-AE99EE49D57E}" destId="{A981E647-EABA-4413-9033-0B75A85B0A1F}" srcOrd="0" destOrd="0" presId="urn:microsoft.com/office/officeart/2005/8/layout/vProcess5"/>
    <dgm:cxn modelId="{36A944E6-9FC7-46CA-9B75-2A2594CA0026}" type="presParOf" srcId="{0EF57BE1-C359-4D25-B625-DE2A3B71FDB4}" destId="{AC477E5A-C212-4739-8914-0377BDE7F58C}" srcOrd="0" destOrd="0" presId="urn:microsoft.com/office/officeart/2005/8/layout/vProcess5"/>
    <dgm:cxn modelId="{6803BC1C-2F3F-4188-BE9B-984534A94158}" type="presParOf" srcId="{0EF57BE1-C359-4D25-B625-DE2A3B71FDB4}" destId="{DA47A530-8E15-44AB-9355-C3A5696A1F8B}" srcOrd="1" destOrd="0" presId="urn:microsoft.com/office/officeart/2005/8/layout/vProcess5"/>
    <dgm:cxn modelId="{D00C7692-6551-45BD-B41A-5D37D5E65377}" type="presParOf" srcId="{0EF57BE1-C359-4D25-B625-DE2A3B71FDB4}" destId="{9AF5C242-BC56-432B-8970-76CC2258E2BE}" srcOrd="2" destOrd="0" presId="urn:microsoft.com/office/officeart/2005/8/layout/vProcess5"/>
    <dgm:cxn modelId="{87EF8C91-797F-4730-A1A7-88F0F38F43B7}" type="presParOf" srcId="{0EF57BE1-C359-4D25-B625-DE2A3B71FDB4}" destId="{A981E647-EABA-4413-9033-0B75A85B0A1F}" srcOrd="3" destOrd="0" presId="urn:microsoft.com/office/officeart/2005/8/layout/vProcess5"/>
    <dgm:cxn modelId="{E4BA6C2A-1754-4DA8-AC99-A2E8E95F3A9A}" type="presParOf" srcId="{0EF57BE1-C359-4D25-B625-DE2A3B71FDB4}" destId="{DBE61127-48F5-4CC0-9EED-8C90F60152E0}" srcOrd="4" destOrd="0" presId="urn:microsoft.com/office/officeart/2005/8/layout/vProcess5"/>
    <dgm:cxn modelId="{A8578F5B-9B7A-4DB6-BAF1-9C5AFA4B7B91}" type="presParOf" srcId="{0EF57BE1-C359-4D25-B625-DE2A3B71FDB4}" destId="{96D7AC4A-19D2-4FC5-B3D8-FC8CE9CFFA1E}" srcOrd="5" destOrd="0" presId="urn:microsoft.com/office/officeart/2005/8/layout/vProcess5"/>
    <dgm:cxn modelId="{C8674CD3-B17B-467C-856E-48BC054A4C2F}" type="presParOf" srcId="{0EF57BE1-C359-4D25-B625-DE2A3B71FDB4}" destId="{96BC343E-1138-4145-A031-3DE604B95B76}" srcOrd="6" destOrd="0" presId="urn:microsoft.com/office/officeart/2005/8/layout/vProcess5"/>
    <dgm:cxn modelId="{CDB1A8C3-EF76-48D2-BA00-80DF2E64DC19}" type="presParOf" srcId="{0EF57BE1-C359-4D25-B625-DE2A3B71FDB4}" destId="{D127ED21-3F67-4044-8530-969CDDDF628A}" srcOrd="7" destOrd="0" presId="urn:microsoft.com/office/officeart/2005/8/layout/vProcess5"/>
    <dgm:cxn modelId="{96B44D44-DC86-4FA0-9BCC-C5C273A4C74F}" type="presParOf" srcId="{0EF57BE1-C359-4D25-B625-DE2A3B71FDB4}" destId="{B983BAF8-7261-43BC-B2EA-F47BE930C0DF}" srcOrd="8" destOrd="0" presId="urn:microsoft.com/office/officeart/2005/8/layout/vProcess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C02B5FDE-3B0B-474C-BB12-22A94E10E5D4}"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699E3471-C49C-4C58-A962-50EC296A41AF}">
      <dgm:prSet/>
      <dgm:spPr/>
      <dgm:t>
        <a:bodyPr/>
        <a:lstStyle/>
        <a:p>
          <a:r>
            <a:rPr lang="en-US" b="1" dirty="0"/>
            <a:t>1. Efficient Shot Conversion</a:t>
          </a:r>
        </a:p>
        <a:p>
          <a:r>
            <a:rPr lang="en-US" dirty="0"/>
            <a:t>Milwaukee finished above expected shot quality (</a:t>
          </a:r>
          <a:r>
            <a:rPr lang="en-US" dirty="0" err="1"/>
            <a:t>qSQ</a:t>
          </a:r>
          <a:r>
            <a:rPr lang="en-US" dirty="0"/>
            <a:t>), converting both contested and open looks. OKC, despite similar opportunities, underperformed.</a:t>
          </a:r>
        </a:p>
      </dgm:t>
    </dgm:pt>
    <dgm:pt modelId="{AB44DB34-F4A4-4ABD-AF52-70632C707757}" type="parTrans" cxnId="{C3186ED8-B2BD-4FF7-9F4D-C0242BC38B60}">
      <dgm:prSet/>
      <dgm:spPr/>
      <dgm:t>
        <a:bodyPr/>
        <a:lstStyle/>
        <a:p>
          <a:endParaRPr lang="en-US"/>
        </a:p>
      </dgm:t>
    </dgm:pt>
    <dgm:pt modelId="{1187AD45-291F-4693-BC7C-A6B616F8BB87}" type="sibTrans" cxnId="{C3186ED8-B2BD-4FF7-9F4D-C0242BC38B60}">
      <dgm:prSet/>
      <dgm:spPr/>
      <dgm:t>
        <a:bodyPr/>
        <a:lstStyle/>
        <a:p>
          <a:endParaRPr lang="en-US"/>
        </a:p>
      </dgm:t>
    </dgm:pt>
    <dgm:pt modelId="{AEB62B73-B178-4DF2-A706-EE4DBDE0891A}">
      <dgm:prSet/>
      <dgm:spPr/>
      <dgm:t>
        <a:bodyPr/>
        <a:lstStyle/>
        <a:p>
          <a:r>
            <a:rPr lang="en-US" b="1" dirty="0"/>
            <a:t>2. Missed Open Opportunities by OKC</a:t>
          </a:r>
        </a:p>
        <a:p>
          <a:r>
            <a:rPr lang="en-US" dirty="0"/>
            <a:t>Thunder shooters converted just </a:t>
          </a:r>
          <a:r>
            <a:rPr lang="en-US" b="1" dirty="0"/>
            <a:t>17%</a:t>
          </a:r>
          <a:r>
            <a:rPr lang="en-US" dirty="0"/>
            <a:t> of attempts when the defender was 6+ feet away, compared to a much higher efficiency from the </a:t>
          </a:r>
          <a:r>
            <a:rPr lang="en-US" dirty="0" err="1"/>
            <a:t>Bucks.</a:t>
          </a:r>
          <a:endParaRPr lang="en-US" dirty="0"/>
        </a:p>
      </dgm:t>
    </dgm:pt>
    <dgm:pt modelId="{5C6C38F2-DF18-4A3B-A211-6BC109CEEFF1}" type="parTrans" cxnId="{C1232147-CE4A-4110-86A5-E3CE3FADE6C9}">
      <dgm:prSet/>
      <dgm:spPr/>
      <dgm:t>
        <a:bodyPr/>
        <a:lstStyle/>
        <a:p>
          <a:endParaRPr lang="en-US"/>
        </a:p>
      </dgm:t>
    </dgm:pt>
    <dgm:pt modelId="{BD5AEF54-8274-4BCC-88C7-9B490DADCF18}" type="sibTrans" cxnId="{C1232147-CE4A-4110-86A5-E3CE3FADE6C9}">
      <dgm:prSet/>
      <dgm:spPr/>
      <dgm:t>
        <a:bodyPr/>
        <a:lstStyle/>
        <a:p>
          <a:endParaRPr lang="en-US"/>
        </a:p>
      </dgm:t>
    </dgm:pt>
    <dgm:pt modelId="{B48A4FDD-9D45-4F38-BABA-507AA984C282}">
      <dgm:prSet/>
      <dgm:spPr/>
      <dgm:t>
        <a:bodyPr/>
        <a:lstStyle/>
        <a:p>
          <a:pPr marL="0" marR="0" lvl="0" indent="0" defTabSz="914400" eaLnBrk="1" fontAlgn="auto" latinLnBrk="0" hangingPunct="1">
            <a:lnSpc>
              <a:spcPct val="100000"/>
            </a:lnSpc>
            <a:spcBef>
              <a:spcPts val="0"/>
            </a:spcBef>
            <a:spcAft>
              <a:spcPts val="0"/>
            </a:spcAft>
            <a:buClrTx/>
            <a:buSzTx/>
            <a:buFontTx/>
            <a:buNone/>
            <a:tabLst/>
            <a:defRPr/>
          </a:pPr>
          <a:r>
            <a:rPr lang="en-US" b="1" i="0" baseline="0" dirty="0"/>
            <a:t>3</a:t>
          </a:r>
          <a:r>
            <a:rPr lang="en-US" b="1" dirty="0"/>
            <a:t>. Defensive Pressure on Key Players</a:t>
          </a:r>
        </a:p>
        <a:p>
          <a:pPr marL="0" marR="0" lvl="0" indent="0" defTabSz="914400" eaLnBrk="1" fontAlgn="auto" latinLnBrk="0" hangingPunct="1">
            <a:lnSpc>
              <a:spcPct val="100000"/>
            </a:lnSpc>
            <a:spcBef>
              <a:spcPts val="0"/>
            </a:spcBef>
            <a:spcAft>
              <a:spcPts val="0"/>
            </a:spcAft>
            <a:buClrTx/>
            <a:buSzTx/>
            <a:buFontTx/>
            <a:buNone/>
            <a:tabLst/>
            <a:defRPr/>
          </a:pPr>
          <a:r>
            <a:rPr lang="en-US" b="0" dirty="0"/>
            <a:t>Milwaukee held Shai Gilgeous-Alexander to </a:t>
          </a:r>
          <a:r>
            <a:rPr lang="en-US" b="1" dirty="0"/>
            <a:t>10th</a:t>
          </a:r>
          <a:r>
            <a:rPr lang="en-US" b="0" dirty="0"/>
            <a:t> in Points Per Shot despite his usual efficiency, and limited OKC’s success on lightly contested shots.</a:t>
          </a:r>
        </a:p>
        <a:p>
          <a:pPr marL="0" marR="0" lvl="0" indent="0" defTabSz="914400" eaLnBrk="1" fontAlgn="auto" latinLnBrk="0" hangingPunct="1">
            <a:lnSpc>
              <a:spcPct val="100000"/>
            </a:lnSpc>
            <a:spcBef>
              <a:spcPts val="0"/>
            </a:spcBef>
            <a:spcAft>
              <a:spcPts val="0"/>
            </a:spcAft>
            <a:buClrTx/>
            <a:buSzTx/>
            <a:buFontTx/>
            <a:buNone/>
            <a:tabLst/>
            <a:defRPr/>
          </a:pPr>
          <a:endParaRPr lang="en-US" b="0" dirty="0"/>
        </a:p>
      </dgm:t>
    </dgm:pt>
    <dgm:pt modelId="{3D5E51AE-B701-4546-84A6-E7D344329AFE}" type="parTrans" cxnId="{3CDC0FAA-07BB-4158-BC56-4B8D335EF2F8}">
      <dgm:prSet/>
      <dgm:spPr/>
      <dgm:t>
        <a:bodyPr/>
        <a:lstStyle/>
        <a:p>
          <a:endParaRPr lang="en-US"/>
        </a:p>
      </dgm:t>
    </dgm:pt>
    <dgm:pt modelId="{9E924BBB-4EA0-4096-A699-A825F4E9291B}" type="sibTrans" cxnId="{3CDC0FAA-07BB-4158-BC56-4B8D335EF2F8}">
      <dgm:prSet/>
      <dgm:spPr/>
      <dgm:t>
        <a:bodyPr/>
        <a:lstStyle/>
        <a:p>
          <a:endParaRPr lang="en-US"/>
        </a:p>
      </dgm:t>
    </dgm:pt>
    <dgm:pt modelId="{4925F441-479D-44C8-A134-220F2C06936F}">
      <dgm:prSet/>
      <dgm:spPr/>
      <dgm:t>
        <a:bodyPr/>
        <a:lstStyle/>
        <a:p>
          <a:r>
            <a:rPr lang="en-US" b="1" i="0" baseline="0" dirty="0"/>
            <a:t>5. Pivotal Stretches in the First Half and Third Quarter Defined the Game</a:t>
          </a:r>
          <a:br>
            <a:rPr lang="en-US" b="0" i="0" baseline="0" dirty="0"/>
          </a:br>
          <a:r>
            <a:rPr lang="en-US" b="0" i="0" baseline="0" dirty="0"/>
            <a:t>Milwaukee pulled away during the third quarter, shooting </a:t>
          </a:r>
          <a:r>
            <a:rPr lang="en-US" b="1" i="0" baseline="0" dirty="0"/>
            <a:t>15%</a:t>
          </a:r>
          <a:r>
            <a:rPr lang="en-US" b="0" i="0" baseline="0" dirty="0"/>
            <a:t> better than OKC in that stretch. It proved to be the decisive turning point.</a:t>
          </a:r>
          <a:endParaRPr lang="en-US" dirty="0"/>
        </a:p>
      </dgm:t>
    </dgm:pt>
    <dgm:pt modelId="{F70A08BE-3774-4454-A27C-5B4DDE183933}" type="parTrans" cxnId="{D02189FA-4962-4DD2-A32E-BA7499960D38}">
      <dgm:prSet/>
      <dgm:spPr/>
      <dgm:t>
        <a:bodyPr/>
        <a:lstStyle/>
        <a:p>
          <a:endParaRPr lang="en-US"/>
        </a:p>
      </dgm:t>
    </dgm:pt>
    <dgm:pt modelId="{50A2A558-9131-4545-BEBF-7E860BD1509D}" type="sibTrans" cxnId="{D02189FA-4962-4DD2-A32E-BA7499960D38}">
      <dgm:prSet/>
      <dgm:spPr/>
      <dgm:t>
        <a:bodyPr/>
        <a:lstStyle/>
        <a:p>
          <a:endParaRPr lang="en-US"/>
        </a:p>
      </dgm:t>
    </dgm:pt>
    <dgm:pt modelId="{EC6A16D0-B005-4BDC-BFA7-9E173F078B04}">
      <dgm:prSet/>
      <dgm:spPr/>
      <dgm:t>
        <a:bodyPr/>
        <a:lstStyle/>
        <a:p>
          <a:r>
            <a:rPr lang="en-US" dirty="0"/>
            <a:t>4. </a:t>
          </a:r>
          <a:r>
            <a:rPr lang="en-US" b="1" dirty="0"/>
            <a:t>More Effective Use of Floor Space                                                                                       </a:t>
          </a:r>
          <a:r>
            <a:rPr lang="en-US" dirty="0"/>
            <a:t>Bucks thrived in the paint and corner/right wing zones. In contrast, OKC struggled in traditionally high-efficiency areas like corner 3s and midrange.</a:t>
          </a:r>
        </a:p>
      </dgm:t>
    </dgm:pt>
    <dgm:pt modelId="{BEC39864-2824-405D-8A35-BB9A233968D5}" type="parTrans" cxnId="{B2E788BC-D5DE-45AE-94DE-0FBC8A1FC513}">
      <dgm:prSet/>
      <dgm:spPr/>
      <dgm:t>
        <a:bodyPr/>
        <a:lstStyle/>
        <a:p>
          <a:endParaRPr lang="en-US"/>
        </a:p>
      </dgm:t>
    </dgm:pt>
    <dgm:pt modelId="{907B8FC1-4D17-43D6-83FC-348A175F4C02}" type="sibTrans" cxnId="{B2E788BC-D5DE-45AE-94DE-0FBC8A1FC513}">
      <dgm:prSet/>
      <dgm:spPr/>
      <dgm:t>
        <a:bodyPr/>
        <a:lstStyle/>
        <a:p>
          <a:endParaRPr lang="en-US"/>
        </a:p>
      </dgm:t>
    </dgm:pt>
    <dgm:pt modelId="{7B159C9B-FFD2-4F98-AE04-262F23FB52D5}" type="pres">
      <dgm:prSet presAssocID="{C02B5FDE-3B0B-474C-BB12-22A94E10E5D4}" presName="linear" presStyleCnt="0">
        <dgm:presLayoutVars>
          <dgm:animLvl val="lvl"/>
          <dgm:resizeHandles val="exact"/>
        </dgm:presLayoutVars>
      </dgm:prSet>
      <dgm:spPr/>
    </dgm:pt>
    <dgm:pt modelId="{82CB8F81-E367-4E2A-9392-FB655160D80D}" type="pres">
      <dgm:prSet presAssocID="{699E3471-C49C-4C58-A962-50EC296A41AF}" presName="parentText" presStyleLbl="node1" presStyleIdx="0" presStyleCnt="5">
        <dgm:presLayoutVars>
          <dgm:chMax val="0"/>
          <dgm:bulletEnabled val="1"/>
        </dgm:presLayoutVars>
      </dgm:prSet>
      <dgm:spPr/>
    </dgm:pt>
    <dgm:pt modelId="{F0DC7BC1-7929-4D8C-8048-D62DB1D3D34C}" type="pres">
      <dgm:prSet presAssocID="{1187AD45-291F-4693-BC7C-A6B616F8BB87}" presName="spacer" presStyleCnt="0"/>
      <dgm:spPr/>
    </dgm:pt>
    <dgm:pt modelId="{A68FA539-AADB-4D49-954A-3F127E7B0AEC}" type="pres">
      <dgm:prSet presAssocID="{AEB62B73-B178-4DF2-A706-EE4DBDE0891A}" presName="parentText" presStyleLbl="node1" presStyleIdx="1" presStyleCnt="5">
        <dgm:presLayoutVars>
          <dgm:chMax val="0"/>
          <dgm:bulletEnabled val="1"/>
        </dgm:presLayoutVars>
      </dgm:prSet>
      <dgm:spPr/>
    </dgm:pt>
    <dgm:pt modelId="{997F3799-6B6F-49CD-87C1-C587B37DDC9E}" type="pres">
      <dgm:prSet presAssocID="{BD5AEF54-8274-4BCC-88C7-9B490DADCF18}" presName="spacer" presStyleCnt="0"/>
      <dgm:spPr/>
    </dgm:pt>
    <dgm:pt modelId="{ECEB6491-ACA4-483F-ABAC-49F7ABD0C078}" type="pres">
      <dgm:prSet presAssocID="{B48A4FDD-9D45-4F38-BABA-507AA984C282}" presName="parentText" presStyleLbl="node1" presStyleIdx="2" presStyleCnt="5" custLinFactNeighborX="-64198">
        <dgm:presLayoutVars>
          <dgm:chMax val="0"/>
          <dgm:bulletEnabled val="1"/>
        </dgm:presLayoutVars>
      </dgm:prSet>
      <dgm:spPr/>
    </dgm:pt>
    <dgm:pt modelId="{F133D952-B59D-4F89-8072-057A7497C530}" type="pres">
      <dgm:prSet presAssocID="{9E924BBB-4EA0-4096-A699-A825F4E9291B}" presName="spacer" presStyleCnt="0"/>
      <dgm:spPr/>
    </dgm:pt>
    <dgm:pt modelId="{CDFA34AD-CA2B-4B08-BD36-F69782FE3342}" type="pres">
      <dgm:prSet presAssocID="{EC6A16D0-B005-4BDC-BFA7-9E173F078B04}" presName="parentText" presStyleLbl="node1" presStyleIdx="3" presStyleCnt="5">
        <dgm:presLayoutVars>
          <dgm:chMax val="0"/>
          <dgm:bulletEnabled val="1"/>
        </dgm:presLayoutVars>
      </dgm:prSet>
      <dgm:spPr/>
    </dgm:pt>
    <dgm:pt modelId="{2BAC89D3-9336-4ECA-9D51-FBE17B37B939}" type="pres">
      <dgm:prSet presAssocID="{907B8FC1-4D17-43D6-83FC-348A175F4C02}" presName="spacer" presStyleCnt="0"/>
      <dgm:spPr/>
    </dgm:pt>
    <dgm:pt modelId="{94B82C11-D6BD-48A8-A385-A91BCBB6D6FB}" type="pres">
      <dgm:prSet presAssocID="{4925F441-479D-44C8-A134-220F2C06936F}" presName="parentText" presStyleLbl="node1" presStyleIdx="4" presStyleCnt="5">
        <dgm:presLayoutVars>
          <dgm:chMax val="0"/>
          <dgm:bulletEnabled val="1"/>
        </dgm:presLayoutVars>
      </dgm:prSet>
      <dgm:spPr/>
    </dgm:pt>
  </dgm:ptLst>
  <dgm:cxnLst>
    <dgm:cxn modelId="{5876FB2A-A40E-4701-BFDD-5A7ECEB5CA95}" type="presOf" srcId="{B48A4FDD-9D45-4F38-BABA-507AA984C282}" destId="{ECEB6491-ACA4-483F-ABAC-49F7ABD0C078}" srcOrd="0" destOrd="0" presId="urn:microsoft.com/office/officeart/2005/8/layout/vList2"/>
    <dgm:cxn modelId="{6742B033-B05D-4683-90BC-01FCEA8DF09A}" type="presOf" srcId="{699E3471-C49C-4C58-A962-50EC296A41AF}" destId="{82CB8F81-E367-4E2A-9392-FB655160D80D}" srcOrd="0" destOrd="0" presId="urn:microsoft.com/office/officeart/2005/8/layout/vList2"/>
    <dgm:cxn modelId="{39E15C5B-7297-4DA0-974A-AF5DE068427D}" type="presOf" srcId="{4925F441-479D-44C8-A134-220F2C06936F}" destId="{94B82C11-D6BD-48A8-A385-A91BCBB6D6FB}" srcOrd="0" destOrd="0" presId="urn:microsoft.com/office/officeart/2005/8/layout/vList2"/>
    <dgm:cxn modelId="{C1232147-CE4A-4110-86A5-E3CE3FADE6C9}" srcId="{C02B5FDE-3B0B-474C-BB12-22A94E10E5D4}" destId="{AEB62B73-B178-4DF2-A706-EE4DBDE0891A}" srcOrd="1" destOrd="0" parTransId="{5C6C38F2-DF18-4A3B-A211-6BC109CEEFF1}" sibTransId="{BD5AEF54-8274-4BCC-88C7-9B490DADCF18}"/>
    <dgm:cxn modelId="{C133428B-B2E6-4EA5-AFCB-7EE2AFE22F8E}" type="presOf" srcId="{EC6A16D0-B005-4BDC-BFA7-9E173F078B04}" destId="{CDFA34AD-CA2B-4B08-BD36-F69782FE3342}" srcOrd="0" destOrd="0" presId="urn:microsoft.com/office/officeart/2005/8/layout/vList2"/>
    <dgm:cxn modelId="{3CDC0FAA-07BB-4158-BC56-4B8D335EF2F8}" srcId="{C02B5FDE-3B0B-474C-BB12-22A94E10E5D4}" destId="{B48A4FDD-9D45-4F38-BABA-507AA984C282}" srcOrd="2" destOrd="0" parTransId="{3D5E51AE-B701-4546-84A6-E7D344329AFE}" sibTransId="{9E924BBB-4EA0-4096-A699-A825F4E9291B}"/>
    <dgm:cxn modelId="{EF8EDCB8-75FF-4513-8EC7-75EC15C9F1AF}" type="presOf" srcId="{AEB62B73-B178-4DF2-A706-EE4DBDE0891A}" destId="{A68FA539-AADB-4D49-954A-3F127E7B0AEC}" srcOrd="0" destOrd="0" presId="urn:microsoft.com/office/officeart/2005/8/layout/vList2"/>
    <dgm:cxn modelId="{B2E788BC-D5DE-45AE-94DE-0FBC8A1FC513}" srcId="{C02B5FDE-3B0B-474C-BB12-22A94E10E5D4}" destId="{EC6A16D0-B005-4BDC-BFA7-9E173F078B04}" srcOrd="3" destOrd="0" parTransId="{BEC39864-2824-405D-8A35-BB9A233968D5}" sibTransId="{907B8FC1-4D17-43D6-83FC-348A175F4C02}"/>
    <dgm:cxn modelId="{C3186ED8-B2BD-4FF7-9F4D-C0242BC38B60}" srcId="{C02B5FDE-3B0B-474C-BB12-22A94E10E5D4}" destId="{699E3471-C49C-4C58-A962-50EC296A41AF}" srcOrd="0" destOrd="0" parTransId="{AB44DB34-F4A4-4ABD-AF52-70632C707757}" sibTransId="{1187AD45-291F-4693-BC7C-A6B616F8BB87}"/>
    <dgm:cxn modelId="{4D9F61E0-D5C3-4385-9C0F-176CF5AD1F82}" type="presOf" srcId="{C02B5FDE-3B0B-474C-BB12-22A94E10E5D4}" destId="{7B159C9B-FFD2-4F98-AE04-262F23FB52D5}" srcOrd="0" destOrd="0" presId="urn:microsoft.com/office/officeart/2005/8/layout/vList2"/>
    <dgm:cxn modelId="{D02189FA-4962-4DD2-A32E-BA7499960D38}" srcId="{C02B5FDE-3B0B-474C-BB12-22A94E10E5D4}" destId="{4925F441-479D-44C8-A134-220F2C06936F}" srcOrd="4" destOrd="0" parTransId="{F70A08BE-3774-4454-A27C-5B4DDE183933}" sibTransId="{50A2A558-9131-4545-BEBF-7E860BD1509D}"/>
    <dgm:cxn modelId="{13116742-88F4-490C-AF1B-C72FC8B71DFA}" type="presParOf" srcId="{7B159C9B-FFD2-4F98-AE04-262F23FB52D5}" destId="{82CB8F81-E367-4E2A-9392-FB655160D80D}" srcOrd="0" destOrd="0" presId="urn:microsoft.com/office/officeart/2005/8/layout/vList2"/>
    <dgm:cxn modelId="{AE1A0696-4422-4FA7-9D90-3DBD9986D390}" type="presParOf" srcId="{7B159C9B-FFD2-4F98-AE04-262F23FB52D5}" destId="{F0DC7BC1-7929-4D8C-8048-D62DB1D3D34C}" srcOrd="1" destOrd="0" presId="urn:microsoft.com/office/officeart/2005/8/layout/vList2"/>
    <dgm:cxn modelId="{88ACCDF3-70CC-4863-9889-5DECD8E70736}" type="presParOf" srcId="{7B159C9B-FFD2-4F98-AE04-262F23FB52D5}" destId="{A68FA539-AADB-4D49-954A-3F127E7B0AEC}" srcOrd="2" destOrd="0" presId="urn:microsoft.com/office/officeart/2005/8/layout/vList2"/>
    <dgm:cxn modelId="{6BBCE9F4-1934-4496-ACF6-286113B4A229}" type="presParOf" srcId="{7B159C9B-FFD2-4F98-AE04-262F23FB52D5}" destId="{997F3799-6B6F-49CD-87C1-C587B37DDC9E}" srcOrd="3" destOrd="0" presId="urn:microsoft.com/office/officeart/2005/8/layout/vList2"/>
    <dgm:cxn modelId="{EC00EB18-E75E-4495-BAF9-3F92FEB429F9}" type="presParOf" srcId="{7B159C9B-FFD2-4F98-AE04-262F23FB52D5}" destId="{ECEB6491-ACA4-483F-ABAC-49F7ABD0C078}" srcOrd="4" destOrd="0" presId="urn:microsoft.com/office/officeart/2005/8/layout/vList2"/>
    <dgm:cxn modelId="{32C09759-68D8-408D-8D26-F1959CF1B592}" type="presParOf" srcId="{7B159C9B-FFD2-4F98-AE04-262F23FB52D5}" destId="{F133D952-B59D-4F89-8072-057A7497C530}" srcOrd="5" destOrd="0" presId="urn:microsoft.com/office/officeart/2005/8/layout/vList2"/>
    <dgm:cxn modelId="{49444627-D0C7-47D0-BF6B-A87554C3E2AA}" type="presParOf" srcId="{7B159C9B-FFD2-4F98-AE04-262F23FB52D5}" destId="{CDFA34AD-CA2B-4B08-BD36-F69782FE3342}" srcOrd="6" destOrd="0" presId="urn:microsoft.com/office/officeart/2005/8/layout/vList2"/>
    <dgm:cxn modelId="{9ED7E9CD-83C7-4F54-9621-9C7C2EB1EA05}" type="presParOf" srcId="{7B159C9B-FFD2-4F98-AE04-262F23FB52D5}" destId="{2BAC89D3-9336-4ECA-9D51-FBE17B37B939}" srcOrd="7" destOrd="0" presId="urn:microsoft.com/office/officeart/2005/8/layout/vList2"/>
    <dgm:cxn modelId="{820B5061-E655-47FF-9A9C-242794A37A25}" type="presParOf" srcId="{7B159C9B-FFD2-4F98-AE04-262F23FB52D5}" destId="{94B82C11-D6BD-48A8-A385-A91BCBB6D6FB}"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18F44B07-B7FA-411B-B0CE-DA567A62A620}" type="doc">
      <dgm:prSet loTypeId="urn:microsoft.com/office/officeart/2005/8/layout/default" loCatId="list" qsTypeId="urn:microsoft.com/office/officeart/2005/8/quickstyle/simple2" qsCatId="simple" csTypeId="urn:microsoft.com/office/officeart/2005/8/colors/accent1_2" csCatId="accent1"/>
      <dgm:spPr/>
      <dgm:t>
        <a:bodyPr/>
        <a:lstStyle/>
        <a:p>
          <a:endParaRPr lang="en-US"/>
        </a:p>
      </dgm:t>
    </dgm:pt>
    <dgm:pt modelId="{0F1F1F73-0DDB-4B19-A8A3-A9ED4008D121}">
      <dgm:prSet/>
      <dgm:spPr/>
      <dgm:t>
        <a:bodyPr/>
        <a:lstStyle/>
        <a:p>
          <a:r>
            <a:rPr lang="en-US"/>
            <a:t>Scoring Versatility: Milwaukee attacked from all zones; OKC focused too narrowly on the midrange.</a:t>
          </a:r>
        </a:p>
      </dgm:t>
    </dgm:pt>
    <dgm:pt modelId="{5BFD887F-1111-4C6E-B953-22BDC8D657D9}" type="parTrans" cxnId="{FCAE1202-57F3-40E1-BE7A-89CC2EE5E327}">
      <dgm:prSet/>
      <dgm:spPr/>
      <dgm:t>
        <a:bodyPr/>
        <a:lstStyle/>
        <a:p>
          <a:endParaRPr lang="en-US"/>
        </a:p>
      </dgm:t>
    </dgm:pt>
    <dgm:pt modelId="{F6F59245-6288-4C59-BBEE-A78AA2CD03F9}" type="sibTrans" cxnId="{FCAE1202-57F3-40E1-BE7A-89CC2EE5E327}">
      <dgm:prSet/>
      <dgm:spPr/>
      <dgm:t>
        <a:bodyPr/>
        <a:lstStyle/>
        <a:p>
          <a:endParaRPr lang="en-US"/>
        </a:p>
      </dgm:t>
    </dgm:pt>
    <dgm:pt modelId="{F6C12213-5FAA-4458-B96B-C93AE1C4B080}">
      <dgm:prSet/>
      <dgm:spPr/>
      <dgm:t>
        <a:bodyPr/>
        <a:lstStyle/>
        <a:p>
          <a:r>
            <a:rPr lang="en-US"/>
            <a:t>Efficiency on Equal Quality: Both teams had similar shot quality, but the Bucks finished at a much higher rate.</a:t>
          </a:r>
        </a:p>
      </dgm:t>
    </dgm:pt>
    <dgm:pt modelId="{C2CD21DE-ACE3-4A5F-9288-B767A4BEC6FF}" type="parTrans" cxnId="{BF988C05-1278-4D8C-B759-E8142414A168}">
      <dgm:prSet/>
      <dgm:spPr/>
      <dgm:t>
        <a:bodyPr/>
        <a:lstStyle/>
        <a:p>
          <a:endParaRPr lang="en-US"/>
        </a:p>
      </dgm:t>
    </dgm:pt>
    <dgm:pt modelId="{D62A3B45-9CD2-4EC8-B2B7-BBBF4D274D7C}" type="sibTrans" cxnId="{BF988C05-1278-4D8C-B759-E8142414A168}">
      <dgm:prSet/>
      <dgm:spPr/>
      <dgm:t>
        <a:bodyPr/>
        <a:lstStyle/>
        <a:p>
          <a:endParaRPr lang="en-US"/>
        </a:p>
      </dgm:t>
    </dgm:pt>
    <dgm:pt modelId="{553FB707-CA7D-4F15-8B7F-FDA8AF598B7C}">
      <dgm:prSet/>
      <dgm:spPr/>
      <dgm:t>
        <a:bodyPr/>
        <a:lstStyle/>
        <a:p>
          <a:r>
            <a:rPr lang="en-US"/>
            <a:t>Defensive Pressure on Shai: The Bucks contained OKC’s lead scorer by reducing his shot quality through targeted matchups.</a:t>
          </a:r>
        </a:p>
      </dgm:t>
    </dgm:pt>
    <dgm:pt modelId="{31340839-1B46-492D-9FE5-BE1A6CC30316}" type="parTrans" cxnId="{BDED6883-A473-4AD8-AD7A-53CF5395CD3B}">
      <dgm:prSet/>
      <dgm:spPr/>
      <dgm:t>
        <a:bodyPr/>
        <a:lstStyle/>
        <a:p>
          <a:endParaRPr lang="en-US"/>
        </a:p>
      </dgm:t>
    </dgm:pt>
    <dgm:pt modelId="{376268EE-CE21-4541-8E77-AEE830155802}" type="sibTrans" cxnId="{BDED6883-A473-4AD8-AD7A-53CF5395CD3B}">
      <dgm:prSet/>
      <dgm:spPr/>
      <dgm:t>
        <a:bodyPr/>
        <a:lstStyle/>
        <a:p>
          <a:endParaRPr lang="en-US"/>
        </a:p>
      </dgm:t>
    </dgm:pt>
    <dgm:pt modelId="{60B98FEE-B316-4F46-B853-A756BDB59ED9}">
      <dgm:prSet/>
      <dgm:spPr/>
      <dgm:t>
        <a:bodyPr/>
        <a:lstStyle/>
        <a:p>
          <a:r>
            <a:rPr lang="en-US"/>
            <a:t>Momentum in Clutch Moments: Milwaukee dominated the 3rd quarter and end of the 1st half to take control.</a:t>
          </a:r>
        </a:p>
      </dgm:t>
    </dgm:pt>
    <dgm:pt modelId="{DCB99AD3-064D-4B2F-AEAE-A01D800230BD}" type="parTrans" cxnId="{62F89582-B1D5-47E7-8FC3-A929DA5EBDB6}">
      <dgm:prSet/>
      <dgm:spPr/>
      <dgm:t>
        <a:bodyPr/>
        <a:lstStyle/>
        <a:p>
          <a:endParaRPr lang="en-US"/>
        </a:p>
      </dgm:t>
    </dgm:pt>
    <dgm:pt modelId="{1D54C582-DE16-45F1-BFE7-AA15F496FDFC}" type="sibTrans" cxnId="{62F89582-B1D5-47E7-8FC3-A929DA5EBDB6}">
      <dgm:prSet/>
      <dgm:spPr/>
      <dgm:t>
        <a:bodyPr/>
        <a:lstStyle/>
        <a:p>
          <a:endParaRPr lang="en-US"/>
        </a:p>
      </dgm:t>
    </dgm:pt>
    <dgm:pt modelId="{F6EE9E59-A0A2-4452-8CFF-B9DFD19543B8}">
      <dgm:prSet/>
      <dgm:spPr/>
      <dgm:t>
        <a:bodyPr/>
        <a:lstStyle/>
        <a:p>
          <a:r>
            <a:rPr lang="en-US"/>
            <a:t>Missed Opportunities from Role Players: Despite strong shot quality, Prince and Jackson Jr. couldn’t convert — a margin for future improvement.</a:t>
          </a:r>
        </a:p>
      </dgm:t>
    </dgm:pt>
    <dgm:pt modelId="{5151774D-5FF9-422F-AAD3-F5087327326C}" type="parTrans" cxnId="{0A0CEED3-3A84-4108-8D5B-0DA781634699}">
      <dgm:prSet/>
      <dgm:spPr/>
      <dgm:t>
        <a:bodyPr/>
        <a:lstStyle/>
        <a:p>
          <a:endParaRPr lang="en-US"/>
        </a:p>
      </dgm:t>
    </dgm:pt>
    <dgm:pt modelId="{598B8437-D8F3-4E1F-B481-5D9724C08DDB}" type="sibTrans" cxnId="{0A0CEED3-3A84-4108-8D5B-0DA781634699}">
      <dgm:prSet/>
      <dgm:spPr/>
      <dgm:t>
        <a:bodyPr/>
        <a:lstStyle/>
        <a:p>
          <a:endParaRPr lang="en-US"/>
        </a:p>
      </dgm:t>
    </dgm:pt>
    <dgm:pt modelId="{3EEAD77D-47FF-47F4-BFD3-B7034A920020}" type="pres">
      <dgm:prSet presAssocID="{18F44B07-B7FA-411B-B0CE-DA567A62A620}" presName="diagram" presStyleCnt="0">
        <dgm:presLayoutVars>
          <dgm:dir/>
          <dgm:resizeHandles val="exact"/>
        </dgm:presLayoutVars>
      </dgm:prSet>
      <dgm:spPr/>
    </dgm:pt>
    <dgm:pt modelId="{73CDE3A8-6496-4E55-92DE-02FF58AABA28}" type="pres">
      <dgm:prSet presAssocID="{0F1F1F73-0DDB-4B19-A8A3-A9ED4008D121}" presName="node" presStyleLbl="node1" presStyleIdx="0" presStyleCnt="5">
        <dgm:presLayoutVars>
          <dgm:bulletEnabled val="1"/>
        </dgm:presLayoutVars>
      </dgm:prSet>
      <dgm:spPr/>
    </dgm:pt>
    <dgm:pt modelId="{1338A8BB-DA9F-4B35-BE1F-CDDB5BF719C6}" type="pres">
      <dgm:prSet presAssocID="{F6F59245-6288-4C59-BBEE-A78AA2CD03F9}" presName="sibTrans" presStyleCnt="0"/>
      <dgm:spPr/>
    </dgm:pt>
    <dgm:pt modelId="{CF326B49-016A-44E2-AFCB-B60ED35BF3D0}" type="pres">
      <dgm:prSet presAssocID="{F6C12213-5FAA-4458-B96B-C93AE1C4B080}" presName="node" presStyleLbl="node1" presStyleIdx="1" presStyleCnt="5">
        <dgm:presLayoutVars>
          <dgm:bulletEnabled val="1"/>
        </dgm:presLayoutVars>
      </dgm:prSet>
      <dgm:spPr/>
    </dgm:pt>
    <dgm:pt modelId="{8402687F-AABE-4D81-9F2C-8552F33D0D86}" type="pres">
      <dgm:prSet presAssocID="{D62A3B45-9CD2-4EC8-B2B7-BBBF4D274D7C}" presName="sibTrans" presStyleCnt="0"/>
      <dgm:spPr/>
    </dgm:pt>
    <dgm:pt modelId="{5C4CD0A8-435C-446F-BBC1-0FD449E6EA1E}" type="pres">
      <dgm:prSet presAssocID="{553FB707-CA7D-4F15-8B7F-FDA8AF598B7C}" presName="node" presStyleLbl="node1" presStyleIdx="2" presStyleCnt="5">
        <dgm:presLayoutVars>
          <dgm:bulletEnabled val="1"/>
        </dgm:presLayoutVars>
      </dgm:prSet>
      <dgm:spPr/>
    </dgm:pt>
    <dgm:pt modelId="{4205C1A4-DDF5-4FFE-9011-4025FFAC4C9D}" type="pres">
      <dgm:prSet presAssocID="{376268EE-CE21-4541-8E77-AEE830155802}" presName="sibTrans" presStyleCnt="0"/>
      <dgm:spPr/>
    </dgm:pt>
    <dgm:pt modelId="{337ACDC9-3666-426C-BA03-BAA26BC6217E}" type="pres">
      <dgm:prSet presAssocID="{60B98FEE-B316-4F46-B853-A756BDB59ED9}" presName="node" presStyleLbl="node1" presStyleIdx="3" presStyleCnt="5">
        <dgm:presLayoutVars>
          <dgm:bulletEnabled val="1"/>
        </dgm:presLayoutVars>
      </dgm:prSet>
      <dgm:spPr/>
    </dgm:pt>
    <dgm:pt modelId="{70D87BD8-96B3-4ED4-831B-5CC8BD404520}" type="pres">
      <dgm:prSet presAssocID="{1D54C582-DE16-45F1-BFE7-AA15F496FDFC}" presName="sibTrans" presStyleCnt="0"/>
      <dgm:spPr/>
    </dgm:pt>
    <dgm:pt modelId="{4C4EDD0E-8A33-40A3-AC6C-6BEEEEEA15C2}" type="pres">
      <dgm:prSet presAssocID="{F6EE9E59-A0A2-4452-8CFF-B9DFD19543B8}" presName="node" presStyleLbl="node1" presStyleIdx="4" presStyleCnt="5">
        <dgm:presLayoutVars>
          <dgm:bulletEnabled val="1"/>
        </dgm:presLayoutVars>
      </dgm:prSet>
      <dgm:spPr/>
    </dgm:pt>
  </dgm:ptLst>
  <dgm:cxnLst>
    <dgm:cxn modelId="{FCAE1202-57F3-40E1-BE7A-89CC2EE5E327}" srcId="{18F44B07-B7FA-411B-B0CE-DA567A62A620}" destId="{0F1F1F73-0DDB-4B19-A8A3-A9ED4008D121}" srcOrd="0" destOrd="0" parTransId="{5BFD887F-1111-4C6E-B953-22BDC8D657D9}" sibTransId="{F6F59245-6288-4C59-BBEE-A78AA2CD03F9}"/>
    <dgm:cxn modelId="{BF988C05-1278-4D8C-B759-E8142414A168}" srcId="{18F44B07-B7FA-411B-B0CE-DA567A62A620}" destId="{F6C12213-5FAA-4458-B96B-C93AE1C4B080}" srcOrd="1" destOrd="0" parTransId="{C2CD21DE-ACE3-4A5F-9288-B767A4BEC6FF}" sibTransId="{D62A3B45-9CD2-4EC8-B2B7-BBBF4D274D7C}"/>
    <dgm:cxn modelId="{892ED534-88DF-4C96-ACF4-1163F5DE3FC4}" type="presOf" srcId="{60B98FEE-B316-4F46-B853-A756BDB59ED9}" destId="{337ACDC9-3666-426C-BA03-BAA26BC6217E}" srcOrd="0" destOrd="0" presId="urn:microsoft.com/office/officeart/2005/8/layout/default"/>
    <dgm:cxn modelId="{31463749-E3B0-43F5-B2FD-039E36C484C0}" type="presOf" srcId="{18F44B07-B7FA-411B-B0CE-DA567A62A620}" destId="{3EEAD77D-47FF-47F4-BFD3-B7034A920020}" srcOrd="0" destOrd="0" presId="urn:microsoft.com/office/officeart/2005/8/layout/default"/>
    <dgm:cxn modelId="{3297AE7F-4BF4-4B3E-A8DE-6292388A4998}" type="presOf" srcId="{F6C12213-5FAA-4458-B96B-C93AE1C4B080}" destId="{CF326B49-016A-44E2-AFCB-B60ED35BF3D0}" srcOrd="0" destOrd="0" presId="urn:microsoft.com/office/officeart/2005/8/layout/default"/>
    <dgm:cxn modelId="{62F89582-B1D5-47E7-8FC3-A929DA5EBDB6}" srcId="{18F44B07-B7FA-411B-B0CE-DA567A62A620}" destId="{60B98FEE-B316-4F46-B853-A756BDB59ED9}" srcOrd="3" destOrd="0" parTransId="{DCB99AD3-064D-4B2F-AEAE-A01D800230BD}" sibTransId="{1D54C582-DE16-45F1-BFE7-AA15F496FDFC}"/>
    <dgm:cxn modelId="{BDED6883-A473-4AD8-AD7A-53CF5395CD3B}" srcId="{18F44B07-B7FA-411B-B0CE-DA567A62A620}" destId="{553FB707-CA7D-4F15-8B7F-FDA8AF598B7C}" srcOrd="2" destOrd="0" parTransId="{31340839-1B46-492D-9FE5-BE1A6CC30316}" sibTransId="{376268EE-CE21-4541-8E77-AEE830155802}"/>
    <dgm:cxn modelId="{2D00BD8D-CC49-45D3-843C-0601D2B377A2}" type="presOf" srcId="{0F1F1F73-0DDB-4B19-A8A3-A9ED4008D121}" destId="{73CDE3A8-6496-4E55-92DE-02FF58AABA28}" srcOrd="0" destOrd="0" presId="urn:microsoft.com/office/officeart/2005/8/layout/default"/>
    <dgm:cxn modelId="{B6B60391-96E4-498C-84B2-19A8780FF5B3}" type="presOf" srcId="{F6EE9E59-A0A2-4452-8CFF-B9DFD19543B8}" destId="{4C4EDD0E-8A33-40A3-AC6C-6BEEEEEA15C2}" srcOrd="0" destOrd="0" presId="urn:microsoft.com/office/officeart/2005/8/layout/default"/>
    <dgm:cxn modelId="{0A0CEED3-3A84-4108-8D5B-0DA781634699}" srcId="{18F44B07-B7FA-411B-B0CE-DA567A62A620}" destId="{F6EE9E59-A0A2-4452-8CFF-B9DFD19543B8}" srcOrd="4" destOrd="0" parTransId="{5151774D-5FF9-422F-AAD3-F5087327326C}" sibTransId="{598B8437-D8F3-4E1F-B481-5D9724C08DDB}"/>
    <dgm:cxn modelId="{D28EFCD9-8CF7-4069-AB38-231AE69BE6A6}" type="presOf" srcId="{553FB707-CA7D-4F15-8B7F-FDA8AF598B7C}" destId="{5C4CD0A8-435C-446F-BBC1-0FD449E6EA1E}" srcOrd="0" destOrd="0" presId="urn:microsoft.com/office/officeart/2005/8/layout/default"/>
    <dgm:cxn modelId="{3D2FF1D4-8E73-4D3C-850C-A9C1CD10BDD0}" type="presParOf" srcId="{3EEAD77D-47FF-47F4-BFD3-B7034A920020}" destId="{73CDE3A8-6496-4E55-92DE-02FF58AABA28}" srcOrd="0" destOrd="0" presId="urn:microsoft.com/office/officeart/2005/8/layout/default"/>
    <dgm:cxn modelId="{ADA2928E-6E91-45E2-948A-FC7231C2749B}" type="presParOf" srcId="{3EEAD77D-47FF-47F4-BFD3-B7034A920020}" destId="{1338A8BB-DA9F-4B35-BE1F-CDDB5BF719C6}" srcOrd="1" destOrd="0" presId="urn:microsoft.com/office/officeart/2005/8/layout/default"/>
    <dgm:cxn modelId="{F6F9ABA8-2D52-4A64-B3FE-3156C95B62BD}" type="presParOf" srcId="{3EEAD77D-47FF-47F4-BFD3-B7034A920020}" destId="{CF326B49-016A-44E2-AFCB-B60ED35BF3D0}" srcOrd="2" destOrd="0" presId="urn:microsoft.com/office/officeart/2005/8/layout/default"/>
    <dgm:cxn modelId="{A928918A-A0CF-45B9-BA28-CF7B27DC4D13}" type="presParOf" srcId="{3EEAD77D-47FF-47F4-BFD3-B7034A920020}" destId="{8402687F-AABE-4D81-9F2C-8552F33D0D86}" srcOrd="3" destOrd="0" presId="urn:microsoft.com/office/officeart/2005/8/layout/default"/>
    <dgm:cxn modelId="{69A9033E-ADCF-4087-BD5F-FF8906D86383}" type="presParOf" srcId="{3EEAD77D-47FF-47F4-BFD3-B7034A920020}" destId="{5C4CD0A8-435C-446F-BBC1-0FD449E6EA1E}" srcOrd="4" destOrd="0" presId="urn:microsoft.com/office/officeart/2005/8/layout/default"/>
    <dgm:cxn modelId="{36B6E2FB-6981-4546-B81F-FD0857F95098}" type="presParOf" srcId="{3EEAD77D-47FF-47F4-BFD3-B7034A920020}" destId="{4205C1A4-DDF5-4FFE-9011-4025FFAC4C9D}" srcOrd="5" destOrd="0" presId="urn:microsoft.com/office/officeart/2005/8/layout/default"/>
    <dgm:cxn modelId="{6B85B6F2-DD3A-434F-9194-AEC4E5AEB202}" type="presParOf" srcId="{3EEAD77D-47FF-47F4-BFD3-B7034A920020}" destId="{337ACDC9-3666-426C-BA03-BAA26BC6217E}" srcOrd="6" destOrd="0" presId="urn:microsoft.com/office/officeart/2005/8/layout/default"/>
    <dgm:cxn modelId="{AEBD461F-0B6E-446B-9F7C-F9406115F36A}" type="presParOf" srcId="{3EEAD77D-47FF-47F4-BFD3-B7034A920020}" destId="{70D87BD8-96B3-4ED4-831B-5CC8BD404520}" srcOrd="7" destOrd="0" presId="urn:microsoft.com/office/officeart/2005/8/layout/default"/>
    <dgm:cxn modelId="{864B7C1C-6900-4916-9E4F-5FB4ECB5A81D}" type="presParOf" srcId="{3EEAD77D-47FF-47F4-BFD3-B7034A920020}" destId="{4C4EDD0E-8A33-40A3-AC6C-6BEEEEEA15C2}" srcOrd="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348FC19-6CC3-4460-9089-89A4AB6E15AA}">
      <dsp:nvSpPr>
        <dsp:cNvPr id="0" name=""/>
        <dsp:cNvSpPr/>
      </dsp:nvSpPr>
      <dsp:spPr>
        <a:xfrm>
          <a:off x="0" y="2150"/>
          <a:ext cx="6172199" cy="1089957"/>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B0E3332-E90F-4729-8E0D-D51A32DE7821}">
      <dsp:nvSpPr>
        <dsp:cNvPr id="0" name=""/>
        <dsp:cNvSpPr/>
      </dsp:nvSpPr>
      <dsp:spPr>
        <a:xfrm>
          <a:off x="329712" y="247391"/>
          <a:ext cx="599476" cy="59947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BFE5AE6-D258-4476-9E48-2BEEB213FADF}">
      <dsp:nvSpPr>
        <dsp:cNvPr id="0" name=""/>
        <dsp:cNvSpPr/>
      </dsp:nvSpPr>
      <dsp:spPr>
        <a:xfrm>
          <a:off x="1258901" y="2150"/>
          <a:ext cx="4913298" cy="10899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5354" tIns="115354" rIns="115354" bIns="115354" numCol="1" spcCol="1270" anchor="ctr" anchorCtr="0">
          <a:noAutofit/>
        </a:bodyPr>
        <a:lstStyle/>
        <a:p>
          <a:pPr marL="0" lvl="0" indent="0" algn="l" defTabSz="666750">
            <a:lnSpc>
              <a:spcPct val="90000"/>
            </a:lnSpc>
            <a:spcBef>
              <a:spcPct val="0"/>
            </a:spcBef>
            <a:spcAft>
              <a:spcPct val="35000"/>
            </a:spcAft>
            <a:buNone/>
          </a:pPr>
          <a:r>
            <a:rPr lang="en-US" sz="1500" kern="1200" dirty="0">
              <a:solidFill>
                <a:schemeClr val="bg1">
                  <a:lumMod val="85000"/>
                  <a:lumOff val="15000"/>
                </a:schemeClr>
              </a:solidFill>
            </a:rPr>
            <a:t>In the NBA Cup Final between the Milwaukee Bucks and the Oklahoma City Thunder, the Bucks prevailed 97 to 81. </a:t>
          </a:r>
        </a:p>
      </dsp:txBody>
      <dsp:txXfrm>
        <a:off x="1258901" y="2150"/>
        <a:ext cx="4913298" cy="1089957"/>
      </dsp:txXfrm>
    </dsp:sp>
    <dsp:sp modelId="{CE80E8C3-8193-4258-BA23-5206199C172F}">
      <dsp:nvSpPr>
        <dsp:cNvPr id="0" name=""/>
        <dsp:cNvSpPr/>
      </dsp:nvSpPr>
      <dsp:spPr>
        <a:xfrm>
          <a:off x="0" y="1364597"/>
          <a:ext cx="6172199" cy="1089957"/>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F0781EA-5188-4D7F-A4E0-C8F159A4350A}">
      <dsp:nvSpPr>
        <dsp:cNvPr id="0" name=""/>
        <dsp:cNvSpPr/>
      </dsp:nvSpPr>
      <dsp:spPr>
        <a:xfrm>
          <a:off x="329712" y="1609838"/>
          <a:ext cx="599476" cy="599476"/>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3B9F8FA-8D2E-4329-A287-7F237FCCF7FC}">
      <dsp:nvSpPr>
        <dsp:cNvPr id="0" name=""/>
        <dsp:cNvSpPr/>
      </dsp:nvSpPr>
      <dsp:spPr>
        <a:xfrm>
          <a:off x="1258901" y="1364597"/>
          <a:ext cx="4913298" cy="10899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5354" tIns="115354" rIns="115354" bIns="115354" numCol="1" spcCol="1270" anchor="ctr" anchorCtr="0">
          <a:noAutofit/>
        </a:bodyPr>
        <a:lstStyle/>
        <a:p>
          <a:pPr marL="0" lvl="0" indent="0" algn="l" defTabSz="666750">
            <a:lnSpc>
              <a:spcPct val="90000"/>
            </a:lnSpc>
            <a:spcBef>
              <a:spcPct val="0"/>
            </a:spcBef>
            <a:spcAft>
              <a:spcPct val="35000"/>
            </a:spcAft>
            <a:buNone/>
          </a:pPr>
          <a:r>
            <a:rPr lang="en-US" sz="1500" kern="1200" dirty="0">
              <a:solidFill>
                <a:schemeClr val="bg1">
                  <a:lumMod val="85000"/>
                  <a:lumOff val="15000"/>
                </a:schemeClr>
              </a:solidFill>
            </a:rPr>
            <a:t>Giannis Antetokounmpo and Shai Gilgeous-Alexander led their teams in scoring with </a:t>
          </a:r>
          <a:r>
            <a:rPr lang="en-US" sz="1500" b="1" kern="1200" dirty="0">
              <a:solidFill>
                <a:schemeClr val="bg1">
                  <a:lumMod val="85000"/>
                  <a:lumOff val="15000"/>
                </a:schemeClr>
              </a:solidFill>
            </a:rPr>
            <a:t>26</a:t>
          </a:r>
          <a:r>
            <a:rPr lang="en-US" sz="1500" kern="1200" dirty="0">
              <a:solidFill>
                <a:schemeClr val="bg1">
                  <a:lumMod val="85000"/>
                  <a:lumOff val="15000"/>
                </a:schemeClr>
              </a:solidFill>
            </a:rPr>
            <a:t> and </a:t>
          </a:r>
          <a:r>
            <a:rPr lang="en-US" sz="1500" b="1" kern="1200" dirty="0">
              <a:solidFill>
                <a:schemeClr val="bg1">
                  <a:lumMod val="85000"/>
                  <a:lumOff val="15000"/>
                </a:schemeClr>
              </a:solidFill>
            </a:rPr>
            <a:t>23</a:t>
          </a:r>
          <a:r>
            <a:rPr lang="en-US" sz="1500" kern="1200" dirty="0">
              <a:solidFill>
                <a:schemeClr val="bg1">
                  <a:lumMod val="85000"/>
                  <a:lumOff val="15000"/>
                </a:schemeClr>
              </a:solidFill>
            </a:rPr>
            <a:t>. </a:t>
          </a:r>
        </a:p>
      </dsp:txBody>
      <dsp:txXfrm>
        <a:off x="1258901" y="1364597"/>
        <a:ext cx="4913298" cy="1089957"/>
      </dsp:txXfrm>
    </dsp:sp>
    <dsp:sp modelId="{F0332529-85E5-4CF7-A085-0B21151E0521}">
      <dsp:nvSpPr>
        <dsp:cNvPr id="0" name=""/>
        <dsp:cNvSpPr/>
      </dsp:nvSpPr>
      <dsp:spPr>
        <a:xfrm>
          <a:off x="0" y="2727045"/>
          <a:ext cx="6172199" cy="1089957"/>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D26D0F7-0F12-4782-AE31-6E330AAFD41F}">
      <dsp:nvSpPr>
        <dsp:cNvPr id="0" name=""/>
        <dsp:cNvSpPr/>
      </dsp:nvSpPr>
      <dsp:spPr>
        <a:xfrm>
          <a:off x="329712" y="2972285"/>
          <a:ext cx="599476" cy="599476"/>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E502CC7-3673-4D05-B610-C82FBC8C7335}">
      <dsp:nvSpPr>
        <dsp:cNvPr id="0" name=""/>
        <dsp:cNvSpPr/>
      </dsp:nvSpPr>
      <dsp:spPr>
        <a:xfrm>
          <a:off x="1258901" y="2727045"/>
          <a:ext cx="4913298" cy="10899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5354" tIns="115354" rIns="115354" bIns="115354" numCol="1" spcCol="1270" anchor="ctr" anchorCtr="0">
          <a:noAutofit/>
        </a:bodyPr>
        <a:lstStyle/>
        <a:p>
          <a:pPr marL="0" lvl="0" indent="0" algn="l" defTabSz="666750">
            <a:lnSpc>
              <a:spcPct val="90000"/>
            </a:lnSpc>
            <a:spcBef>
              <a:spcPct val="0"/>
            </a:spcBef>
            <a:spcAft>
              <a:spcPct val="35000"/>
            </a:spcAft>
            <a:buNone/>
          </a:pPr>
          <a:r>
            <a:rPr lang="en-US" sz="1500" kern="1200" dirty="0">
              <a:solidFill>
                <a:schemeClr val="bg1">
                  <a:lumMod val="85000"/>
                  <a:lumOff val="15000"/>
                </a:schemeClr>
              </a:solidFill>
            </a:rPr>
            <a:t>The game was competitive in the first half, but the Bucks extended their lead by outscoring the Thunder </a:t>
          </a:r>
          <a:r>
            <a:rPr lang="en-US" sz="1500" b="1" kern="1200" dirty="0">
              <a:solidFill>
                <a:schemeClr val="bg1">
                  <a:lumMod val="85000"/>
                  <a:lumOff val="15000"/>
                </a:schemeClr>
              </a:solidFill>
            </a:rPr>
            <a:t>26</a:t>
          </a:r>
          <a:r>
            <a:rPr lang="en-US" sz="1500" kern="1200" dirty="0">
              <a:solidFill>
                <a:schemeClr val="bg1">
                  <a:lumMod val="85000"/>
                  <a:lumOff val="15000"/>
                </a:schemeClr>
              </a:solidFill>
            </a:rPr>
            <a:t> to </a:t>
          </a:r>
          <a:r>
            <a:rPr lang="en-US" sz="1500" b="1" kern="1200" dirty="0">
              <a:solidFill>
                <a:schemeClr val="bg1">
                  <a:lumMod val="85000"/>
                  <a:lumOff val="15000"/>
                </a:schemeClr>
              </a:solidFill>
            </a:rPr>
            <a:t>14</a:t>
          </a:r>
          <a:r>
            <a:rPr lang="en-US" sz="1500" kern="1200" dirty="0">
              <a:solidFill>
                <a:schemeClr val="bg1">
                  <a:lumMod val="85000"/>
                  <a:lumOff val="15000"/>
                </a:schemeClr>
              </a:solidFill>
            </a:rPr>
            <a:t> in the third quarter.</a:t>
          </a:r>
        </a:p>
      </dsp:txBody>
      <dsp:txXfrm>
        <a:off x="1258901" y="2727045"/>
        <a:ext cx="4913298" cy="1089957"/>
      </dsp:txXfrm>
    </dsp:sp>
    <dsp:sp modelId="{E57FB71C-E4B6-49A0-86B5-04EB32C7B119}">
      <dsp:nvSpPr>
        <dsp:cNvPr id="0" name=""/>
        <dsp:cNvSpPr/>
      </dsp:nvSpPr>
      <dsp:spPr>
        <a:xfrm>
          <a:off x="0" y="4089492"/>
          <a:ext cx="6172199" cy="1089957"/>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87DAE1C-A530-497F-83F9-7F130470B53A}">
      <dsp:nvSpPr>
        <dsp:cNvPr id="0" name=""/>
        <dsp:cNvSpPr/>
      </dsp:nvSpPr>
      <dsp:spPr>
        <a:xfrm>
          <a:off x="329712" y="4334733"/>
          <a:ext cx="599476" cy="599476"/>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98976B4-1D7A-43F0-B806-44FC955F1C81}">
      <dsp:nvSpPr>
        <dsp:cNvPr id="0" name=""/>
        <dsp:cNvSpPr/>
      </dsp:nvSpPr>
      <dsp:spPr>
        <a:xfrm>
          <a:off x="1258901" y="4089492"/>
          <a:ext cx="4913298" cy="10899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5354" tIns="115354" rIns="115354" bIns="115354" numCol="1" spcCol="1270" anchor="ctr" anchorCtr="0">
          <a:noAutofit/>
        </a:bodyPr>
        <a:lstStyle/>
        <a:p>
          <a:pPr marL="0" lvl="0" indent="0" algn="l" defTabSz="666750">
            <a:lnSpc>
              <a:spcPct val="90000"/>
            </a:lnSpc>
            <a:spcBef>
              <a:spcPct val="0"/>
            </a:spcBef>
            <a:spcAft>
              <a:spcPct val="35000"/>
            </a:spcAft>
            <a:buNone/>
          </a:pPr>
          <a:r>
            <a:rPr lang="en-US" sz="1500" kern="1200" dirty="0">
              <a:solidFill>
                <a:schemeClr val="bg1">
                  <a:lumMod val="85000"/>
                  <a:lumOff val="15000"/>
                </a:schemeClr>
              </a:solidFill>
            </a:rPr>
            <a:t>The Thunder team shot </a:t>
          </a:r>
          <a:r>
            <a:rPr lang="en-US" sz="1500" b="1" kern="1200" dirty="0">
              <a:solidFill>
                <a:schemeClr val="bg1">
                  <a:lumMod val="85000"/>
                  <a:lumOff val="15000"/>
                </a:schemeClr>
              </a:solidFill>
            </a:rPr>
            <a:t>33.7% </a:t>
          </a:r>
          <a:r>
            <a:rPr lang="en-US" sz="1500" kern="1200" dirty="0">
              <a:solidFill>
                <a:schemeClr val="bg1">
                  <a:lumMod val="85000"/>
                  <a:lumOff val="15000"/>
                </a:schemeClr>
              </a:solidFill>
            </a:rPr>
            <a:t>overall, with </a:t>
          </a:r>
          <a:r>
            <a:rPr lang="en-US" sz="1500" b="1" kern="1200" dirty="0">
              <a:solidFill>
                <a:schemeClr val="bg1">
                  <a:lumMod val="85000"/>
                  <a:lumOff val="15000"/>
                </a:schemeClr>
              </a:solidFill>
            </a:rPr>
            <a:t>15.6%</a:t>
          </a:r>
          <a:r>
            <a:rPr lang="en-US" sz="1500" kern="1200" dirty="0">
              <a:solidFill>
                <a:schemeClr val="bg1">
                  <a:lumMod val="85000"/>
                  <a:lumOff val="15000"/>
                </a:schemeClr>
              </a:solidFill>
            </a:rPr>
            <a:t> from three-point range. In the third quarter, they shot </a:t>
          </a:r>
          <a:r>
            <a:rPr lang="en-US" sz="1500" b="1" kern="1200" dirty="0">
              <a:solidFill>
                <a:schemeClr val="bg1">
                  <a:lumMod val="85000"/>
                  <a:lumOff val="15000"/>
                </a:schemeClr>
              </a:solidFill>
            </a:rPr>
            <a:t>26.3%</a:t>
          </a:r>
          <a:r>
            <a:rPr lang="en-US" sz="1500" kern="1200" dirty="0">
              <a:solidFill>
                <a:schemeClr val="bg1">
                  <a:lumMod val="85000"/>
                  <a:lumOff val="15000"/>
                </a:schemeClr>
              </a:solidFill>
            </a:rPr>
            <a:t> field goal percentage and </a:t>
          </a:r>
          <a:r>
            <a:rPr lang="en-US" sz="1500" b="1" kern="1200" dirty="0">
              <a:solidFill>
                <a:schemeClr val="bg1">
                  <a:lumMod val="85000"/>
                  <a:lumOff val="15000"/>
                </a:schemeClr>
              </a:solidFill>
            </a:rPr>
            <a:t>28.6%</a:t>
          </a:r>
          <a:r>
            <a:rPr lang="en-US" sz="1500" kern="1200" dirty="0">
              <a:solidFill>
                <a:schemeClr val="bg1">
                  <a:lumMod val="85000"/>
                  <a:lumOff val="15000"/>
                </a:schemeClr>
              </a:solidFill>
            </a:rPr>
            <a:t> from three-point range. (Had FG% of 48.2 and 3P% of 31.3 previously).</a:t>
          </a:r>
        </a:p>
      </dsp:txBody>
      <dsp:txXfrm>
        <a:off x="1258901" y="4089492"/>
        <a:ext cx="4913298" cy="108995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DAD2CD0-ADFA-47E1-B224-373BAFA8FCAD}">
      <dsp:nvSpPr>
        <dsp:cNvPr id="0" name=""/>
        <dsp:cNvSpPr/>
      </dsp:nvSpPr>
      <dsp:spPr>
        <a:xfrm>
          <a:off x="0" y="3525"/>
          <a:ext cx="6172199" cy="100035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b="1" i="0" kern="1200" baseline="0"/>
            <a:t>Milwaukee Scored From All Over the Floor</a:t>
          </a:r>
          <a:br>
            <a:rPr lang="en-US" sz="1500" b="0" i="0" kern="1200" baseline="0"/>
          </a:br>
          <a:r>
            <a:rPr lang="en-US" sz="1500" b="0" i="0" kern="1200" baseline="0"/>
            <a:t>The Bucks spread their shot attempts across the half court — inside, mid-range, and beyond the arc — keeping OKC’s defense off balance. In contrast, OKC mostly attacked from the middle and became predictable.</a:t>
          </a:r>
          <a:endParaRPr lang="en-US" sz="1500" kern="1200"/>
        </a:p>
      </dsp:txBody>
      <dsp:txXfrm>
        <a:off x="48833" y="52358"/>
        <a:ext cx="6074533" cy="902684"/>
      </dsp:txXfrm>
    </dsp:sp>
    <dsp:sp modelId="{833FBBCD-409D-47F4-A8AC-4E9827E3068E}">
      <dsp:nvSpPr>
        <dsp:cNvPr id="0" name=""/>
        <dsp:cNvSpPr/>
      </dsp:nvSpPr>
      <dsp:spPr>
        <a:xfrm>
          <a:off x="0" y="1047075"/>
          <a:ext cx="6172199" cy="100035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b="1" i="0" kern="1200" baseline="0" dirty="0"/>
            <a:t>Defensive Game Plan Worked on OKC’s Star</a:t>
          </a:r>
          <a:br>
            <a:rPr lang="en-US" sz="1500" b="0" i="0" kern="1200" baseline="0" dirty="0"/>
          </a:br>
          <a:r>
            <a:rPr lang="en-US" sz="1500" b="1" i="0" kern="1200" baseline="0" dirty="0"/>
            <a:t>Shai Gilgeous-Alexander </a:t>
          </a:r>
          <a:r>
            <a:rPr lang="en-US" sz="1500" b="0" i="0" kern="1200" baseline="0" dirty="0"/>
            <a:t>was held to lower shot quality than usual. Milwaukee’s defensive pressure limited his ability to take over the game.</a:t>
          </a:r>
          <a:endParaRPr lang="en-US" sz="1500" kern="1200" dirty="0"/>
        </a:p>
      </dsp:txBody>
      <dsp:txXfrm>
        <a:off x="48833" y="1095908"/>
        <a:ext cx="6074533" cy="902684"/>
      </dsp:txXfrm>
    </dsp:sp>
    <dsp:sp modelId="{1E52ADA1-BA72-470E-B79E-F71C55E20F71}">
      <dsp:nvSpPr>
        <dsp:cNvPr id="0" name=""/>
        <dsp:cNvSpPr/>
      </dsp:nvSpPr>
      <dsp:spPr>
        <a:xfrm>
          <a:off x="0" y="2090625"/>
          <a:ext cx="6172199" cy="100035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b="1" i="0" kern="1200" baseline="0" dirty="0"/>
            <a:t>Clutch Execution Made the Difference</a:t>
          </a:r>
          <a:br>
            <a:rPr lang="en-US" sz="1500" b="0" i="0" kern="1200" baseline="0" dirty="0"/>
          </a:br>
          <a:r>
            <a:rPr lang="en-US" sz="1500" b="0" i="0" kern="1200" baseline="0" dirty="0"/>
            <a:t>The Bucks outperformed the Thunder during key stretches — especially late in the 1st half and especially in the 3rd quarter — swinging momentum in their favor.</a:t>
          </a:r>
          <a:endParaRPr lang="en-US" sz="1500" kern="1200" dirty="0"/>
        </a:p>
      </dsp:txBody>
      <dsp:txXfrm>
        <a:off x="48833" y="2139458"/>
        <a:ext cx="6074533" cy="902684"/>
      </dsp:txXfrm>
    </dsp:sp>
    <dsp:sp modelId="{994A74A7-B2E7-434A-A28E-378C8F744A16}">
      <dsp:nvSpPr>
        <dsp:cNvPr id="0" name=""/>
        <dsp:cNvSpPr/>
      </dsp:nvSpPr>
      <dsp:spPr>
        <a:xfrm>
          <a:off x="0" y="3134175"/>
          <a:ext cx="6172199" cy="100035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b="1" i="0" kern="1200" baseline="0" dirty="0"/>
            <a:t>More Efficient with Similar Shot Quality</a:t>
          </a:r>
          <a:br>
            <a:rPr lang="en-US" sz="1500" b="0" i="0" kern="1200" baseline="0" dirty="0"/>
          </a:br>
          <a:r>
            <a:rPr lang="en-US" sz="1500" b="0" i="0" kern="1200" baseline="0" dirty="0"/>
            <a:t>Despite both teams generating comparable shot quality, the Bucks were significantly more efficient in converting those chances, reflecting better shot selection and execution.</a:t>
          </a:r>
          <a:endParaRPr lang="en-US" sz="1500" kern="1200" dirty="0"/>
        </a:p>
      </dsp:txBody>
      <dsp:txXfrm>
        <a:off x="48833" y="3183008"/>
        <a:ext cx="6074533" cy="902684"/>
      </dsp:txXfrm>
    </dsp:sp>
    <dsp:sp modelId="{41980ADF-5A11-4ED9-9021-CFBDDC5559E6}">
      <dsp:nvSpPr>
        <dsp:cNvPr id="0" name=""/>
        <dsp:cNvSpPr/>
      </dsp:nvSpPr>
      <dsp:spPr>
        <a:xfrm>
          <a:off x="0" y="4177725"/>
          <a:ext cx="6172199" cy="100035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l" defTabSz="666750">
            <a:lnSpc>
              <a:spcPct val="90000"/>
            </a:lnSpc>
            <a:spcBef>
              <a:spcPct val="0"/>
            </a:spcBef>
            <a:spcAft>
              <a:spcPct val="35000"/>
            </a:spcAft>
            <a:buNone/>
          </a:pPr>
          <a:r>
            <a:rPr lang="en-US" sz="1500" b="1" i="0" kern="1200" baseline="0" dirty="0"/>
            <a:t>Room to Grow: High-Quality Shooters Underperformed</a:t>
          </a:r>
          <a:br>
            <a:rPr lang="en-US" sz="1500" b="0" i="0" kern="1200" baseline="0" dirty="0"/>
          </a:br>
          <a:r>
            <a:rPr lang="en-US" sz="1500" b="0" i="0" kern="1200" baseline="0" dirty="0"/>
            <a:t>Players like </a:t>
          </a:r>
          <a:r>
            <a:rPr lang="en-US" sz="1500" b="1" i="0" kern="1200" baseline="0" dirty="0"/>
            <a:t>Prince</a:t>
          </a:r>
          <a:r>
            <a:rPr lang="en-US" sz="1500" b="0" i="0" kern="1200" baseline="0" dirty="0"/>
            <a:t> and </a:t>
          </a:r>
          <a:r>
            <a:rPr lang="en-US" sz="1500" b="1" i="0" kern="1200" baseline="0" dirty="0"/>
            <a:t>Jackson Jr</a:t>
          </a:r>
          <a:r>
            <a:rPr lang="en-US" sz="1500" b="0" i="0" kern="1200" baseline="0" dirty="0"/>
            <a:t>. had great opportunities but didn’t convert. Focusing on confidence and rhythm could unlock more scoring potential.</a:t>
          </a:r>
          <a:endParaRPr lang="en-US" sz="1500" kern="1200" dirty="0"/>
        </a:p>
      </dsp:txBody>
      <dsp:txXfrm>
        <a:off x="48833" y="4226558"/>
        <a:ext cx="6074533" cy="90268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CC64AB-86E5-4E2B-918F-5458C8832840}">
      <dsp:nvSpPr>
        <dsp:cNvPr id="0" name=""/>
        <dsp:cNvSpPr/>
      </dsp:nvSpPr>
      <dsp:spPr>
        <a:xfrm>
          <a:off x="0" y="84559"/>
          <a:ext cx="6172199" cy="121424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The Bucks demonstrated superior perimeter efficiency, hitting </a:t>
          </a:r>
          <a:r>
            <a:rPr lang="en-US" sz="1800" b="1" kern="1200" dirty="0"/>
            <a:t>41%</a:t>
          </a:r>
          <a:r>
            <a:rPr lang="en-US" sz="1800" kern="1200" dirty="0"/>
            <a:t> of their outside shots vs OKC’s </a:t>
          </a:r>
          <a:r>
            <a:rPr lang="en-US" sz="1800" b="1" kern="1200" dirty="0"/>
            <a:t>16% </a:t>
          </a:r>
          <a:r>
            <a:rPr lang="en-US" sz="1800" kern="1200" dirty="0"/>
            <a:t>(</a:t>
          </a:r>
          <a:r>
            <a:rPr lang="en-US" sz="1800" kern="1200" dirty="0">
              <a:hlinkClick xmlns:r="http://schemas.openxmlformats.org/officeDocument/2006/relationships" r:id="" action="ppaction://hlinksldjump"/>
            </a:rPr>
            <a:t>A1: Shot Chart For the Bucks &amp; Thunder</a:t>
          </a:r>
          <a:r>
            <a:rPr lang="en-US" sz="1800" kern="1200" dirty="0"/>
            <a:t>).</a:t>
          </a:r>
        </a:p>
      </dsp:txBody>
      <dsp:txXfrm>
        <a:off x="59274" y="143833"/>
        <a:ext cx="6053651" cy="1095692"/>
      </dsp:txXfrm>
    </dsp:sp>
    <dsp:sp modelId="{7A179E75-480E-44CA-A962-47425A60E246}">
      <dsp:nvSpPr>
        <dsp:cNvPr id="0" name=""/>
        <dsp:cNvSpPr/>
      </dsp:nvSpPr>
      <dsp:spPr>
        <a:xfrm>
          <a:off x="0" y="1350639"/>
          <a:ext cx="6172199" cy="121424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Milwaukee demonstrated a stronger performance within the paint, right wing, and corner areas of the court. (</a:t>
          </a:r>
          <a:r>
            <a:rPr lang="en-US" sz="1800" kern="1200" dirty="0">
              <a:hlinkClick xmlns:r="http://schemas.openxmlformats.org/officeDocument/2006/relationships" r:id="" action="ppaction://hlinksldjump"/>
            </a:rPr>
            <a:t>A2: Shot Chart For the Bucks &amp; Thunder</a:t>
          </a:r>
          <a:r>
            <a:rPr lang="en-US" sz="1800" kern="1200" dirty="0"/>
            <a:t> &amp; (</a:t>
          </a:r>
          <a:r>
            <a:rPr lang="en-US" sz="1800" kern="1200" dirty="0">
              <a:hlinkClick xmlns:r="http://schemas.openxmlformats.org/officeDocument/2006/relationships" r:id="" action="ppaction://hlinksldjump"/>
            </a:rPr>
            <a:t>A3:Shot Zone &amp; Shot Type Percentages</a:t>
          </a:r>
          <a:r>
            <a:rPr lang="en-US" sz="1800" kern="1200" dirty="0"/>
            <a:t>).</a:t>
          </a:r>
        </a:p>
      </dsp:txBody>
      <dsp:txXfrm>
        <a:off x="59274" y="1409913"/>
        <a:ext cx="6053651" cy="1095692"/>
      </dsp:txXfrm>
    </dsp:sp>
    <dsp:sp modelId="{D01B1AA9-89D6-4A00-9D3C-2BA553FE574C}">
      <dsp:nvSpPr>
        <dsp:cNvPr id="0" name=""/>
        <dsp:cNvSpPr/>
      </dsp:nvSpPr>
      <dsp:spPr>
        <a:xfrm>
          <a:off x="0" y="2616720"/>
          <a:ext cx="6172199" cy="121424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The Bucks were more efficient on layups and post attempts, while OKC struggled with 3-point shooting. (</a:t>
          </a:r>
          <a:r>
            <a:rPr lang="en-US" sz="1800" kern="1200" dirty="0">
              <a:hlinkClick xmlns:r="http://schemas.openxmlformats.org/officeDocument/2006/relationships" r:id="" action="ppaction://hlinksldjump"/>
            </a:rPr>
            <a:t>A3: Shot Zone &amp; Shot Type Percentages</a:t>
          </a:r>
          <a:r>
            <a:rPr lang="en-US" sz="1800" kern="1200" dirty="0"/>
            <a:t>).</a:t>
          </a:r>
        </a:p>
      </dsp:txBody>
      <dsp:txXfrm>
        <a:off x="59274" y="2675994"/>
        <a:ext cx="6053651" cy="1095692"/>
      </dsp:txXfrm>
    </dsp:sp>
    <dsp:sp modelId="{C4A1A009-2E67-4B99-91CF-B5F56E7DEBB7}">
      <dsp:nvSpPr>
        <dsp:cNvPr id="0" name=""/>
        <dsp:cNvSpPr/>
      </dsp:nvSpPr>
      <dsp:spPr>
        <a:xfrm>
          <a:off x="0" y="3882801"/>
          <a:ext cx="6172199" cy="121424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Milwaukee distributed shots more evenly compared to the Thunder, and the Thunder relied on mid-range jumpers (</a:t>
          </a:r>
          <a:r>
            <a:rPr lang="en-US" sz="1800" kern="1200" dirty="0">
              <a:hlinkClick xmlns:r="http://schemas.openxmlformats.org/officeDocument/2006/relationships" r:id="" action="ppaction://hlinksldjump"/>
            </a:rPr>
            <a:t>A2: Shot Chart For the Bucks &amp; Thunder</a:t>
          </a:r>
          <a:r>
            <a:rPr lang="en-US" sz="1800" kern="1200" dirty="0"/>
            <a:t>). </a:t>
          </a:r>
        </a:p>
      </dsp:txBody>
      <dsp:txXfrm>
        <a:off x="59274" y="3942075"/>
        <a:ext cx="6053651" cy="109569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5E516E-BAE4-4188-8F97-A122EB5E9AA9}">
      <dsp:nvSpPr>
        <dsp:cNvPr id="0" name=""/>
        <dsp:cNvSpPr/>
      </dsp:nvSpPr>
      <dsp:spPr>
        <a:xfrm>
          <a:off x="0" y="2150"/>
          <a:ext cx="6172199" cy="1089957"/>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E6212FF-36B7-40EF-A8B9-685C3A9A82C2}">
      <dsp:nvSpPr>
        <dsp:cNvPr id="0" name=""/>
        <dsp:cNvSpPr/>
      </dsp:nvSpPr>
      <dsp:spPr>
        <a:xfrm>
          <a:off x="329712" y="247391"/>
          <a:ext cx="599476" cy="599476"/>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2F25CAA-8417-4DB3-9E63-215D72E09C12}">
      <dsp:nvSpPr>
        <dsp:cNvPr id="0" name=""/>
        <dsp:cNvSpPr/>
      </dsp:nvSpPr>
      <dsp:spPr>
        <a:xfrm>
          <a:off x="1258901" y="2150"/>
          <a:ext cx="4913298" cy="10899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5354" tIns="115354" rIns="115354" bIns="115354" numCol="1" spcCol="1270" anchor="ctr" anchorCtr="0">
          <a:noAutofit/>
        </a:bodyPr>
        <a:lstStyle/>
        <a:p>
          <a:pPr marL="0" lvl="0" indent="0" algn="l" defTabSz="711200">
            <a:lnSpc>
              <a:spcPct val="90000"/>
            </a:lnSpc>
            <a:spcBef>
              <a:spcPct val="0"/>
            </a:spcBef>
            <a:spcAft>
              <a:spcPct val="35000"/>
            </a:spcAft>
            <a:buNone/>
          </a:pPr>
          <a:r>
            <a:rPr lang="en-US" sz="1600" kern="1200" dirty="0">
              <a:solidFill>
                <a:schemeClr val="bg1">
                  <a:lumMod val="85000"/>
                  <a:lumOff val="15000"/>
                </a:schemeClr>
              </a:solidFill>
            </a:rPr>
            <a:t>While both the Thunder and Bucks had a similar Shot Quality, the Bucks had a much better field goal percentage. </a:t>
          </a:r>
          <a:r>
            <a:rPr lang="en-US" sz="1600" kern="1200" dirty="0">
              <a:hlinkClick xmlns:r="http://schemas.openxmlformats.org/officeDocument/2006/relationships" r:id="" action="ppaction://hlinksldjump"/>
            </a:rPr>
            <a:t>(A4: Average Shot Quality Team &amp; Individual</a:t>
          </a:r>
          <a:r>
            <a:rPr lang="en-US" sz="1600" kern="1200" dirty="0">
              <a:hlinkClick xmlns:r="http://schemas.openxmlformats.org/officeDocument/2006/relationships" r:id="" action="ppaction://hlinksldjump"/>
            </a:rPr>
            <a:t>)</a:t>
          </a:r>
          <a:endParaRPr lang="en-US" sz="1600" kern="1200" dirty="0">
            <a:solidFill>
              <a:schemeClr val="bg1">
                <a:lumMod val="85000"/>
                <a:lumOff val="15000"/>
              </a:schemeClr>
            </a:solidFill>
          </a:endParaRPr>
        </a:p>
      </dsp:txBody>
      <dsp:txXfrm>
        <a:off x="1258901" y="2150"/>
        <a:ext cx="4913298" cy="1089957"/>
      </dsp:txXfrm>
    </dsp:sp>
    <dsp:sp modelId="{FC069E30-B11E-47C6-B273-015C98CE4440}">
      <dsp:nvSpPr>
        <dsp:cNvPr id="0" name=""/>
        <dsp:cNvSpPr/>
      </dsp:nvSpPr>
      <dsp:spPr>
        <a:xfrm>
          <a:off x="0" y="1364597"/>
          <a:ext cx="6172199" cy="1089957"/>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48A8AD9-E7C4-4286-B7F0-2BB6C0D23D37}">
      <dsp:nvSpPr>
        <dsp:cNvPr id="0" name=""/>
        <dsp:cNvSpPr/>
      </dsp:nvSpPr>
      <dsp:spPr>
        <a:xfrm>
          <a:off x="329712" y="1609838"/>
          <a:ext cx="599476" cy="599476"/>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873894D-20DB-4892-A09E-9D4B699D788B}">
      <dsp:nvSpPr>
        <dsp:cNvPr id="0" name=""/>
        <dsp:cNvSpPr/>
      </dsp:nvSpPr>
      <dsp:spPr>
        <a:xfrm>
          <a:off x="1258901" y="1364597"/>
          <a:ext cx="4913298" cy="10899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5354" tIns="115354" rIns="115354" bIns="115354" numCol="1" spcCol="1270" anchor="ctr" anchorCtr="0">
          <a:noAutofit/>
        </a:bodyPr>
        <a:lstStyle/>
        <a:p>
          <a:pPr marL="0" lvl="0" indent="0" algn="l" defTabSz="711200">
            <a:lnSpc>
              <a:spcPct val="90000"/>
            </a:lnSpc>
            <a:spcBef>
              <a:spcPct val="0"/>
            </a:spcBef>
            <a:spcAft>
              <a:spcPct val="35000"/>
            </a:spcAft>
            <a:buNone/>
          </a:pPr>
          <a:r>
            <a:rPr lang="en-US" sz="1600" kern="1200" dirty="0">
              <a:solidFill>
                <a:schemeClr val="bg1">
                  <a:lumMod val="85000"/>
                  <a:lumOff val="15000"/>
                </a:schemeClr>
              </a:solidFill>
            </a:rPr>
            <a:t>Several Bucks players posted exceptionally high FG% during the final 4 minutes of the first half and throughout the 3rd quarter </a:t>
          </a:r>
          <a:r>
            <a:rPr lang="en-US" sz="1600" kern="1200" dirty="0">
              <a:solidFill>
                <a:schemeClr val="bg1">
                  <a:lumMod val="85000"/>
                  <a:lumOff val="15000"/>
                </a:schemeClr>
              </a:solidFill>
              <a:hlinkClick xmlns:r="http://schemas.openxmlformats.org/officeDocument/2006/relationships" r:id="" action="ppaction://hlinksldjump"/>
            </a:rPr>
            <a:t>(</a:t>
          </a:r>
          <a:r>
            <a:rPr lang="en-US" sz="1600" kern="1200" dirty="0">
              <a:hlinkClick xmlns:r="http://schemas.openxmlformats.org/officeDocument/2006/relationships" r:id="" action="ppaction://hlinksldjump"/>
            </a:rPr>
            <a:t>A6: Individual Shot Quality &amp; Field Goal Percentage (Important Time). </a:t>
          </a:r>
          <a:endParaRPr lang="en-US" sz="1600" kern="1200" dirty="0">
            <a:solidFill>
              <a:schemeClr val="bg1">
                <a:lumMod val="85000"/>
                <a:lumOff val="15000"/>
              </a:schemeClr>
            </a:solidFill>
          </a:endParaRPr>
        </a:p>
      </dsp:txBody>
      <dsp:txXfrm>
        <a:off x="1258901" y="1364597"/>
        <a:ext cx="4913298" cy="1089957"/>
      </dsp:txXfrm>
    </dsp:sp>
    <dsp:sp modelId="{324C49C8-4795-4AA3-AECB-B52E41808C5D}">
      <dsp:nvSpPr>
        <dsp:cNvPr id="0" name=""/>
        <dsp:cNvSpPr/>
      </dsp:nvSpPr>
      <dsp:spPr>
        <a:xfrm>
          <a:off x="0" y="2727045"/>
          <a:ext cx="6172199" cy="1089957"/>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5B0A5D6-1514-44D0-A80D-054DA820992A}">
      <dsp:nvSpPr>
        <dsp:cNvPr id="0" name=""/>
        <dsp:cNvSpPr/>
      </dsp:nvSpPr>
      <dsp:spPr>
        <a:xfrm>
          <a:off x="329712" y="2972285"/>
          <a:ext cx="599476" cy="599476"/>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E43E3EC-B04D-4B84-A6F8-6DD9B7AD9B06}">
      <dsp:nvSpPr>
        <dsp:cNvPr id="0" name=""/>
        <dsp:cNvSpPr/>
      </dsp:nvSpPr>
      <dsp:spPr>
        <a:xfrm>
          <a:off x="1258901" y="2727045"/>
          <a:ext cx="4913298" cy="10899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5354" tIns="115354" rIns="115354" bIns="115354" numCol="1" spcCol="1270" anchor="ctr" anchorCtr="0">
          <a:noAutofit/>
        </a:bodyPr>
        <a:lstStyle/>
        <a:p>
          <a:pPr marL="0" lvl="0" indent="0" algn="l" defTabSz="711200">
            <a:lnSpc>
              <a:spcPct val="90000"/>
            </a:lnSpc>
            <a:spcBef>
              <a:spcPct val="0"/>
            </a:spcBef>
            <a:spcAft>
              <a:spcPct val="35000"/>
            </a:spcAft>
            <a:buNone/>
          </a:pPr>
          <a:r>
            <a:rPr lang="en-US" sz="1600" kern="1200" dirty="0">
              <a:solidFill>
                <a:schemeClr val="bg1">
                  <a:lumMod val="85000"/>
                  <a:lumOff val="15000"/>
                </a:schemeClr>
              </a:solidFill>
            </a:rPr>
            <a:t>The Thunder had several players with a high shot quality percentage, but not all converted their attempts during the game. (</a:t>
          </a:r>
          <a:r>
            <a:rPr lang="en-US" sz="1600" kern="1200" dirty="0">
              <a:solidFill>
                <a:schemeClr val="bg1">
                  <a:lumMod val="85000"/>
                  <a:lumOff val="15000"/>
                </a:schemeClr>
              </a:solidFill>
              <a:hlinkClick xmlns:r="http://schemas.openxmlformats.org/officeDocument/2006/relationships" r:id="" action="ppaction://hlinksldjump"/>
            </a:rPr>
            <a:t>A5</a:t>
          </a:r>
          <a:r>
            <a:rPr lang="en-US" sz="1600" kern="1200" dirty="0">
              <a:solidFill>
                <a:schemeClr val="bg1">
                  <a:lumMod val="85000"/>
                  <a:lumOff val="15000"/>
                </a:schemeClr>
              </a:solidFill>
            </a:rPr>
            <a:t>,</a:t>
          </a:r>
          <a:r>
            <a:rPr lang="en-US" sz="1600" kern="1200" dirty="0">
              <a:solidFill>
                <a:schemeClr val="bg1">
                  <a:lumMod val="85000"/>
                  <a:lumOff val="15000"/>
                </a:schemeClr>
              </a:solidFill>
              <a:hlinkClick xmlns:r="http://schemas.openxmlformats.org/officeDocument/2006/relationships" r:id="" action="ppaction://hlinksldjump"/>
            </a:rPr>
            <a:t>A6</a:t>
          </a:r>
          <a:r>
            <a:rPr lang="en-US" sz="1600" kern="1200" dirty="0">
              <a:solidFill>
                <a:schemeClr val="bg1">
                  <a:lumMod val="85000"/>
                  <a:lumOff val="15000"/>
                </a:schemeClr>
              </a:solidFill>
            </a:rPr>
            <a:t>,</a:t>
          </a:r>
          <a:r>
            <a:rPr lang="en-US" sz="1600" kern="1200" dirty="0">
              <a:solidFill>
                <a:schemeClr val="bg1">
                  <a:lumMod val="85000"/>
                  <a:lumOff val="15000"/>
                </a:schemeClr>
              </a:solidFill>
              <a:hlinkClick xmlns:r="http://schemas.openxmlformats.org/officeDocument/2006/relationships" r:id="" action="ppaction://hlinksldjump"/>
            </a:rPr>
            <a:t>A7</a:t>
          </a:r>
          <a:r>
            <a:rPr lang="en-US" sz="1600" kern="1200" dirty="0">
              <a:solidFill>
                <a:schemeClr val="bg1">
                  <a:lumMod val="85000"/>
                  <a:lumOff val="15000"/>
                </a:schemeClr>
              </a:solidFill>
            </a:rPr>
            <a:t>)</a:t>
          </a:r>
        </a:p>
      </dsp:txBody>
      <dsp:txXfrm>
        <a:off x="1258901" y="2727045"/>
        <a:ext cx="4913298" cy="1089957"/>
      </dsp:txXfrm>
    </dsp:sp>
    <dsp:sp modelId="{97787804-8530-4E3D-8CD6-1B55518F36A2}">
      <dsp:nvSpPr>
        <dsp:cNvPr id="0" name=""/>
        <dsp:cNvSpPr/>
      </dsp:nvSpPr>
      <dsp:spPr>
        <a:xfrm>
          <a:off x="0" y="4089492"/>
          <a:ext cx="6172199" cy="1089957"/>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27FC7B9-09F2-4CDD-873B-B57101FD3B8F}">
      <dsp:nvSpPr>
        <dsp:cNvPr id="0" name=""/>
        <dsp:cNvSpPr/>
      </dsp:nvSpPr>
      <dsp:spPr>
        <a:xfrm>
          <a:off x="329712" y="4334733"/>
          <a:ext cx="599476" cy="59947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F7C5B77-F14C-434C-9D2C-01AFF68E16A5}">
      <dsp:nvSpPr>
        <dsp:cNvPr id="0" name=""/>
        <dsp:cNvSpPr/>
      </dsp:nvSpPr>
      <dsp:spPr>
        <a:xfrm>
          <a:off x="1258901" y="4089492"/>
          <a:ext cx="4913298" cy="10899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5354" tIns="115354" rIns="115354" bIns="115354" numCol="1" spcCol="1270" anchor="ctr" anchorCtr="0">
          <a:noAutofit/>
        </a:bodyPr>
        <a:lstStyle/>
        <a:p>
          <a:pPr marL="0" lvl="0" indent="0" algn="l" defTabSz="711200">
            <a:lnSpc>
              <a:spcPct val="90000"/>
            </a:lnSpc>
            <a:spcBef>
              <a:spcPct val="0"/>
            </a:spcBef>
            <a:spcAft>
              <a:spcPct val="35000"/>
            </a:spcAft>
            <a:buNone/>
          </a:pPr>
          <a:r>
            <a:rPr lang="en-US" sz="1600" kern="1200" dirty="0">
              <a:solidFill>
                <a:schemeClr val="bg1">
                  <a:lumMod val="85000"/>
                  <a:lumOff val="15000"/>
                </a:schemeClr>
              </a:solidFill>
            </a:rPr>
            <a:t>The bucks did a great job containing Shai throughout the game 10</a:t>
          </a:r>
          <a:r>
            <a:rPr lang="en-US" sz="1600" kern="1200" baseline="30000" dirty="0">
              <a:solidFill>
                <a:schemeClr val="bg1">
                  <a:lumMod val="85000"/>
                  <a:lumOff val="15000"/>
                </a:schemeClr>
              </a:solidFill>
            </a:rPr>
            <a:t>th</a:t>
          </a:r>
          <a:r>
            <a:rPr lang="en-US" sz="1600" kern="1200" dirty="0">
              <a:solidFill>
                <a:schemeClr val="bg1">
                  <a:lumMod val="85000"/>
                  <a:lumOff val="15000"/>
                </a:schemeClr>
              </a:solidFill>
            </a:rPr>
            <a:t> in Shot quality overall and had a </a:t>
          </a:r>
          <a:r>
            <a:rPr lang="en-US" sz="1600" b="1" kern="1200" dirty="0">
              <a:solidFill>
                <a:schemeClr val="bg1">
                  <a:lumMod val="85000"/>
                  <a:lumOff val="15000"/>
                </a:schemeClr>
              </a:solidFill>
            </a:rPr>
            <a:t>30.8% </a:t>
          </a:r>
          <a:r>
            <a:rPr lang="en-US" sz="1600" kern="1200" dirty="0">
              <a:solidFill>
                <a:schemeClr val="bg1">
                  <a:lumMod val="85000"/>
                  <a:lumOff val="15000"/>
                </a:schemeClr>
              </a:solidFill>
            </a:rPr>
            <a:t>FG% </a:t>
          </a:r>
          <a:r>
            <a:rPr lang="en-US" sz="1600" kern="1200" dirty="0">
              <a:solidFill>
                <a:schemeClr val="bg1">
                  <a:lumMod val="85000"/>
                  <a:lumOff val="15000"/>
                </a:schemeClr>
              </a:solidFill>
              <a:hlinkClick xmlns:r="http://schemas.openxmlformats.org/officeDocument/2006/relationships" r:id="" action="ppaction://hlinksldjump"/>
            </a:rPr>
            <a:t>(A5:Individual Shot Quality &amp; Field Goal Percentage)</a:t>
          </a:r>
          <a:endParaRPr lang="en-US" sz="1600" kern="1200" dirty="0">
            <a:solidFill>
              <a:schemeClr val="bg1">
                <a:lumMod val="85000"/>
                <a:lumOff val="15000"/>
              </a:schemeClr>
            </a:solidFill>
          </a:endParaRPr>
        </a:p>
      </dsp:txBody>
      <dsp:txXfrm>
        <a:off x="1258901" y="4089492"/>
        <a:ext cx="4913298" cy="108995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5E516E-BAE4-4188-8F97-A122EB5E9AA9}">
      <dsp:nvSpPr>
        <dsp:cNvPr id="0" name=""/>
        <dsp:cNvSpPr/>
      </dsp:nvSpPr>
      <dsp:spPr>
        <a:xfrm>
          <a:off x="0" y="2150"/>
          <a:ext cx="6172199" cy="1089957"/>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E6212FF-36B7-40EF-A8B9-685C3A9A82C2}">
      <dsp:nvSpPr>
        <dsp:cNvPr id="0" name=""/>
        <dsp:cNvSpPr/>
      </dsp:nvSpPr>
      <dsp:spPr>
        <a:xfrm>
          <a:off x="329712" y="247391"/>
          <a:ext cx="599476" cy="599476"/>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2F25CAA-8417-4DB3-9E63-215D72E09C12}">
      <dsp:nvSpPr>
        <dsp:cNvPr id="0" name=""/>
        <dsp:cNvSpPr/>
      </dsp:nvSpPr>
      <dsp:spPr>
        <a:xfrm>
          <a:off x="1258901" y="2150"/>
          <a:ext cx="4913298" cy="10899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5354" tIns="115354" rIns="115354" bIns="115354" numCol="1" spcCol="1270" anchor="ctr" anchorCtr="0">
          <a:noAutofit/>
        </a:bodyPr>
        <a:lstStyle/>
        <a:p>
          <a:pPr marL="0" lvl="0" indent="0" algn="l" defTabSz="711200">
            <a:lnSpc>
              <a:spcPct val="90000"/>
            </a:lnSpc>
            <a:spcBef>
              <a:spcPct val="0"/>
            </a:spcBef>
            <a:spcAft>
              <a:spcPct val="35000"/>
            </a:spcAft>
            <a:buNone/>
          </a:pPr>
          <a:r>
            <a:rPr lang="en-US" sz="1600" kern="1200" dirty="0">
              <a:solidFill>
                <a:schemeClr val="bg1">
                  <a:lumMod val="85000"/>
                  <a:lumOff val="15000"/>
                </a:schemeClr>
              </a:solidFill>
            </a:rPr>
            <a:t>The Bucks took advantage of lightly contested shots as they shot much higher compared to OKC (</a:t>
          </a:r>
          <a:r>
            <a:rPr lang="en-US" sz="1600" b="1" kern="1200" dirty="0">
              <a:solidFill>
                <a:schemeClr val="bg1">
                  <a:lumMod val="85000"/>
                  <a:lumOff val="15000"/>
                </a:schemeClr>
              </a:solidFill>
            </a:rPr>
            <a:t>48%</a:t>
          </a:r>
          <a:r>
            <a:rPr lang="en-US" sz="1600" kern="1200" dirty="0">
              <a:solidFill>
                <a:schemeClr val="bg1">
                  <a:lumMod val="85000"/>
                  <a:lumOff val="15000"/>
                </a:schemeClr>
              </a:solidFill>
            </a:rPr>
            <a:t> to </a:t>
          </a:r>
          <a:r>
            <a:rPr lang="en-US" sz="1600" b="1" kern="1200" dirty="0">
              <a:solidFill>
                <a:schemeClr val="bg1">
                  <a:lumMod val="85000"/>
                  <a:lumOff val="15000"/>
                </a:schemeClr>
              </a:solidFill>
            </a:rPr>
            <a:t>17%</a:t>
          </a:r>
          <a:r>
            <a:rPr lang="en-US" sz="1600" kern="1200" dirty="0">
              <a:solidFill>
                <a:schemeClr val="bg1">
                  <a:lumMod val="85000"/>
                  <a:lumOff val="15000"/>
                </a:schemeClr>
              </a:solidFill>
            </a:rPr>
            <a:t>). </a:t>
          </a:r>
          <a:r>
            <a:rPr lang="en-US" sz="1600" kern="1200" dirty="0">
              <a:solidFill>
                <a:schemeClr val="bg1">
                  <a:lumMod val="85000"/>
                  <a:lumOff val="15000"/>
                </a:schemeClr>
              </a:solidFill>
              <a:hlinkClick xmlns:r="http://schemas.openxmlformats.org/officeDocument/2006/relationships" r:id="" action="ppaction://hlinksldjump"/>
            </a:rPr>
            <a:t>(A10: Contest Level Graph Results &amp; Defender Distance FG%) </a:t>
          </a:r>
          <a:endParaRPr lang="en-US" sz="1600" kern="1200" dirty="0">
            <a:solidFill>
              <a:schemeClr val="bg1">
                <a:lumMod val="85000"/>
                <a:lumOff val="15000"/>
              </a:schemeClr>
            </a:solidFill>
          </a:endParaRPr>
        </a:p>
      </dsp:txBody>
      <dsp:txXfrm>
        <a:off x="1258901" y="2150"/>
        <a:ext cx="4913298" cy="1089957"/>
      </dsp:txXfrm>
    </dsp:sp>
    <dsp:sp modelId="{FC069E30-B11E-47C6-B273-015C98CE4440}">
      <dsp:nvSpPr>
        <dsp:cNvPr id="0" name=""/>
        <dsp:cNvSpPr/>
      </dsp:nvSpPr>
      <dsp:spPr>
        <a:xfrm>
          <a:off x="0" y="1364597"/>
          <a:ext cx="6172199" cy="1089957"/>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48A8AD9-E7C4-4286-B7F0-2BB6C0D23D37}">
      <dsp:nvSpPr>
        <dsp:cNvPr id="0" name=""/>
        <dsp:cNvSpPr/>
      </dsp:nvSpPr>
      <dsp:spPr>
        <a:xfrm>
          <a:off x="329712" y="1609838"/>
          <a:ext cx="599476" cy="599476"/>
        </a:xfrm>
        <a:prstGeom prst="rect">
          <a:avLst/>
        </a:prstGeom>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873894D-20DB-4892-A09E-9D4B699D788B}">
      <dsp:nvSpPr>
        <dsp:cNvPr id="0" name=""/>
        <dsp:cNvSpPr/>
      </dsp:nvSpPr>
      <dsp:spPr>
        <a:xfrm>
          <a:off x="1258901" y="1364597"/>
          <a:ext cx="4913298" cy="10899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5354" tIns="115354" rIns="115354" bIns="115354" numCol="1" spcCol="1270" anchor="ctr" anchorCtr="0">
          <a:noAutofit/>
        </a:bodyPr>
        <a:lstStyle/>
        <a:p>
          <a:pPr marL="0" lvl="0" indent="0" algn="l" defTabSz="711200">
            <a:lnSpc>
              <a:spcPct val="90000"/>
            </a:lnSpc>
            <a:spcBef>
              <a:spcPct val="0"/>
            </a:spcBef>
            <a:spcAft>
              <a:spcPct val="35000"/>
            </a:spcAft>
            <a:buNone/>
          </a:pPr>
          <a:r>
            <a:rPr lang="en-US" sz="1600" kern="1200" dirty="0">
              <a:solidFill>
                <a:schemeClr val="bg1">
                  <a:lumMod val="85000"/>
                  <a:lumOff val="15000"/>
                </a:schemeClr>
              </a:solidFill>
            </a:rPr>
            <a:t>Bucks players not only scored more efficiently than the Thunder, but also effectively defended Shai — limiting him to 10th in Points Per Shot. </a:t>
          </a:r>
          <a:r>
            <a:rPr lang="en-US" sz="1600" kern="1200" dirty="0">
              <a:solidFill>
                <a:schemeClr val="bg1">
                  <a:lumMod val="85000"/>
                  <a:lumOff val="15000"/>
                </a:schemeClr>
              </a:solidFill>
              <a:hlinkClick xmlns:r="http://schemas.openxmlformats.org/officeDocument/2006/relationships" r:id="" action="ppaction://hlinksldjump"/>
            </a:rPr>
            <a:t>(A9: Points Per Shot Top 10) </a:t>
          </a:r>
          <a:endParaRPr lang="en-US" sz="1600" kern="1200" dirty="0">
            <a:solidFill>
              <a:schemeClr val="bg1">
                <a:lumMod val="85000"/>
                <a:lumOff val="15000"/>
              </a:schemeClr>
            </a:solidFill>
          </a:endParaRPr>
        </a:p>
      </dsp:txBody>
      <dsp:txXfrm>
        <a:off x="1258901" y="1364597"/>
        <a:ext cx="4913298" cy="1089957"/>
      </dsp:txXfrm>
    </dsp:sp>
    <dsp:sp modelId="{324C49C8-4795-4AA3-AECB-B52E41808C5D}">
      <dsp:nvSpPr>
        <dsp:cNvPr id="0" name=""/>
        <dsp:cNvSpPr/>
      </dsp:nvSpPr>
      <dsp:spPr>
        <a:xfrm>
          <a:off x="0" y="2727045"/>
          <a:ext cx="6172199" cy="1089957"/>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5B0A5D6-1514-44D0-A80D-054DA820992A}">
      <dsp:nvSpPr>
        <dsp:cNvPr id="0" name=""/>
        <dsp:cNvSpPr/>
      </dsp:nvSpPr>
      <dsp:spPr>
        <a:xfrm>
          <a:off x="329712" y="2972285"/>
          <a:ext cx="599476" cy="599476"/>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E43E3EC-B04D-4B84-A6F8-6DD9B7AD9B06}">
      <dsp:nvSpPr>
        <dsp:cNvPr id="0" name=""/>
        <dsp:cNvSpPr/>
      </dsp:nvSpPr>
      <dsp:spPr>
        <a:xfrm>
          <a:off x="1258901" y="2727045"/>
          <a:ext cx="4913298" cy="10899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5354" tIns="115354" rIns="115354" bIns="115354" numCol="1" spcCol="1270" anchor="ctr" anchorCtr="0">
          <a:noAutofit/>
        </a:bodyPr>
        <a:lstStyle/>
        <a:p>
          <a:pPr marL="0" lvl="0" indent="0" algn="l" defTabSz="711200">
            <a:lnSpc>
              <a:spcPct val="90000"/>
            </a:lnSpc>
            <a:spcBef>
              <a:spcPct val="0"/>
            </a:spcBef>
            <a:spcAft>
              <a:spcPct val="35000"/>
            </a:spcAft>
            <a:buNone/>
          </a:pPr>
          <a:r>
            <a:rPr lang="en-US" sz="1600" kern="1200" dirty="0">
              <a:solidFill>
                <a:schemeClr val="bg1">
                  <a:lumMod val="85000"/>
                  <a:lumOff val="15000"/>
                </a:schemeClr>
              </a:solidFill>
            </a:rPr>
            <a:t>The Thunder did not capitalize on field goals when the defender distancer was more than 6 ft whereas the bucks were able to. (</a:t>
          </a:r>
          <a:r>
            <a:rPr lang="en-US" sz="1600" kern="1200" dirty="0">
              <a:solidFill>
                <a:schemeClr val="bg1">
                  <a:lumMod val="85000"/>
                  <a:lumOff val="15000"/>
                </a:schemeClr>
              </a:solidFill>
              <a:hlinkClick xmlns:r="http://schemas.openxmlformats.org/officeDocument/2006/relationships" r:id="" action="ppaction://hlinksldjump"/>
            </a:rPr>
            <a:t>A10</a:t>
          </a:r>
          <a:r>
            <a:rPr lang="en-US" sz="1600" kern="1200" dirty="0">
              <a:solidFill>
                <a:schemeClr val="bg1">
                  <a:lumMod val="85000"/>
                  <a:lumOff val="15000"/>
                </a:schemeClr>
              </a:solidFill>
            </a:rPr>
            <a:t> &amp; </a:t>
          </a:r>
          <a:r>
            <a:rPr lang="en-US" sz="1600" kern="1200" dirty="0">
              <a:solidFill>
                <a:schemeClr val="bg1">
                  <a:lumMod val="85000"/>
                  <a:lumOff val="15000"/>
                </a:schemeClr>
              </a:solidFill>
              <a:hlinkClick xmlns:r="http://schemas.openxmlformats.org/officeDocument/2006/relationships" r:id="" action="ppaction://hlinksldjump"/>
            </a:rPr>
            <a:t>A11</a:t>
          </a:r>
          <a:r>
            <a:rPr lang="en-US" sz="1600" kern="1200" dirty="0">
              <a:solidFill>
                <a:schemeClr val="bg1">
                  <a:lumMod val="85000"/>
                  <a:lumOff val="15000"/>
                </a:schemeClr>
              </a:solidFill>
            </a:rPr>
            <a:t>) </a:t>
          </a:r>
        </a:p>
      </dsp:txBody>
      <dsp:txXfrm>
        <a:off x="1258901" y="2727045"/>
        <a:ext cx="4913298" cy="1089957"/>
      </dsp:txXfrm>
    </dsp:sp>
    <dsp:sp modelId="{97787804-8530-4E3D-8CD6-1B55518F36A2}">
      <dsp:nvSpPr>
        <dsp:cNvPr id="0" name=""/>
        <dsp:cNvSpPr/>
      </dsp:nvSpPr>
      <dsp:spPr>
        <a:xfrm>
          <a:off x="0" y="4089492"/>
          <a:ext cx="6172199" cy="1089957"/>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27FC7B9-09F2-4CDD-873B-B57101FD3B8F}">
      <dsp:nvSpPr>
        <dsp:cNvPr id="0" name=""/>
        <dsp:cNvSpPr/>
      </dsp:nvSpPr>
      <dsp:spPr>
        <a:xfrm>
          <a:off x="329712" y="4334733"/>
          <a:ext cx="599476" cy="599476"/>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F7C5B77-F14C-434C-9D2C-01AFF68E16A5}">
      <dsp:nvSpPr>
        <dsp:cNvPr id="0" name=""/>
        <dsp:cNvSpPr/>
      </dsp:nvSpPr>
      <dsp:spPr>
        <a:xfrm>
          <a:off x="1258901" y="4089492"/>
          <a:ext cx="4913298" cy="10899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5354" tIns="115354" rIns="115354" bIns="115354" numCol="1" spcCol="1270" anchor="ctr" anchorCtr="0">
          <a:noAutofit/>
        </a:bodyPr>
        <a:lstStyle/>
        <a:p>
          <a:pPr marL="0" lvl="0" indent="0" algn="l" defTabSz="711200">
            <a:lnSpc>
              <a:spcPct val="90000"/>
            </a:lnSpc>
            <a:spcBef>
              <a:spcPct val="0"/>
            </a:spcBef>
            <a:spcAft>
              <a:spcPct val="35000"/>
            </a:spcAft>
            <a:buNone/>
          </a:pPr>
          <a:r>
            <a:rPr lang="en-US" sz="1600" kern="1200" dirty="0">
              <a:solidFill>
                <a:schemeClr val="bg1"/>
              </a:solidFill>
            </a:rPr>
            <a:t>While the Bucks outperformed the Thunder from three, only two of their attempts were uncontested — indicating a need to improve spacing and generate more open looks. </a:t>
          </a:r>
          <a:r>
            <a:rPr lang="en-US" sz="1600" kern="1200" dirty="0">
              <a:solidFill>
                <a:schemeClr val="bg1"/>
              </a:solidFill>
              <a:hlinkClick xmlns:r="http://schemas.openxmlformats.org/officeDocument/2006/relationships" r:id="" action="ppaction://hlinksldjump"/>
            </a:rPr>
            <a:t>(A8: Shot Contest Model) </a:t>
          </a:r>
          <a:endParaRPr lang="en-US" sz="1600" kern="1200" dirty="0">
            <a:solidFill>
              <a:schemeClr val="bg1"/>
            </a:solidFill>
          </a:endParaRPr>
        </a:p>
      </dsp:txBody>
      <dsp:txXfrm>
        <a:off x="1258901" y="4089492"/>
        <a:ext cx="4913298" cy="108995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47A530-8E15-44AB-9355-C3A5696A1F8B}">
      <dsp:nvSpPr>
        <dsp:cNvPr id="0" name=""/>
        <dsp:cNvSpPr/>
      </dsp:nvSpPr>
      <dsp:spPr>
        <a:xfrm>
          <a:off x="0" y="0"/>
          <a:ext cx="5246370" cy="155448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a:t>Key Drivers: Shot area, shooter speed, and clock pressure were top predictors — confirming Milwaukee’s edge in efficient zones and quick execution.</a:t>
          </a:r>
        </a:p>
      </dsp:txBody>
      <dsp:txXfrm>
        <a:off x="45529" y="45529"/>
        <a:ext cx="3568964" cy="1463422"/>
      </dsp:txXfrm>
    </dsp:sp>
    <dsp:sp modelId="{9AF5C242-BC56-432B-8970-76CC2258E2BE}">
      <dsp:nvSpPr>
        <dsp:cNvPr id="0" name=""/>
        <dsp:cNvSpPr/>
      </dsp:nvSpPr>
      <dsp:spPr>
        <a:xfrm>
          <a:off x="462914" y="1813560"/>
          <a:ext cx="5246370" cy="155448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a:t>Game Alignment: Model features reflect game trends: Bucks created quality looks, moved well, and converted under pressure.</a:t>
          </a:r>
        </a:p>
      </dsp:txBody>
      <dsp:txXfrm>
        <a:off x="508443" y="1859089"/>
        <a:ext cx="3681984" cy="1463422"/>
      </dsp:txXfrm>
    </dsp:sp>
    <dsp:sp modelId="{A981E647-EABA-4413-9033-0B75A85B0A1F}">
      <dsp:nvSpPr>
        <dsp:cNvPr id="0" name=""/>
        <dsp:cNvSpPr/>
      </dsp:nvSpPr>
      <dsp:spPr>
        <a:xfrm>
          <a:off x="925829" y="3627120"/>
          <a:ext cx="5246370" cy="1554480"/>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a:t>Model Limitations: The model struggled to predict which shots would go in — showing that things like confidence, momentum, and timing still play a big role.</a:t>
          </a:r>
        </a:p>
      </dsp:txBody>
      <dsp:txXfrm>
        <a:off x="971358" y="3672649"/>
        <a:ext cx="3681984" cy="1463422"/>
      </dsp:txXfrm>
    </dsp:sp>
    <dsp:sp modelId="{DBE61127-48F5-4CC0-9EED-8C90F60152E0}">
      <dsp:nvSpPr>
        <dsp:cNvPr id="0" name=""/>
        <dsp:cNvSpPr/>
      </dsp:nvSpPr>
      <dsp:spPr>
        <a:xfrm>
          <a:off x="4235957" y="1178814"/>
          <a:ext cx="1010412" cy="1010412"/>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4463300" y="1178814"/>
        <a:ext cx="555726" cy="760335"/>
      </dsp:txXfrm>
    </dsp:sp>
    <dsp:sp modelId="{96D7AC4A-19D2-4FC5-B3D8-FC8CE9CFFA1E}">
      <dsp:nvSpPr>
        <dsp:cNvPr id="0" name=""/>
        <dsp:cNvSpPr/>
      </dsp:nvSpPr>
      <dsp:spPr>
        <a:xfrm>
          <a:off x="4698872" y="2982011"/>
          <a:ext cx="1010412" cy="1010412"/>
        </a:xfrm>
        <a:prstGeom prst="downArrow">
          <a:avLst>
            <a:gd name="adj1" fmla="val 55000"/>
            <a:gd name="adj2" fmla="val 45000"/>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4926215" y="2982011"/>
        <a:ext cx="555726" cy="760335"/>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CB8F81-E367-4E2A-9392-FB655160D80D}">
      <dsp:nvSpPr>
        <dsp:cNvPr id="0" name=""/>
        <dsp:cNvSpPr/>
      </dsp:nvSpPr>
      <dsp:spPr>
        <a:xfrm>
          <a:off x="0" y="128663"/>
          <a:ext cx="6172199" cy="95490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b="1" kern="1200" dirty="0"/>
            <a:t>1. Efficient Shot Conversion</a:t>
          </a:r>
        </a:p>
        <a:p>
          <a:pPr marL="0" lvl="0" indent="0" algn="l" defTabSz="577850">
            <a:lnSpc>
              <a:spcPct val="90000"/>
            </a:lnSpc>
            <a:spcBef>
              <a:spcPct val="0"/>
            </a:spcBef>
            <a:spcAft>
              <a:spcPct val="35000"/>
            </a:spcAft>
            <a:buNone/>
          </a:pPr>
          <a:r>
            <a:rPr lang="en-US" sz="1300" kern="1200" dirty="0"/>
            <a:t>Milwaukee finished above expected shot quality (</a:t>
          </a:r>
          <a:r>
            <a:rPr lang="en-US" sz="1300" kern="1200" dirty="0" err="1"/>
            <a:t>qSQ</a:t>
          </a:r>
          <a:r>
            <a:rPr lang="en-US" sz="1300" kern="1200" dirty="0"/>
            <a:t>), converting both contested and open looks. OKC, despite similar opportunities, underperformed.</a:t>
          </a:r>
        </a:p>
      </dsp:txBody>
      <dsp:txXfrm>
        <a:off x="46614" y="175277"/>
        <a:ext cx="6078971" cy="861674"/>
      </dsp:txXfrm>
    </dsp:sp>
    <dsp:sp modelId="{A68FA539-AADB-4D49-954A-3F127E7B0AEC}">
      <dsp:nvSpPr>
        <dsp:cNvPr id="0" name=""/>
        <dsp:cNvSpPr/>
      </dsp:nvSpPr>
      <dsp:spPr>
        <a:xfrm>
          <a:off x="0" y="1121006"/>
          <a:ext cx="6172199" cy="95490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b="1" kern="1200" dirty="0"/>
            <a:t>2. Missed Open Opportunities by OKC</a:t>
          </a:r>
        </a:p>
        <a:p>
          <a:pPr marL="0" lvl="0" indent="0" algn="l" defTabSz="577850">
            <a:lnSpc>
              <a:spcPct val="90000"/>
            </a:lnSpc>
            <a:spcBef>
              <a:spcPct val="0"/>
            </a:spcBef>
            <a:spcAft>
              <a:spcPct val="35000"/>
            </a:spcAft>
            <a:buNone/>
          </a:pPr>
          <a:r>
            <a:rPr lang="en-US" sz="1300" kern="1200" dirty="0"/>
            <a:t>Thunder shooters converted just </a:t>
          </a:r>
          <a:r>
            <a:rPr lang="en-US" sz="1300" b="1" kern="1200" dirty="0"/>
            <a:t>17%</a:t>
          </a:r>
          <a:r>
            <a:rPr lang="en-US" sz="1300" kern="1200" dirty="0"/>
            <a:t> of attempts when the defender was 6+ feet away, compared to a much higher efficiency from the </a:t>
          </a:r>
          <a:r>
            <a:rPr lang="en-US" sz="1300" kern="1200" dirty="0" err="1"/>
            <a:t>Bucks.</a:t>
          </a:r>
          <a:endParaRPr lang="en-US" sz="1300" kern="1200" dirty="0"/>
        </a:p>
      </dsp:txBody>
      <dsp:txXfrm>
        <a:off x="46614" y="1167620"/>
        <a:ext cx="6078971" cy="861674"/>
      </dsp:txXfrm>
    </dsp:sp>
    <dsp:sp modelId="{ECEB6491-ACA4-483F-ABAC-49F7ABD0C078}">
      <dsp:nvSpPr>
        <dsp:cNvPr id="0" name=""/>
        <dsp:cNvSpPr/>
      </dsp:nvSpPr>
      <dsp:spPr>
        <a:xfrm>
          <a:off x="0" y="2113349"/>
          <a:ext cx="6172199" cy="95490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300" b="1" i="0" kern="1200" baseline="0" dirty="0"/>
            <a:t>3</a:t>
          </a:r>
          <a:r>
            <a:rPr lang="en-US" sz="1300" b="1" kern="1200" dirty="0"/>
            <a:t>. Defensive Pressure on Key Players</a:t>
          </a:r>
        </a:p>
        <a:p>
          <a:pPr marL="0" marR="0" lvl="0" indent="0" algn="l" defTabSz="914400" eaLnBrk="1" fontAlgn="auto" latinLnBrk="0" hangingPunct="1">
            <a:lnSpc>
              <a:spcPct val="100000"/>
            </a:lnSpc>
            <a:spcBef>
              <a:spcPts val="0"/>
            </a:spcBef>
            <a:spcAft>
              <a:spcPts val="0"/>
            </a:spcAft>
            <a:buClrTx/>
            <a:buSzTx/>
            <a:buFontTx/>
            <a:buNone/>
            <a:tabLst/>
            <a:defRPr/>
          </a:pPr>
          <a:r>
            <a:rPr lang="en-US" sz="1300" b="0" kern="1200" dirty="0"/>
            <a:t>Milwaukee held Shai Gilgeous-Alexander to </a:t>
          </a:r>
          <a:r>
            <a:rPr lang="en-US" sz="1300" b="1" kern="1200" dirty="0"/>
            <a:t>10th</a:t>
          </a:r>
          <a:r>
            <a:rPr lang="en-US" sz="1300" b="0" kern="1200" dirty="0"/>
            <a:t> in Points Per Shot despite his usual efficiency, and limited OKC’s success on lightly contested shots.</a:t>
          </a:r>
        </a:p>
        <a:p>
          <a:pPr marL="0" marR="0" lvl="0" indent="0" algn="l" defTabSz="914400" eaLnBrk="1" fontAlgn="auto" latinLnBrk="0" hangingPunct="1">
            <a:lnSpc>
              <a:spcPct val="100000"/>
            </a:lnSpc>
            <a:spcBef>
              <a:spcPts val="0"/>
            </a:spcBef>
            <a:spcAft>
              <a:spcPts val="0"/>
            </a:spcAft>
            <a:buClrTx/>
            <a:buSzTx/>
            <a:buFontTx/>
            <a:buNone/>
            <a:tabLst/>
            <a:defRPr/>
          </a:pPr>
          <a:endParaRPr lang="en-US" sz="1300" b="0" kern="1200" dirty="0"/>
        </a:p>
      </dsp:txBody>
      <dsp:txXfrm>
        <a:off x="46614" y="2159963"/>
        <a:ext cx="6078971" cy="861674"/>
      </dsp:txXfrm>
    </dsp:sp>
    <dsp:sp modelId="{CDFA34AD-CA2B-4B08-BD36-F69782FE3342}">
      <dsp:nvSpPr>
        <dsp:cNvPr id="0" name=""/>
        <dsp:cNvSpPr/>
      </dsp:nvSpPr>
      <dsp:spPr>
        <a:xfrm>
          <a:off x="0" y="3105691"/>
          <a:ext cx="6172199" cy="95490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kern="1200" dirty="0"/>
            <a:t>4. </a:t>
          </a:r>
          <a:r>
            <a:rPr lang="en-US" sz="1300" b="1" kern="1200" dirty="0"/>
            <a:t>More Effective Use of Floor Space                                                                                       </a:t>
          </a:r>
          <a:r>
            <a:rPr lang="en-US" sz="1300" kern="1200" dirty="0"/>
            <a:t>Bucks thrived in the paint and corner/right wing zones. In contrast, OKC struggled in traditionally high-efficiency areas like corner 3s and midrange.</a:t>
          </a:r>
        </a:p>
      </dsp:txBody>
      <dsp:txXfrm>
        <a:off x="46614" y="3152305"/>
        <a:ext cx="6078971" cy="861674"/>
      </dsp:txXfrm>
    </dsp:sp>
    <dsp:sp modelId="{94B82C11-D6BD-48A8-A385-A91BCBB6D6FB}">
      <dsp:nvSpPr>
        <dsp:cNvPr id="0" name=""/>
        <dsp:cNvSpPr/>
      </dsp:nvSpPr>
      <dsp:spPr>
        <a:xfrm>
          <a:off x="0" y="4098034"/>
          <a:ext cx="6172199" cy="954902"/>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l" defTabSz="577850">
            <a:lnSpc>
              <a:spcPct val="90000"/>
            </a:lnSpc>
            <a:spcBef>
              <a:spcPct val="0"/>
            </a:spcBef>
            <a:spcAft>
              <a:spcPct val="35000"/>
            </a:spcAft>
            <a:buNone/>
          </a:pPr>
          <a:r>
            <a:rPr lang="en-US" sz="1300" b="1" i="0" kern="1200" baseline="0" dirty="0"/>
            <a:t>5. Pivotal Stretches in the First Half and Third Quarter Defined the Game</a:t>
          </a:r>
          <a:br>
            <a:rPr lang="en-US" sz="1300" b="0" i="0" kern="1200" baseline="0" dirty="0"/>
          </a:br>
          <a:r>
            <a:rPr lang="en-US" sz="1300" b="0" i="0" kern="1200" baseline="0" dirty="0"/>
            <a:t>Milwaukee pulled away during the third quarter, shooting </a:t>
          </a:r>
          <a:r>
            <a:rPr lang="en-US" sz="1300" b="1" i="0" kern="1200" baseline="0" dirty="0"/>
            <a:t>15%</a:t>
          </a:r>
          <a:r>
            <a:rPr lang="en-US" sz="1300" b="0" i="0" kern="1200" baseline="0" dirty="0"/>
            <a:t> better than OKC in that stretch. It proved to be the decisive turning point.</a:t>
          </a:r>
          <a:endParaRPr lang="en-US" sz="1300" kern="1200" dirty="0"/>
        </a:p>
      </dsp:txBody>
      <dsp:txXfrm>
        <a:off x="46614" y="4144648"/>
        <a:ext cx="6078971" cy="861674"/>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CDE3A8-6496-4E55-92DE-02FF58AABA28}">
      <dsp:nvSpPr>
        <dsp:cNvPr id="0" name=""/>
        <dsp:cNvSpPr/>
      </dsp:nvSpPr>
      <dsp:spPr>
        <a:xfrm>
          <a:off x="367830" y="1972"/>
          <a:ext cx="2588828" cy="1553296"/>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Scoring Versatility: Milwaukee attacked from all zones; OKC focused too narrowly on the midrange.</a:t>
          </a:r>
        </a:p>
      </dsp:txBody>
      <dsp:txXfrm>
        <a:off x="367830" y="1972"/>
        <a:ext cx="2588828" cy="1553296"/>
      </dsp:txXfrm>
    </dsp:sp>
    <dsp:sp modelId="{CF326B49-016A-44E2-AFCB-B60ED35BF3D0}">
      <dsp:nvSpPr>
        <dsp:cNvPr id="0" name=""/>
        <dsp:cNvSpPr/>
      </dsp:nvSpPr>
      <dsp:spPr>
        <a:xfrm>
          <a:off x="3215541" y="1972"/>
          <a:ext cx="2588828" cy="1553296"/>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Efficiency on Equal Quality: Both teams had similar shot quality, but the Bucks finished at a much higher rate.</a:t>
          </a:r>
        </a:p>
      </dsp:txBody>
      <dsp:txXfrm>
        <a:off x="3215541" y="1972"/>
        <a:ext cx="2588828" cy="1553296"/>
      </dsp:txXfrm>
    </dsp:sp>
    <dsp:sp modelId="{5C4CD0A8-435C-446F-BBC1-0FD449E6EA1E}">
      <dsp:nvSpPr>
        <dsp:cNvPr id="0" name=""/>
        <dsp:cNvSpPr/>
      </dsp:nvSpPr>
      <dsp:spPr>
        <a:xfrm>
          <a:off x="367830" y="1814152"/>
          <a:ext cx="2588828" cy="1553296"/>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Defensive Pressure on Shai: The Bucks contained OKC’s lead scorer by reducing his shot quality through targeted matchups.</a:t>
          </a:r>
        </a:p>
      </dsp:txBody>
      <dsp:txXfrm>
        <a:off x="367830" y="1814152"/>
        <a:ext cx="2588828" cy="1553296"/>
      </dsp:txXfrm>
    </dsp:sp>
    <dsp:sp modelId="{337ACDC9-3666-426C-BA03-BAA26BC6217E}">
      <dsp:nvSpPr>
        <dsp:cNvPr id="0" name=""/>
        <dsp:cNvSpPr/>
      </dsp:nvSpPr>
      <dsp:spPr>
        <a:xfrm>
          <a:off x="3215541" y="1814152"/>
          <a:ext cx="2588828" cy="1553296"/>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Momentum in Clutch Moments: Milwaukee dominated the 3rd quarter and end of the 1st half to take control.</a:t>
          </a:r>
        </a:p>
      </dsp:txBody>
      <dsp:txXfrm>
        <a:off x="3215541" y="1814152"/>
        <a:ext cx="2588828" cy="1553296"/>
      </dsp:txXfrm>
    </dsp:sp>
    <dsp:sp modelId="{4C4EDD0E-8A33-40A3-AC6C-6BEEEEEA15C2}">
      <dsp:nvSpPr>
        <dsp:cNvPr id="0" name=""/>
        <dsp:cNvSpPr/>
      </dsp:nvSpPr>
      <dsp:spPr>
        <a:xfrm>
          <a:off x="1791685" y="3626331"/>
          <a:ext cx="2588828" cy="1553296"/>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Missed Opportunities from Role Players: Despite strong shot quality, Prince and Jackson Jr. couldn’t convert — a margin for future improvement.</a:t>
          </a:r>
        </a:p>
      </dsp:txBody>
      <dsp:txXfrm>
        <a:off x="1791685" y="3626331"/>
        <a:ext cx="2588828" cy="1553296"/>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8DE8356-FFDA-4E74-B804-79023C7DD259}" type="datetimeFigureOut">
              <a:rPr lang="en-US" smtClean="0"/>
              <a:t>5/2/2025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ECB32D8-F2D2-4D01-80A9-88F3B128AE75}" type="slidenum">
              <a:rPr lang="en-US" smtClean="0"/>
              <a:t>‹#›</a:t>
            </a:fld>
            <a:endParaRPr lang="en-US"/>
          </a:p>
        </p:txBody>
      </p:sp>
    </p:spTree>
    <p:extLst>
      <p:ext uri="{BB962C8B-B14F-4D97-AF65-F5344CB8AC3E}">
        <p14:creationId xmlns:p14="http://schemas.microsoft.com/office/powerpoint/2010/main" val="219084722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3DDCE7-616C-4285-A468-7301F171BC93}" type="datetimeFigureOut">
              <a:rPr lang="en-US" smtClean="0"/>
              <a:t>5/2/2025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C1D8F7-2BDD-4C56-98AF-2E212EF349F3}" type="slidenum">
              <a:rPr lang="en-US" smtClean="0"/>
              <a:t>‹#›</a:t>
            </a:fld>
            <a:endParaRPr lang="en-US"/>
          </a:p>
        </p:txBody>
      </p:sp>
    </p:spTree>
    <p:extLst>
      <p:ext uri="{BB962C8B-B14F-4D97-AF65-F5344CB8AC3E}">
        <p14:creationId xmlns:p14="http://schemas.microsoft.com/office/powerpoint/2010/main" val="21076194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5C1D8F7-2BDD-4C56-98AF-2E212EF349F3}" type="slidenum">
              <a:rPr lang="en-US" smtClean="0"/>
              <a:t>1</a:t>
            </a:fld>
            <a:endParaRPr lang="en-US"/>
          </a:p>
        </p:txBody>
      </p:sp>
    </p:spTree>
    <p:extLst>
      <p:ext uri="{BB962C8B-B14F-4D97-AF65-F5344CB8AC3E}">
        <p14:creationId xmlns:p14="http://schemas.microsoft.com/office/powerpoint/2010/main" val="29403410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Project Scope: </a:t>
            </a:r>
            <a:r>
              <a:rPr lang="en-US" b="0" i="0" baseline="0" dirty="0"/>
              <a:t>This project analyzes shot-level data from the Dec. 17, 2024, Emirates Cup Final between the Bucks and Thunder.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baseline="0" dirty="0"/>
              <a:t>Project Goal: The goal of this project is to create a full game report using every shot to examine shot quality, location, timing, and player behavior.</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05C1D8F7-2BDD-4C56-98AF-2E212EF349F3}" type="slidenum">
              <a:rPr lang="en-US" smtClean="0"/>
              <a:t>2</a:t>
            </a:fld>
            <a:endParaRPr lang="en-US"/>
          </a:p>
        </p:txBody>
      </p:sp>
    </p:spTree>
    <p:extLst>
      <p:ext uri="{BB962C8B-B14F-4D97-AF65-F5344CB8AC3E}">
        <p14:creationId xmlns:p14="http://schemas.microsoft.com/office/powerpoint/2010/main" val="32813615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5C1D8F7-2BDD-4C56-98AF-2E212EF349F3}" type="slidenum">
              <a:rPr lang="en-US" smtClean="0"/>
              <a:t>4</a:t>
            </a:fld>
            <a:endParaRPr lang="en-US"/>
          </a:p>
        </p:txBody>
      </p:sp>
    </p:spTree>
    <p:extLst>
      <p:ext uri="{BB962C8B-B14F-4D97-AF65-F5344CB8AC3E}">
        <p14:creationId xmlns:p14="http://schemas.microsoft.com/office/powerpoint/2010/main" val="26722041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5C1D8F7-2BDD-4C56-98AF-2E212EF349F3}" type="slidenum">
              <a:rPr lang="en-US" smtClean="0"/>
              <a:t>5</a:t>
            </a:fld>
            <a:endParaRPr lang="en-US"/>
          </a:p>
        </p:txBody>
      </p:sp>
    </p:spTree>
    <p:extLst>
      <p:ext uri="{BB962C8B-B14F-4D97-AF65-F5344CB8AC3E}">
        <p14:creationId xmlns:p14="http://schemas.microsoft.com/office/powerpoint/2010/main" val="26419772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1EE013-96DF-3686-01C8-1A0A064C18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A50428-03CF-1055-3F29-B7D328FB66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88BBDB-8735-E3DB-598F-F6B85BA498F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9BCCAAC-16F9-C783-941F-9F43CBA00DE8}"/>
              </a:ext>
            </a:extLst>
          </p:cNvPr>
          <p:cNvSpPr>
            <a:spLocks noGrp="1"/>
          </p:cNvSpPr>
          <p:nvPr>
            <p:ph type="sldNum" sz="quarter" idx="5"/>
          </p:nvPr>
        </p:nvSpPr>
        <p:spPr/>
        <p:txBody>
          <a:bodyPr/>
          <a:lstStyle/>
          <a:p>
            <a:fld id="{05C1D8F7-2BDD-4C56-98AF-2E212EF349F3}" type="slidenum">
              <a:rPr lang="en-US" smtClean="0"/>
              <a:t>6</a:t>
            </a:fld>
            <a:endParaRPr lang="en-US"/>
          </a:p>
        </p:txBody>
      </p:sp>
    </p:spTree>
    <p:extLst>
      <p:ext uri="{BB962C8B-B14F-4D97-AF65-F5344CB8AC3E}">
        <p14:creationId xmlns:p14="http://schemas.microsoft.com/office/powerpoint/2010/main" val="391032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5C1D8F7-2BDD-4C56-98AF-2E212EF349F3}" type="slidenum">
              <a:rPr lang="en-US" smtClean="0"/>
              <a:t>8</a:t>
            </a:fld>
            <a:endParaRPr lang="en-US"/>
          </a:p>
        </p:txBody>
      </p:sp>
    </p:spTree>
    <p:extLst>
      <p:ext uri="{BB962C8B-B14F-4D97-AF65-F5344CB8AC3E}">
        <p14:creationId xmlns:p14="http://schemas.microsoft.com/office/powerpoint/2010/main" val="3548838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graphic here demonstrates the shot chart comparison between OKC and Milwaukee throughout the entirety of the game. </a:t>
            </a:r>
          </a:p>
        </p:txBody>
      </p:sp>
      <p:sp>
        <p:nvSpPr>
          <p:cNvPr id="4" name="Slide Number Placeholder 3"/>
          <p:cNvSpPr>
            <a:spLocks noGrp="1"/>
          </p:cNvSpPr>
          <p:nvPr>
            <p:ph type="sldNum" sz="quarter" idx="5"/>
          </p:nvPr>
        </p:nvSpPr>
        <p:spPr/>
        <p:txBody>
          <a:bodyPr/>
          <a:lstStyle/>
          <a:p>
            <a:fld id="{05C1D8F7-2BDD-4C56-98AF-2E212EF349F3}" type="slidenum">
              <a:rPr lang="en-US" smtClean="0"/>
              <a:t>12</a:t>
            </a:fld>
            <a:endParaRPr lang="en-US"/>
          </a:p>
        </p:txBody>
      </p:sp>
    </p:spTree>
    <p:extLst>
      <p:ext uri="{BB962C8B-B14F-4D97-AF65-F5344CB8AC3E}">
        <p14:creationId xmlns:p14="http://schemas.microsoft.com/office/powerpoint/2010/main" val="33475351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Shooting Efficiency heatmap is a copy from the shot chart but it shows where from the half court that OKC and Mil made their shots throughout the entirety of the game. </a:t>
            </a:r>
          </a:p>
        </p:txBody>
      </p:sp>
      <p:sp>
        <p:nvSpPr>
          <p:cNvPr id="4" name="Slide Number Placeholder 3"/>
          <p:cNvSpPr>
            <a:spLocks noGrp="1"/>
          </p:cNvSpPr>
          <p:nvPr>
            <p:ph type="sldNum" sz="quarter" idx="5"/>
          </p:nvPr>
        </p:nvSpPr>
        <p:spPr/>
        <p:txBody>
          <a:bodyPr/>
          <a:lstStyle/>
          <a:p>
            <a:fld id="{05C1D8F7-2BDD-4C56-98AF-2E212EF349F3}" type="slidenum">
              <a:rPr lang="en-US" smtClean="0"/>
              <a:t>13</a:t>
            </a:fld>
            <a:endParaRPr lang="en-US"/>
          </a:p>
        </p:txBody>
      </p:sp>
    </p:spTree>
    <p:extLst>
      <p:ext uri="{BB962C8B-B14F-4D97-AF65-F5344CB8AC3E}">
        <p14:creationId xmlns:p14="http://schemas.microsoft.com/office/powerpoint/2010/main" val="13518247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included to break down and compare the </a:t>
            </a:r>
            <a:r>
              <a:rPr lang="en-US" b="1" dirty="0"/>
              <a:t>field goal percentage by shot zone and shot type</a:t>
            </a:r>
            <a:r>
              <a:rPr lang="en-US" dirty="0"/>
              <a:t> between Milwaukee and Oklahoma City. By visualizing the data this way, we can highlight not just </a:t>
            </a:r>
            <a:r>
              <a:rPr lang="en-US" i="1" dirty="0"/>
              <a:t>where</a:t>
            </a:r>
            <a:r>
              <a:rPr lang="en-US" dirty="0"/>
              <a:t> shots were taken, but </a:t>
            </a:r>
            <a:r>
              <a:rPr lang="en-US" i="1" dirty="0"/>
              <a:t>how well</a:t>
            </a:r>
            <a:r>
              <a:rPr lang="en-US" dirty="0"/>
              <a:t> each team executed from those locations. It provides valuable insight into team shot selection strategies, efficiency by location, and offensive diversity. This helps support the broader narrative that Milwaukee’s scoring success was not just about volume but about smart, high-efficiency shooting from a wide range of court positions and shot styles.</a:t>
            </a:r>
          </a:p>
          <a:p>
            <a:endParaRPr lang="en-US" dirty="0"/>
          </a:p>
          <a:p>
            <a:r>
              <a:rPr lang="en-US" dirty="0"/>
              <a:t>Milwaukee displayed </a:t>
            </a:r>
            <a:r>
              <a:rPr lang="en-US" b="1" dirty="0"/>
              <a:t>superior shooting efficiency</a:t>
            </a:r>
            <a:r>
              <a:rPr lang="en-US" dirty="0"/>
              <a:t> across both perimeter and interior zones. They were particularly dominant on </a:t>
            </a:r>
            <a:r>
              <a:rPr lang="en-US" b="1" dirty="0"/>
              <a:t>corner and wing three-point shots</a:t>
            </a:r>
            <a:r>
              <a:rPr lang="en-US" dirty="0"/>
              <a:t>, and outperformed OKC in </a:t>
            </a:r>
            <a:r>
              <a:rPr lang="en-US" b="1" dirty="0"/>
              <a:t>layups and post plays</a:t>
            </a:r>
            <a:r>
              <a:rPr lang="en-US" dirty="0"/>
              <a:t>. Meanwhile, OKC’s field goal percentage lagged behind in most areas — especially on the </a:t>
            </a:r>
            <a:r>
              <a:rPr lang="en-US" b="1" dirty="0"/>
              <a:t>right side of the floor</a:t>
            </a:r>
            <a:r>
              <a:rPr lang="en-US" dirty="0"/>
              <a:t>, where they struggled to convert. This contrast highlights how </a:t>
            </a:r>
            <a:r>
              <a:rPr lang="en-US" b="1" dirty="0"/>
              <a:t>Milwaukee's shot variety and zone efficiency created a scoring edge</a:t>
            </a:r>
            <a:r>
              <a:rPr lang="en-US" dirty="0"/>
              <a:t>, while OKC’s more limited success from specific zones constrained their offensive output.</a:t>
            </a:r>
          </a:p>
        </p:txBody>
      </p:sp>
      <p:sp>
        <p:nvSpPr>
          <p:cNvPr id="4" name="Slide Number Placeholder 3"/>
          <p:cNvSpPr>
            <a:spLocks noGrp="1"/>
          </p:cNvSpPr>
          <p:nvPr>
            <p:ph type="sldNum" sz="quarter" idx="5"/>
          </p:nvPr>
        </p:nvSpPr>
        <p:spPr/>
        <p:txBody>
          <a:bodyPr/>
          <a:lstStyle/>
          <a:p>
            <a:fld id="{05C1D8F7-2BDD-4C56-98AF-2E212EF349F3}" type="slidenum">
              <a:rPr lang="en-US" smtClean="0"/>
              <a:t>14</a:t>
            </a:fld>
            <a:endParaRPr lang="en-US"/>
          </a:p>
        </p:txBody>
      </p:sp>
    </p:spTree>
    <p:extLst>
      <p:ext uri="{BB962C8B-B14F-4D97-AF65-F5344CB8AC3E}">
        <p14:creationId xmlns:p14="http://schemas.microsoft.com/office/powerpoint/2010/main" val="27099238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was added to show the difference between </a:t>
            </a:r>
            <a:r>
              <a:rPr lang="en-US" b="1" dirty="0"/>
              <a:t>average shot quality</a:t>
            </a:r>
            <a:r>
              <a:rPr lang="en-US" dirty="0"/>
              <a:t> and </a:t>
            </a:r>
            <a:r>
              <a:rPr lang="en-US" b="1" dirty="0"/>
              <a:t>actual field goal percentage</a:t>
            </a:r>
            <a:r>
              <a:rPr lang="en-US" dirty="0"/>
              <a:t> for each team. Shot quality reflects the likelihood of a shot going in based on context (e.g., location, defender distance), while actual FG% tells us what really happened. Comparing these side-by-side helps reveal which team </a:t>
            </a:r>
            <a:r>
              <a:rPr lang="en-US" b="1" dirty="0"/>
              <a:t>outperformed or underperformed their shot opportunities</a:t>
            </a:r>
            <a:r>
              <a:rPr lang="en-US" dirty="0"/>
              <a:t>. This is critical to understanding the role of execution versus opportunity — it's not just about creating good shots, but capitalizing on them. The chart emphasizes how execution quality played a key role in the outcome.</a:t>
            </a:r>
          </a:p>
          <a:p>
            <a:r>
              <a:rPr lang="en-US" dirty="0"/>
              <a:t>Both Milwaukee and OKC generated </a:t>
            </a:r>
            <a:r>
              <a:rPr lang="en-US" b="1" dirty="0"/>
              <a:t>similar shot quality</a:t>
            </a:r>
            <a:r>
              <a:rPr lang="en-US" dirty="0"/>
              <a:t>, but Milwaukee converted at a noticeably higher rate. This gap between expected and actual performance shows that </a:t>
            </a:r>
            <a:r>
              <a:rPr lang="en-US" b="1" dirty="0"/>
              <a:t>Milwaukee executed more efficiently</a:t>
            </a:r>
            <a:r>
              <a:rPr lang="en-US" dirty="0"/>
              <a:t>, making the most of their chances. In contrast, OKC underperformed relative to the quality of looks they created, which significantly impacted their scoring output. This reinforces the idea that shot creation alone isn’t enough — </a:t>
            </a:r>
            <a:r>
              <a:rPr lang="en-US" b="1" dirty="0"/>
              <a:t>conversion matters</a:t>
            </a:r>
            <a:r>
              <a:rPr lang="en-US" dirty="0"/>
              <a:t>, especially in a high-stakes game.</a:t>
            </a:r>
          </a:p>
          <a:p>
            <a:endParaRPr lang="en-US" dirty="0"/>
          </a:p>
        </p:txBody>
      </p:sp>
      <p:sp>
        <p:nvSpPr>
          <p:cNvPr id="4" name="Slide Number Placeholder 3"/>
          <p:cNvSpPr>
            <a:spLocks noGrp="1"/>
          </p:cNvSpPr>
          <p:nvPr>
            <p:ph type="sldNum" sz="quarter" idx="5"/>
          </p:nvPr>
        </p:nvSpPr>
        <p:spPr/>
        <p:txBody>
          <a:bodyPr/>
          <a:lstStyle/>
          <a:p>
            <a:fld id="{05C1D8F7-2BDD-4C56-98AF-2E212EF349F3}" type="slidenum">
              <a:rPr lang="en-US" smtClean="0"/>
              <a:t>15</a:t>
            </a:fld>
            <a:endParaRPr lang="en-US"/>
          </a:p>
        </p:txBody>
      </p:sp>
    </p:spTree>
    <p:extLst>
      <p:ext uri="{BB962C8B-B14F-4D97-AF65-F5344CB8AC3E}">
        <p14:creationId xmlns:p14="http://schemas.microsoft.com/office/powerpoint/2010/main" val="35717624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was included to dive deeper into </a:t>
            </a:r>
            <a:r>
              <a:rPr lang="en-US" b="1" dirty="0"/>
              <a:t>individual player performance</a:t>
            </a:r>
            <a:r>
              <a:rPr lang="en-US" dirty="0"/>
              <a:t>, highlighting how players on both teams performed relative to the quality of shots they were taking. By comparing each player's </a:t>
            </a:r>
            <a:r>
              <a:rPr lang="en-US" b="1" dirty="0"/>
              <a:t>shot quality (expected FG%)</a:t>
            </a:r>
            <a:r>
              <a:rPr lang="en-US" dirty="0"/>
              <a:t> and </a:t>
            </a:r>
            <a:r>
              <a:rPr lang="en-US" b="1" dirty="0"/>
              <a:t>actual field goal percentage</a:t>
            </a:r>
            <a:r>
              <a:rPr lang="en-US" dirty="0"/>
              <a:t>, we can identify who </a:t>
            </a:r>
            <a:r>
              <a:rPr lang="en-US" b="1" dirty="0"/>
              <a:t>outperformed or underperformed expectations</a:t>
            </a:r>
            <a:r>
              <a:rPr lang="en-US" dirty="0"/>
              <a:t>. This analysis reveals which players were creating good looks but failing to convert, and which players were either hitting tough shots or struggling overall — critical for evaluating both shot selection and execution at the player level.</a:t>
            </a:r>
          </a:p>
          <a:p>
            <a:endParaRPr lang="en-US" dirty="0"/>
          </a:p>
          <a:p>
            <a:r>
              <a:rPr lang="en-US" b="1" dirty="0"/>
              <a:t>Andre Jackson Jr.</a:t>
            </a:r>
            <a:r>
              <a:rPr lang="en-US" dirty="0"/>
              <a:t> and </a:t>
            </a:r>
            <a:r>
              <a:rPr lang="en-US" b="1" dirty="0"/>
              <a:t>Taurean Prince</a:t>
            </a:r>
            <a:r>
              <a:rPr lang="en-US" dirty="0"/>
              <a:t> had two of the </a:t>
            </a:r>
            <a:r>
              <a:rPr lang="en-US" b="1" dirty="0"/>
              <a:t>highest shot quality ratings</a:t>
            </a:r>
            <a:r>
              <a:rPr lang="en-US" dirty="0"/>
              <a:t> but also some of the </a:t>
            </a:r>
            <a:r>
              <a:rPr lang="en-US" b="1" dirty="0"/>
              <a:t>lowest conversion rates</a:t>
            </a:r>
            <a:r>
              <a:rPr lang="en-US" dirty="0"/>
              <a:t>, suggesting Milwaukee left points on the floor despite good opportunities. </a:t>
            </a:r>
            <a:r>
              <a:rPr lang="en-US" b="1" dirty="0"/>
              <a:t>Isaiah Joe</a:t>
            </a:r>
            <a:r>
              <a:rPr lang="en-US" dirty="0"/>
              <a:t> and </a:t>
            </a:r>
            <a:r>
              <a:rPr lang="en-US" b="1" dirty="0"/>
              <a:t>Lu Dort</a:t>
            </a:r>
            <a:r>
              <a:rPr lang="en-US" dirty="0"/>
              <a:t> for OKC showed stronger alignment between shot quality and FG%, but others like </a:t>
            </a:r>
            <a:r>
              <a:rPr lang="en-US" b="1" dirty="0"/>
              <a:t>Jalen Williams</a:t>
            </a:r>
            <a:r>
              <a:rPr lang="en-US" dirty="0"/>
              <a:t> underperformed. This slide reinforces that </a:t>
            </a:r>
            <a:r>
              <a:rPr lang="en-US" b="1" dirty="0"/>
              <a:t>execution — not just opportunity — drove Milwaukee’s win</a:t>
            </a:r>
            <a:r>
              <a:rPr lang="en-US" dirty="0"/>
              <a:t>, and that optimizing performance from role players could further increase their offensive ceiling.</a:t>
            </a:r>
          </a:p>
        </p:txBody>
      </p:sp>
      <p:sp>
        <p:nvSpPr>
          <p:cNvPr id="4" name="Slide Number Placeholder 3"/>
          <p:cNvSpPr>
            <a:spLocks noGrp="1"/>
          </p:cNvSpPr>
          <p:nvPr>
            <p:ph type="sldNum" sz="quarter" idx="5"/>
          </p:nvPr>
        </p:nvSpPr>
        <p:spPr/>
        <p:txBody>
          <a:bodyPr/>
          <a:lstStyle/>
          <a:p>
            <a:fld id="{05C1D8F7-2BDD-4C56-98AF-2E212EF349F3}" type="slidenum">
              <a:rPr lang="en-US" smtClean="0"/>
              <a:t>16</a:t>
            </a:fld>
            <a:endParaRPr lang="en-US"/>
          </a:p>
        </p:txBody>
      </p:sp>
    </p:spTree>
    <p:extLst>
      <p:ext uri="{BB962C8B-B14F-4D97-AF65-F5344CB8AC3E}">
        <p14:creationId xmlns:p14="http://schemas.microsoft.com/office/powerpoint/2010/main" val="26157266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highlights </a:t>
            </a:r>
            <a:r>
              <a:rPr lang="en-US" b="1" dirty="0"/>
              <a:t>individual player performance during high-pressure moments</a:t>
            </a:r>
            <a:r>
              <a:rPr lang="en-US" dirty="0"/>
              <a:t>, defined as </a:t>
            </a:r>
            <a:r>
              <a:rPr lang="en-US" b="1" dirty="0"/>
              <a:t>“important time”</a:t>
            </a:r>
            <a:r>
              <a:rPr lang="en-US" dirty="0"/>
              <a:t> — specifically, the </a:t>
            </a:r>
            <a:r>
              <a:rPr lang="en-US" b="1" dirty="0"/>
              <a:t>final 4 minutes of each half and the entire 3rd quarter</a:t>
            </a:r>
            <a:r>
              <a:rPr lang="en-US" dirty="0"/>
              <a:t>, when scoring swings and defensive intensity have the most impact. By comparing </a:t>
            </a:r>
            <a:r>
              <a:rPr lang="en-US" b="1" dirty="0"/>
              <a:t>field goal percentage</a:t>
            </a:r>
            <a:r>
              <a:rPr lang="en-US" dirty="0"/>
              <a:t> to </a:t>
            </a:r>
            <a:r>
              <a:rPr lang="en-US" b="1" dirty="0"/>
              <a:t>shot quality</a:t>
            </a:r>
            <a:r>
              <a:rPr lang="en-US" dirty="0"/>
              <a:t> during these moments, this analysis identifies which players stepped up in key situations and who fell short. It’s valuable for assessing </a:t>
            </a:r>
            <a:r>
              <a:rPr lang="en-US" b="1" dirty="0"/>
              <a:t>clutch performance</a:t>
            </a:r>
            <a:r>
              <a:rPr lang="en-US" dirty="0"/>
              <a:t> and identifying areas for strategic improvement late in games.</a:t>
            </a:r>
          </a:p>
          <a:p>
            <a:endParaRPr lang="en-US" dirty="0"/>
          </a:p>
          <a:p>
            <a:r>
              <a:rPr lang="en-US" b="1" dirty="0"/>
              <a:t>Brook Lopez</a:t>
            </a:r>
            <a:r>
              <a:rPr lang="en-US" dirty="0"/>
              <a:t> and </a:t>
            </a:r>
            <a:r>
              <a:rPr lang="en-US" b="1" dirty="0"/>
              <a:t>Gary Trent Jr.</a:t>
            </a:r>
            <a:r>
              <a:rPr lang="en-US" dirty="0"/>
              <a:t> stood out by converting </a:t>
            </a:r>
            <a:r>
              <a:rPr lang="en-US" b="1" dirty="0"/>
              <a:t>high shot quality into high efficiency</a:t>
            </a:r>
            <a:r>
              <a:rPr lang="en-US" dirty="0"/>
              <a:t>, making critical contributions during important stretches. In contrast, players like </a:t>
            </a:r>
            <a:r>
              <a:rPr lang="en-US" b="1" dirty="0"/>
              <a:t>Andre Jackson Jr.</a:t>
            </a:r>
            <a:r>
              <a:rPr lang="en-US" dirty="0"/>
              <a:t> had quality looks but underperformed, limiting potential scoring impact during key windows. This underscores how </a:t>
            </a:r>
            <a:r>
              <a:rPr lang="en-US" b="1" dirty="0"/>
              <a:t>Milwaukee’s edge in clutch-time execution</a:t>
            </a:r>
            <a:r>
              <a:rPr lang="en-US" dirty="0"/>
              <a:t> — particularly from experienced players — helped secure control in pivotal moments like the third quarter and late-game possessions.</a:t>
            </a:r>
          </a:p>
          <a:p>
            <a:endParaRPr lang="en-US" dirty="0"/>
          </a:p>
        </p:txBody>
      </p:sp>
      <p:sp>
        <p:nvSpPr>
          <p:cNvPr id="4" name="Slide Number Placeholder 3"/>
          <p:cNvSpPr>
            <a:spLocks noGrp="1"/>
          </p:cNvSpPr>
          <p:nvPr>
            <p:ph type="sldNum" sz="quarter" idx="5"/>
          </p:nvPr>
        </p:nvSpPr>
        <p:spPr/>
        <p:txBody>
          <a:bodyPr/>
          <a:lstStyle/>
          <a:p>
            <a:fld id="{05C1D8F7-2BDD-4C56-98AF-2E212EF349F3}" type="slidenum">
              <a:rPr lang="en-US" smtClean="0"/>
              <a:t>17</a:t>
            </a:fld>
            <a:endParaRPr lang="en-US"/>
          </a:p>
        </p:txBody>
      </p:sp>
    </p:spTree>
    <p:extLst>
      <p:ext uri="{BB962C8B-B14F-4D97-AF65-F5344CB8AC3E}">
        <p14:creationId xmlns:p14="http://schemas.microsoft.com/office/powerpoint/2010/main" val="39878969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Important time in this context was calculated in this case instead of clutch because in this game the game was not decided in the fourth quarter and the game was out of reach, instead we looked into the last 4 minutes for both the first and second quarter but also included the entirety of the third as these were integral part of the game where it turned to the Bucks favor and we wanted to deeper dive in this part of the game. </a:t>
            </a:r>
          </a:p>
        </p:txBody>
      </p:sp>
      <p:sp>
        <p:nvSpPr>
          <p:cNvPr id="4" name="Slide Number Placeholder 3"/>
          <p:cNvSpPr>
            <a:spLocks noGrp="1"/>
          </p:cNvSpPr>
          <p:nvPr>
            <p:ph type="sldNum" sz="quarter" idx="5"/>
          </p:nvPr>
        </p:nvSpPr>
        <p:spPr/>
        <p:txBody>
          <a:bodyPr/>
          <a:lstStyle/>
          <a:p>
            <a:fld id="{05C1D8F7-2BDD-4C56-98AF-2E212EF349F3}" type="slidenum">
              <a:rPr lang="en-US" smtClean="0"/>
              <a:t>18</a:t>
            </a:fld>
            <a:endParaRPr lang="en-US"/>
          </a:p>
        </p:txBody>
      </p:sp>
    </p:spTree>
    <p:extLst>
      <p:ext uri="{BB962C8B-B14F-4D97-AF65-F5344CB8AC3E}">
        <p14:creationId xmlns:p14="http://schemas.microsoft.com/office/powerpoint/2010/main" val="6883827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visually demonstrates how </a:t>
            </a:r>
            <a:r>
              <a:rPr lang="en-US" b="1" dirty="0"/>
              <a:t>shot distance and defender proximity</a:t>
            </a:r>
            <a:r>
              <a:rPr lang="en-US" dirty="0"/>
              <a:t> clustered across different levels of contest (uncontested, lightly contested, contested) for both the Bucks and Thunder. I included it to highlight the </a:t>
            </a:r>
            <a:r>
              <a:rPr lang="en-US" b="1" dirty="0"/>
              <a:t>defensive shot pressure each team applied</a:t>
            </a:r>
            <a:r>
              <a:rPr lang="en-US" dirty="0"/>
              <a:t> and how that may have influenced shot quality and overall shooting performance. It helps explain not just </a:t>
            </a:r>
            <a:r>
              <a:rPr lang="en-US" i="1" dirty="0"/>
              <a:t>where</a:t>
            </a:r>
            <a:r>
              <a:rPr lang="en-US" dirty="0"/>
              <a:t> shots came from, but </a:t>
            </a:r>
            <a:r>
              <a:rPr lang="en-US" i="1" dirty="0"/>
              <a:t>how well-defended</a:t>
            </a:r>
            <a:r>
              <a:rPr lang="en-US" dirty="0"/>
              <a:t> they were — offering important context behind the FG% and shot quality data shown in earlier slides.</a:t>
            </a:r>
          </a:p>
          <a:p>
            <a:endParaRPr lang="en-US" dirty="0"/>
          </a:p>
          <a:p>
            <a:r>
              <a:rPr lang="en-US" dirty="0"/>
              <a:t>Milwaukee's chart shows a </a:t>
            </a:r>
            <a:r>
              <a:rPr lang="en-US" b="1" dirty="0"/>
              <a:t>wider spread of uncontested and lightly contested shots</a:t>
            </a:r>
            <a:r>
              <a:rPr lang="en-US" dirty="0"/>
              <a:t>, especially at longer distances, suggesting better spacing and shot creation. In contrast, OKC's shot profile shows a </a:t>
            </a:r>
            <a:r>
              <a:rPr lang="en-US" b="1" dirty="0"/>
              <a:t>higher concentration of contested looks</a:t>
            </a:r>
            <a:r>
              <a:rPr lang="en-US" dirty="0"/>
              <a:t>, even on mid-range and shorter attempts. This pattern indicates that the Bucks did a better job of generating clean looks, while their defense forced OKC into </a:t>
            </a:r>
            <a:r>
              <a:rPr lang="en-US" b="1" dirty="0"/>
              <a:t>tighter, more heavily contested shots</a:t>
            </a:r>
            <a:r>
              <a:rPr lang="en-US" dirty="0"/>
              <a:t>, likely contributing to their lower shooting efficiency.</a:t>
            </a:r>
          </a:p>
        </p:txBody>
      </p:sp>
      <p:sp>
        <p:nvSpPr>
          <p:cNvPr id="4" name="Slide Number Placeholder 3"/>
          <p:cNvSpPr>
            <a:spLocks noGrp="1"/>
          </p:cNvSpPr>
          <p:nvPr>
            <p:ph type="sldNum" sz="quarter" idx="5"/>
          </p:nvPr>
        </p:nvSpPr>
        <p:spPr/>
        <p:txBody>
          <a:bodyPr/>
          <a:lstStyle/>
          <a:p>
            <a:fld id="{05C1D8F7-2BDD-4C56-98AF-2E212EF349F3}" type="slidenum">
              <a:rPr lang="en-US" smtClean="0"/>
              <a:t>19</a:t>
            </a:fld>
            <a:endParaRPr lang="en-US"/>
          </a:p>
        </p:txBody>
      </p:sp>
    </p:spTree>
    <p:extLst>
      <p:ext uri="{BB962C8B-B14F-4D97-AF65-F5344CB8AC3E}">
        <p14:creationId xmlns:p14="http://schemas.microsoft.com/office/powerpoint/2010/main" val="41641058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showcases the </a:t>
            </a:r>
            <a:r>
              <a:rPr lang="en-US" b="1" dirty="0"/>
              <a:t>top 10 players in Points Per Shot (PPS)</a:t>
            </a:r>
            <a:r>
              <a:rPr lang="en-US" dirty="0"/>
              <a:t> to highlight the most efficient scorers on a per-attempt basis. It was included to move beyond raw scoring volume and focus on </a:t>
            </a:r>
            <a:r>
              <a:rPr lang="en-US" b="1" dirty="0"/>
              <a:t>shot efficiency</a:t>
            </a:r>
            <a:r>
              <a:rPr lang="en-US" dirty="0"/>
              <a:t>, which is a more meaningful indicator of offensive value. By comparing players from both teams, the chart gives a clear sense of who maximized their scoring opportunities and how that efficiency contributed to their team’s overall performance.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Milwaukee players dominated the top of the PPS rankings, with </a:t>
            </a:r>
            <a:r>
              <a:rPr lang="en-US" b="1" dirty="0"/>
              <a:t>Andre Jackson Jr., Gary Trent Jr., and Damian Lillard</a:t>
            </a:r>
            <a:r>
              <a:rPr lang="en-US" dirty="0"/>
              <a:t> leading the list — each averaging over </a:t>
            </a:r>
            <a:r>
              <a:rPr lang="en-US" b="1" dirty="0"/>
              <a:t>1.4 points per shot</a:t>
            </a:r>
            <a:r>
              <a:rPr lang="en-US" dirty="0"/>
              <a:t>. This reflects not only strong shot selection but also high conversion in efficient areas. In contrast, OKC’s top contributors had noticeably lower PPS, indicating they </a:t>
            </a:r>
            <a:r>
              <a:rPr lang="en-US" b="1" dirty="0"/>
              <a:t>weren’t maximizing shot opportunities</a:t>
            </a:r>
            <a:r>
              <a:rPr lang="en-US" dirty="0"/>
              <a:t> as effectively. This efficiency gap played a key role in the scoring disparity between the teams.</a:t>
            </a:r>
          </a:p>
          <a:p>
            <a:endParaRPr lang="en-US" dirty="0"/>
          </a:p>
        </p:txBody>
      </p:sp>
      <p:sp>
        <p:nvSpPr>
          <p:cNvPr id="4" name="Slide Number Placeholder 3"/>
          <p:cNvSpPr>
            <a:spLocks noGrp="1"/>
          </p:cNvSpPr>
          <p:nvPr>
            <p:ph type="sldNum" sz="quarter" idx="5"/>
          </p:nvPr>
        </p:nvSpPr>
        <p:spPr/>
        <p:txBody>
          <a:bodyPr/>
          <a:lstStyle/>
          <a:p>
            <a:fld id="{05C1D8F7-2BDD-4C56-98AF-2E212EF349F3}" type="slidenum">
              <a:rPr lang="en-US" smtClean="0"/>
              <a:t>20</a:t>
            </a:fld>
            <a:endParaRPr lang="en-US"/>
          </a:p>
        </p:txBody>
      </p:sp>
    </p:spTree>
    <p:extLst>
      <p:ext uri="{BB962C8B-B14F-4D97-AF65-F5344CB8AC3E}">
        <p14:creationId xmlns:p14="http://schemas.microsoft.com/office/powerpoint/2010/main" val="29164487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compares how each team performed based on </a:t>
            </a:r>
            <a:r>
              <a:rPr lang="en-US" b="1" dirty="0"/>
              <a:t>shot contest levels</a:t>
            </a:r>
            <a:r>
              <a:rPr lang="en-US" dirty="0"/>
              <a:t> and </a:t>
            </a:r>
            <a:r>
              <a:rPr lang="en-US" b="1" dirty="0"/>
              <a:t>defender proximity</a:t>
            </a:r>
            <a:r>
              <a:rPr lang="en-US" dirty="0"/>
              <a:t> at the time of the shot. It was included to show how </a:t>
            </a:r>
            <a:r>
              <a:rPr lang="en-US" b="1" dirty="0"/>
              <a:t>shot pressure (contest level)</a:t>
            </a:r>
            <a:r>
              <a:rPr lang="en-US" dirty="0"/>
              <a:t> and </a:t>
            </a:r>
            <a:r>
              <a:rPr lang="en-US" b="1" dirty="0"/>
              <a:t>spacing (defender distance)</a:t>
            </a:r>
            <a:r>
              <a:rPr lang="en-US" dirty="0"/>
              <a:t> impacted field goal efficiency. The left graph categorizes shots by contest level (heavily, lightly, uncontested), while the right graph shows FG% based on precise </a:t>
            </a:r>
            <a:r>
              <a:rPr lang="en-US" b="1" dirty="0"/>
              <a:t>defender distance in feet</a:t>
            </a:r>
            <a:r>
              <a:rPr lang="en-US" dirty="0"/>
              <a:t>. Together, they help explain which team was better at generating — and converting — quality looks against various levels of defensive pressure.</a:t>
            </a:r>
          </a:p>
          <a:p>
            <a:endParaRPr lang="en-US" dirty="0"/>
          </a:p>
          <a:p>
            <a:r>
              <a:rPr lang="en-US" dirty="0"/>
              <a:t>Milwaukee had a </a:t>
            </a:r>
            <a:r>
              <a:rPr lang="en-US" b="1" dirty="0"/>
              <a:t>clear advantage in lightly contested shots</a:t>
            </a:r>
            <a:r>
              <a:rPr lang="en-US" dirty="0"/>
              <a:t>, converting at a much higher rate than OKC. While both teams had similar performance on uncontested looks, OKC struggled heavily when defenders were near — especially in the 4–6 ft range. The defender distance chart also shows that </a:t>
            </a:r>
            <a:r>
              <a:rPr lang="en-US" b="1" dirty="0"/>
              <a:t>Milwaukee’s FG% peaked at 6+ feet</a:t>
            </a:r>
            <a:r>
              <a:rPr lang="en-US" dirty="0"/>
              <a:t>, maintaining solid efficiency even with defenders nearby. This confirms that the Bucks not only created more favorable shooting conditions but also </a:t>
            </a:r>
            <a:r>
              <a:rPr lang="en-US" b="1" dirty="0"/>
              <a:t>executed better under moderate contest</a:t>
            </a:r>
            <a:r>
              <a:rPr lang="en-US" dirty="0"/>
              <a:t>, a major factor in their win.</a:t>
            </a:r>
          </a:p>
        </p:txBody>
      </p:sp>
      <p:sp>
        <p:nvSpPr>
          <p:cNvPr id="4" name="Slide Number Placeholder 3"/>
          <p:cNvSpPr>
            <a:spLocks noGrp="1"/>
          </p:cNvSpPr>
          <p:nvPr>
            <p:ph type="sldNum" sz="quarter" idx="5"/>
          </p:nvPr>
        </p:nvSpPr>
        <p:spPr/>
        <p:txBody>
          <a:bodyPr/>
          <a:lstStyle/>
          <a:p>
            <a:fld id="{05C1D8F7-2BDD-4C56-98AF-2E212EF349F3}" type="slidenum">
              <a:rPr lang="en-US" smtClean="0"/>
              <a:t>21</a:t>
            </a:fld>
            <a:endParaRPr lang="en-US"/>
          </a:p>
        </p:txBody>
      </p:sp>
    </p:spTree>
    <p:extLst>
      <p:ext uri="{BB962C8B-B14F-4D97-AF65-F5344CB8AC3E}">
        <p14:creationId xmlns:p14="http://schemas.microsoft.com/office/powerpoint/2010/main" val="7907478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breaks down </a:t>
            </a:r>
            <a:r>
              <a:rPr lang="en-US" b="1" dirty="0"/>
              <a:t>field goal percentage by both defender distance and contest level</a:t>
            </a:r>
            <a:r>
              <a:rPr lang="en-US" dirty="0"/>
              <a:t> — allowing us to evaluate how the </a:t>
            </a:r>
            <a:r>
              <a:rPr lang="en-US" b="1" dirty="0"/>
              <a:t>precision of contest pressure</a:t>
            </a:r>
            <a:r>
              <a:rPr lang="en-US" dirty="0"/>
              <a:t> (in feet) interacts with </a:t>
            </a:r>
            <a:r>
              <a:rPr lang="en-US" b="1" dirty="0"/>
              <a:t>subjective shot contest categories</a:t>
            </a:r>
            <a:r>
              <a:rPr lang="en-US" dirty="0"/>
              <a:t> (heavily, lightly, uncontested). It was included to provide a </a:t>
            </a:r>
            <a:r>
              <a:rPr lang="en-US" b="1" dirty="0"/>
              <a:t>nuanced view of how each team handled defensive pressure at various ranges</a:t>
            </a:r>
            <a:r>
              <a:rPr lang="en-US" dirty="0"/>
              <a:t>, offering insight into spacing, shot discipline, and finishing under different levels of resistance. This dual-layer analysis strengthens the connection between analytics and in-game defensive strategy.</a:t>
            </a:r>
          </a:p>
          <a:p>
            <a:endParaRPr lang="en-US" dirty="0"/>
          </a:p>
          <a:p>
            <a:pPr>
              <a:buNone/>
            </a:pPr>
            <a:r>
              <a:rPr lang="en-US" dirty="0"/>
              <a:t>Milwaukee showed </a:t>
            </a:r>
            <a:r>
              <a:rPr lang="en-US" b="1" dirty="0"/>
              <a:t>greater consistency and efficiency</a:t>
            </a:r>
            <a:r>
              <a:rPr lang="en-US" dirty="0"/>
              <a:t> across nearly all contest levels and defender distances. Notably:</a:t>
            </a:r>
          </a:p>
          <a:p>
            <a:pPr>
              <a:buFont typeface="Arial" panose="020B0604020202020204" pitchFamily="34" charset="0"/>
              <a:buChar char="•"/>
            </a:pPr>
            <a:r>
              <a:rPr lang="en-US" b="1" dirty="0"/>
              <a:t>MIL converted lightly contested shots most efficiently at 2–6 ft</a:t>
            </a:r>
            <a:r>
              <a:rPr lang="en-US" dirty="0"/>
              <a:t> and stayed effective even at 6–8 ft.</a:t>
            </a:r>
          </a:p>
          <a:p>
            <a:pPr>
              <a:buFont typeface="Arial" panose="020B0604020202020204" pitchFamily="34" charset="0"/>
              <a:buChar char="•"/>
            </a:pPr>
            <a:r>
              <a:rPr lang="en-US" b="1" dirty="0"/>
              <a:t>OKC’s performance dropped sharply</a:t>
            </a:r>
            <a:r>
              <a:rPr lang="en-US" dirty="0"/>
              <a:t> on uncontested shots beyond 6 feet and struggled particularly when defenders were in the 4–6 ft range.</a:t>
            </a:r>
            <a:br>
              <a:rPr lang="en-US" dirty="0"/>
            </a:br>
            <a:r>
              <a:rPr lang="en-US" dirty="0"/>
              <a:t>This highlights how the Bucks not only created better spacing but also </a:t>
            </a:r>
            <a:r>
              <a:rPr lang="en-US" b="1" dirty="0"/>
              <a:t>handled pressure more effectively at multiple ranges</a:t>
            </a:r>
            <a:r>
              <a:rPr lang="en-US" dirty="0"/>
              <a:t>, reinforcing their edge in shot execution and contest resilience.</a:t>
            </a:r>
          </a:p>
          <a:p>
            <a:endParaRPr lang="en-US" dirty="0"/>
          </a:p>
        </p:txBody>
      </p:sp>
      <p:sp>
        <p:nvSpPr>
          <p:cNvPr id="4" name="Slide Number Placeholder 3"/>
          <p:cNvSpPr>
            <a:spLocks noGrp="1"/>
          </p:cNvSpPr>
          <p:nvPr>
            <p:ph type="sldNum" sz="quarter" idx="5"/>
          </p:nvPr>
        </p:nvSpPr>
        <p:spPr/>
        <p:txBody>
          <a:bodyPr/>
          <a:lstStyle/>
          <a:p>
            <a:fld id="{05C1D8F7-2BDD-4C56-98AF-2E212EF349F3}" type="slidenum">
              <a:rPr lang="en-US" smtClean="0"/>
              <a:t>22</a:t>
            </a:fld>
            <a:endParaRPr lang="en-US"/>
          </a:p>
        </p:txBody>
      </p:sp>
    </p:spTree>
    <p:extLst>
      <p:ext uri="{BB962C8B-B14F-4D97-AF65-F5344CB8AC3E}">
        <p14:creationId xmlns:p14="http://schemas.microsoft.com/office/powerpoint/2010/main" val="6989972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presents the </a:t>
            </a:r>
            <a:r>
              <a:rPr lang="en-US" b="1" dirty="0"/>
              <a:t>feature importance results from a Gradient Boosting (XGBoost) model</a:t>
            </a:r>
            <a:r>
              <a:rPr lang="en-US" dirty="0"/>
              <a:t> trained to predict shot success for the Milwaukee </a:t>
            </a:r>
            <a:r>
              <a:rPr lang="en-US" dirty="0" err="1"/>
              <a:t>Bucks.</a:t>
            </a:r>
            <a:r>
              <a:rPr lang="en-US" dirty="0"/>
              <a:t> It was included to show </a:t>
            </a:r>
            <a:r>
              <a:rPr lang="en-US" b="1" dirty="0"/>
              <a:t>which contextual factors most influenced shot outcomes</a:t>
            </a:r>
            <a:r>
              <a:rPr lang="en-US" dirty="0"/>
              <a:t>, helping explain how and why certain attempts were more likely to go in. This type of model-based analysis gives weight to the patterns observed in previous slides and bridges the gap between descriptive stats and predictive insight — making it valuable for both performance evaluation and future decision-making.</a:t>
            </a:r>
          </a:p>
        </p:txBody>
      </p:sp>
      <p:sp>
        <p:nvSpPr>
          <p:cNvPr id="4" name="Slide Number Placeholder 3"/>
          <p:cNvSpPr>
            <a:spLocks noGrp="1"/>
          </p:cNvSpPr>
          <p:nvPr>
            <p:ph type="sldNum" sz="quarter" idx="5"/>
          </p:nvPr>
        </p:nvSpPr>
        <p:spPr/>
        <p:txBody>
          <a:bodyPr/>
          <a:lstStyle/>
          <a:p>
            <a:fld id="{05C1D8F7-2BDD-4C56-98AF-2E212EF349F3}" type="slidenum">
              <a:rPr lang="en-US" smtClean="0"/>
              <a:t>23</a:t>
            </a:fld>
            <a:endParaRPr lang="en-US"/>
          </a:p>
        </p:txBody>
      </p:sp>
    </p:spTree>
    <p:extLst>
      <p:ext uri="{BB962C8B-B14F-4D97-AF65-F5344CB8AC3E}">
        <p14:creationId xmlns:p14="http://schemas.microsoft.com/office/powerpoint/2010/main" val="28526559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 analysis on Shot Distance and FG and Shot Angle for both teams this game.</a:t>
            </a:r>
          </a:p>
        </p:txBody>
      </p:sp>
      <p:sp>
        <p:nvSpPr>
          <p:cNvPr id="4" name="Slide Number Placeholder 3"/>
          <p:cNvSpPr>
            <a:spLocks noGrp="1"/>
          </p:cNvSpPr>
          <p:nvPr>
            <p:ph type="sldNum" sz="quarter" idx="5"/>
          </p:nvPr>
        </p:nvSpPr>
        <p:spPr/>
        <p:txBody>
          <a:bodyPr/>
          <a:lstStyle/>
          <a:p>
            <a:fld id="{05C1D8F7-2BDD-4C56-98AF-2E212EF349F3}" type="slidenum">
              <a:rPr lang="en-US" smtClean="0"/>
              <a:t>24</a:t>
            </a:fld>
            <a:endParaRPr lang="en-US"/>
          </a:p>
        </p:txBody>
      </p:sp>
    </p:spTree>
    <p:extLst>
      <p:ext uri="{BB962C8B-B14F-4D97-AF65-F5344CB8AC3E}">
        <p14:creationId xmlns:p14="http://schemas.microsoft.com/office/powerpoint/2010/main" val="46761109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5638800" y="304801"/>
            <a:ext cx="5486400" cy="2514599"/>
          </a:xfrm>
        </p:spPr>
        <p:txBody>
          <a:bodyPr anchor="b">
            <a:normAutofit/>
          </a:bodyPr>
          <a:lstStyle>
            <a:lvl1pPr algn="l">
              <a:defRPr sz="5400"/>
            </a:lvl1pPr>
          </a:lstStyle>
          <a:p>
            <a:r>
              <a:rPr lang="en-US"/>
              <a:t>Click to edit Master title style</a:t>
            </a:r>
            <a:endParaRPr lang="en-US" dirty="0"/>
          </a:p>
        </p:txBody>
      </p:sp>
      <p:sp>
        <p:nvSpPr>
          <p:cNvPr id="3" name="Subtitle 2"/>
          <p:cNvSpPr>
            <a:spLocks noGrp="1"/>
          </p:cNvSpPr>
          <p:nvPr>
            <p:ph type="subTitle" idx="1"/>
          </p:nvPr>
        </p:nvSpPr>
        <p:spPr>
          <a:xfrm>
            <a:off x="5638800" y="2895600"/>
            <a:ext cx="5486400" cy="914400"/>
          </a:xfrm>
        </p:spPr>
        <p:txBody>
          <a:bodyPr/>
          <a:lstStyle>
            <a:lvl1pPr marL="0" indent="0" algn="l">
              <a:spcBef>
                <a:spcPts val="1200"/>
              </a:spcBef>
              <a:buNone/>
              <a:defRPr sz="2400">
                <a:solidFill>
                  <a:schemeClr val="bg2">
                    <a:lumMod val="25000"/>
                    <a:lumOff val="7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820533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3762EC29-B8C5-4C7A-B6DA-418494D5CB21}" type="datetimeFigureOut">
              <a:rPr lang="en-US" smtClean="0"/>
              <a:t>5/2/2025</a:t>
            </a:fld>
            <a:endParaRPr lang="en-US"/>
          </a:p>
        </p:txBody>
      </p:sp>
      <p:sp>
        <p:nvSpPr>
          <p:cNvPr id="6" name="Slide Number Placeholder 5"/>
          <p:cNvSpPr>
            <a:spLocks noGrp="1"/>
          </p:cNvSpPr>
          <p:nvPr>
            <p:ph type="sldNum" sz="quarter" idx="12"/>
          </p:nvPr>
        </p:nvSpPr>
        <p:spPr/>
        <p:txBody>
          <a:bodyPr/>
          <a:lstStyle/>
          <a:p>
            <a:fld id="{F9043838-BFF5-400C-B067-3DF4A5F395D6}" type="slidenum">
              <a:rPr lang="en-US" smtClean="0"/>
              <a:t>‹#›</a:t>
            </a:fld>
            <a:endParaRPr lang="en-US"/>
          </a:p>
        </p:txBody>
      </p:sp>
    </p:spTree>
    <p:extLst>
      <p:ext uri="{BB962C8B-B14F-4D97-AF65-F5344CB8AC3E}">
        <p14:creationId xmlns:p14="http://schemas.microsoft.com/office/powerpoint/2010/main" val="32730097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60450" y="1676401"/>
            <a:ext cx="10058400" cy="1752600"/>
          </a:xfrm>
        </p:spPr>
        <p:txBody>
          <a:bodyPr anchor="b">
            <a:normAutofit/>
          </a:bodyPr>
          <a:lstStyle>
            <a:lvl1pPr>
              <a:defRPr sz="4800"/>
            </a:lvl1pPr>
          </a:lstStyle>
          <a:p>
            <a:r>
              <a:rPr lang="en-US"/>
              <a:t>Click to edit Master title style</a:t>
            </a:r>
          </a:p>
        </p:txBody>
      </p:sp>
      <p:sp>
        <p:nvSpPr>
          <p:cNvPr id="3" name="Text Placeholder 2"/>
          <p:cNvSpPr>
            <a:spLocks noGrp="1"/>
          </p:cNvSpPr>
          <p:nvPr>
            <p:ph type="body" idx="1"/>
          </p:nvPr>
        </p:nvSpPr>
        <p:spPr>
          <a:xfrm>
            <a:off x="1060450" y="3581400"/>
            <a:ext cx="10058400" cy="1143000"/>
          </a:xfrm>
        </p:spPr>
        <p:txBody>
          <a:bodyPr/>
          <a:lstStyle>
            <a:lvl1pPr marL="0" indent="0">
              <a:spcBef>
                <a:spcPts val="1200"/>
              </a:spcBef>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3762EC29-B8C5-4C7A-B6DA-418494D5CB21}" type="datetimeFigureOut">
              <a:rPr lang="en-US" smtClean="0"/>
              <a:t>5/2/2025</a:t>
            </a:fld>
            <a:endParaRPr lang="en-US"/>
          </a:p>
        </p:txBody>
      </p:sp>
      <p:sp>
        <p:nvSpPr>
          <p:cNvPr id="6" name="Slide Number Placeholder 5"/>
          <p:cNvSpPr>
            <a:spLocks noGrp="1"/>
          </p:cNvSpPr>
          <p:nvPr>
            <p:ph type="sldNum" sz="quarter" idx="12"/>
          </p:nvPr>
        </p:nvSpPr>
        <p:spPr/>
        <p:txBody>
          <a:bodyPr/>
          <a:lstStyle/>
          <a:p>
            <a:fld id="{F9043838-BFF5-400C-B067-3DF4A5F395D6}" type="slidenum">
              <a:rPr lang="en-US" smtClean="0"/>
              <a:t>‹#›</a:t>
            </a:fld>
            <a:endParaRPr lang="en-US"/>
          </a:p>
        </p:txBody>
      </p:sp>
    </p:spTree>
    <p:extLst>
      <p:ext uri="{BB962C8B-B14F-4D97-AF65-F5344CB8AC3E}">
        <p14:creationId xmlns:p14="http://schemas.microsoft.com/office/powerpoint/2010/main" val="415665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066800" y="1676401"/>
            <a:ext cx="4846320"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78880" y="1676401"/>
            <a:ext cx="4846320"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1"/>
          </p:nvPr>
        </p:nvSpPr>
        <p:spPr/>
        <p:txBody>
          <a:bodyPr/>
          <a:lstStyle/>
          <a:p>
            <a:r>
              <a:rPr lang="en-US" dirty="0"/>
              <a:t>Add a footer</a:t>
            </a:r>
          </a:p>
        </p:txBody>
      </p:sp>
      <p:sp>
        <p:nvSpPr>
          <p:cNvPr id="5" name="Date Placeholder 4"/>
          <p:cNvSpPr>
            <a:spLocks noGrp="1"/>
          </p:cNvSpPr>
          <p:nvPr>
            <p:ph type="dt" sz="half" idx="10"/>
          </p:nvPr>
        </p:nvSpPr>
        <p:spPr/>
        <p:txBody>
          <a:bodyPr/>
          <a:lstStyle/>
          <a:p>
            <a:fld id="{3762EC29-B8C5-4C7A-B6DA-418494D5CB21}" type="datetimeFigureOut">
              <a:rPr lang="en-US" smtClean="0"/>
              <a:t>5/2/2025</a:t>
            </a:fld>
            <a:endParaRPr lang="en-US"/>
          </a:p>
        </p:txBody>
      </p:sp>
      <p:sp>
        <p:nvSpPr>
          <p:cNvPr id="7" name="Slide Number Placeholder 6"/>
          <p:cNvSpPr>
            <a:spLocks noGrp="1"/>
          </p:cNvSpPr>
          <p:nvPr>
            <p:ph type="sldNum" sz="quarter" idx="12"/>
          </p:nvPr>
        </p:nvSpPr>
        <p:spPr/>
        <p:txBody>
          <a:bodyPr/>
          <a:lstStyle/>
          <a:p>
            <a:fld id="{F9043838-BFF5-400C-B067-3DF4A5F395D6}" type="slidenum">
              <a:rPr lang="en-US" smtClean="0"/>
              <a:t>‹#›</a:t>
            </a:fld>
            <a:endParaRPr lang="en-US"/>
          </a:p>
        </p:txBody>
      </p:sp>
    </p:spTree>
    <p:extLst>
      <p:ext uri="{BB962C8B-B14F-4D97-AF65-F5344CB8AC3E}">
        <p14:creationId xmlns:p14="http://schemas.microsoft.com/office/powerpoint/2010/main" val="3390256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1066800" y="1681163"/>
            <a:ext cx="4846320" cy="823912"/>
          </a:xfrm>
        </p:spPr>
        <p:txBody>
          <a:bodyPr anchor="ctr"/>
          <a:lstStyle>
            <a:lvl1pPr marL="0" indent="0">
              <a:buNone/>
              <a:defRPr sz="2400" b="0">
                <a:solidFill>
                  <a:schemeClr val="bg2">
                    <a:lumMod val="50000"/>
                    <a:lumOff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6800" y="2505075"/>
            <a:ext cx="4846320" cy="3514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278880" y="1681163"/>
            <a:ext cx="4846320" cy="823912"/>
          </a:xfrm>
        </p:spPr>
        <p:txBody>
          <a:bodyPr anchor="ctr"/>
          <a:lstStyle>
            <a:lvl1pPr marL="0" indent="0">
              <a:buNone/>
              <a:defRPr sz="2400" b="0">
                <a:solidFill>
                  <a:schemeClr val="bg2">
                    <a:lumMod val="50000"/>
                    <a:lumOff val="5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78880" y="2505075"/>
            <a:ext cx="4846320" cy="3514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r>
              <a:rPr lang="en-US" dirty="0"/>
              <a:t>Add a footer</a:t>
            </a:r>
          </a:p>
        </p:txBody>
      </p:sp>
      <p:sp>
        <p:nvSpPr>
          <p:cNvPr id="7" name="Date Placeholder 6"/>
          <p:cNvSpPr>
            <a:spLocks noGrp="1"/>
          </p:cNvSpPr>
          <p:nvPr>
            <p:ph type="dt" sz="half" idx="10"/>
          </p:nvPr>
        </p:nvSpPr>
        <p:spPr/>
        <p:txBody>
          <a:bodyPr/>
          <a:lstStyle/>
          <a:p>
            <a:fld id="{3762EC29-B8C5-4C7A-B6DA-418494D5CB21}" type="datetimeFigureOut">
              <a:rPr lang="en-US" smtClean="0"/>
              <a:t>5/2/2025</a:t>
            </a:fld>
            <a:endParaRPr lang="en-US"/>
          </a:p>
        </p:txBody>
      </p:sp>
      <p:sp>
        <p:nvSpPr>
          <p:cNvPr id="9" name="Slide Number Placeholder 8"/>
          <p:cNvSpPr>
            <a:spLocks noGrp="1"/>
          </p:cNvSpPr>
          <p:nvPr>
            <p:ph type="sldNum" sz="quarter" idx="12"/>
          </p:nvPr>
        </p:nvSpPr>
        <p:spPr/>
        <p:txBody>
          <a:bodyPr/>
          <a:lstStyle/>
          <a:p>
            <a:fld id="{F9043838-BFF5-400C-B067-3DF4A5F395D6}" type="slidenum">
              <a:rPr lang="en-US" smtClean="0"/>
              <a:t>‹#›</a:t>
            </a:fld>
            <a:endParaRPr lang="en-US"/>
          </a:p>
        </p:txBody>
      </p:sp>
    </p:spTree>
    <p:extLst>
      <p:ext uri="{BB962C8B-B14F-4D97-AF65-F5344CB8AC3E}">
        <p14:creationId xmlns:p14="http://schemas.microsoft.com/office/powerpoint/2010/main" val="6924262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Footer Placeholder 3"/>
          <p:cNvSpPr>
            <a:spLocks noGrp="1"/>
          </p:cNvSpPr>
          <p:nvPr>
            <p:ph type="ftr" sz="quarter" idx="11"/>
          </p:nvPr>
        </p:nvSpPr>
        <p:spPr/>
        <p:txBody>
          <a:bodyPr/>
          <a:lstStyle/>
          <a:p>
            <a:r>
              <a:rPr lang="en-US" dirty="0"/>
              <a:t>Add a footer</a:t>
            </a:r>
          </a:p>
        </p:txBody>
      </p:sp>
      <p:sp>
        <p:nvSpPr>
          <p:cNvPr id="3" name="Date Placeholder 2"/>
          <p:cNvSpPr>
            <a:spLocks noGrp="1"/>
          </p:cNvSpPr>
          <p:nvPr>
            <p:ph type="dt" sz="half" idx="10"/>
          </p:nvPr>
        </p:nvSpPr>
        <p:spPr/>
        <p:txBody>
          <a:bodyPr/>
          <a:lstStyle/>
          <a:p>
            <a:fld id="{3762EC29-B8C5-4C7A-B6DA-418494D5CB21}" type="datetimeFigureOut">
              <a:rPr lang="en-US" smtClean="0"/>
              <a:t>5/2/2025</a:t>
            </a:fld>
            <a:endParaRPr lang="en-US"/>
          </a:p>
        </p:txBody>
      </p:sp>
      <p:sp>
        <p:nvSpPr>
          <p:cNvPr id="5" name="Slide Number Placeholder 4"/>
          <p:cNvSpPr>
            <a:spLocks noGrp="1"/>
          </p:cNvSpPr>
          <p:nvPr>
            <p:ph type="sldNum" sz="quarter" idx="12"/>
          </p:nvPr>
        </p:nvSpPr>
        <p:spPr/>
        <p:txBody>
          <a:bodyPr/>
          <a:lstStyle/>
          <a:p>
            <a:fld id="{F9043838-BFF5-400C-B067-3DF4A5F395D6}" type="slidenum">
              <a:rPr lang="en-US" smtClean="0"/>
              <a:t>‹#›</a:t>
            </a:fld>
            <a:endParaRPr lang="en-US"/>
          </a:p>
        </p:txBody>
      </p:sp>
    </p:spTree>
    <p:extLst>
      <p:ext uri="{BB962C8B-B14F-4D97-AF65-F5344CB8AC3E}">
        <p14:creationId xmlns:p14="http://schemas.microsoft.com/office/powerpoint/2010/main" val="38109304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a:t>Add a footer</a:t>
            </a:r>
          </a:p>
        </p:txBody>
      </p:sp>
      <p:sp>
        <p:nvSpPr>
          <p:cNvPr id="2" name="Date Placeholder 1"/>
          <p:cNvSpPr>
            <a:spLocks noGrp="1"/>
          </p:cNvSpPr>
          <p:nvPr>
            <p:ph type="dt" sz="half" idx="10"/>
          </p:nvPr>
        </p:nvSpPr>
        <p:spPr/>
        <p:txBody>
          <a:bodyPr/>
          <a:lstStyle/>
          <a:p>
            <a:fld id="{3762EC29-B8C5-4C7A-B6DA-418494D5CB21}" type="datetimeFigureOut">
              <a:rPr lang="en-US" smtClean="0"/>
              <a:t>5/2/2025</a:t>
            </a:fld>
            <a:endParaRPr lang="en-US"/>
          </a:p>
        </p:txBody>
      </p:sp>
      <p:sp>
        <p:nvSpPr>
          <p:cNvPr id="4" name="Slide Number Placeholder 3"/>
          <p:cNvSpPr>
            <a:spLocks noGrp="1"/>
          </p:cNvSpPr>
          <p:nvPr>
            <p:ph type="sldNum" sz="quarter" idx="12"/>
          </p:nvPr>
        </p:nvSpPr>
        <p:spPr/>
        <p:txBody>
          <a:bodyPr/>
          <a:lstStyle/>
          <a:p>
            <a:fld id="{F9043838-BFF5-400C-B067-3DF4A5F395D6}" type="slidenum">
              <a:rPr lang="en-US" smtClean="0"/>
              <a:t>‹#›</a:t>
            </a:fld>
            <a:endParaRPr lang="en-US"/>
          </a:p>
        </p:txBody>
      </p:sp>
    </p:spTree>
    <p:extLst>
      <p:ext uri="{BB962C8B-B14F-4D97-AF65-F5344CB8AC3E}">
        <p14:creationId xmlns:p14="http://schemas.microsoft.com/office/powerpoint/2010/main" val="23512000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7467600" cy="6858000"/>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924800" y="838200"/>
            <a:ext cx="3657600" cy="2133600"/>
          </a:xfrm>
        </p:spPr>
        <p:txBody>
          <a:bodyPr anchor="b">
            <a:normAutofit/>
          </a:bodyPr>
          <a:lstStyle>
            <a:lvl1pPr>
              <a:defRPr sz="3600"/>
            </a:lvl1pPr>
          </a:lstStyle>
          <a:p>
            <a:r>
              <a:rPr lang="en-US"/>
              <a:t>Click to edit Master title style</a:t>
            </a:r>
          </a:p>
        </p:txBody>
      </p:sp>
      <p:sp>
        <p:nvSpPr>
          <p:cNvPr id="3" name="Content Placeholder 2"/>
          <p:cNvSpPr>
            <a:spLocks noGrp="1"/>
          </p:cNvSpPr>
          <p:nvPr>
            <p:ph idx="1"/>
          </p:nvPr>
        </p:nvSpPr>
        <p:spPr>
          <a:xfrm>
            <a:off x="609600" y="838200"/>
            <a:ext cx="6172200" cy="5181601"/>
          </a:xfrm>
        </p:spPr>
        <p:txBody>
          <a:bodyPr>
            <a:normAutofit/>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924802" y="3124200"/>
            <a:ext cx="3657600" cy="2895600"/>
          </a:xfrm>
        </p:spPr>
        <p:txBody>
          <a:bodyPr>
            <a:normAutofit/>
          </a:bodyPr>
          <a:lstStyle>
            <a:lvl1pPr marL="0" indent="0">
              <a:spcBef>
                <a:spcPts val="1200"/>
              </a:spcBef>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39795933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924800" y="838200"/>
            <a:ext cx="3657600" cy="2133600"/>
          </a:xfrm>
        </p:spPr>
        <p:txBody>
          <a:bodyPr anchor="b">
            <a:normAutofit/>
          </a:bodyPr>
          <a:lstStyle>
            <a:lvl1pPr>
              <a:defRPr sz="3600"/>
            </a:lvl1pPr>
          </a:lstStyle>
          <a:p>
            <a:r>
              <a:rPr lang="en-US"/>
              <a:t>Click to edit Master title style</a:t>
            </a:r>
          </a:p>
        </p:txBody>
      </p:sp>
      <p:sp>
        <p:nvSpPr>
          <p:cNvPr id="3" name="Picture Placeholder 2" descr="An empty placeholder to add an image. Click on the placeholder and select the image that you wish to add"/>
          <p:cNvSpPr>
            <a:spLocks noGrp="1"/>
          </p:cNvSpPr>
          <p:nvPr>
            <p:ph type="pic" idx="1"/>
          </p:nvPr>
        </p:nvSpPr>
        <p:spPr>
          <a:xfrm>
            <a:off x="0" y="0"/>
            <a:ext cx="7239000" cy="6858000"/>
          </a:xfrm>
          <a:solidFill>
            <a:schemeClr val="bg1"/>
          </a:solidFill>
        </p:spPr>
        <p:txBody>
          <a:bodyPr tIns="365760">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7924801" y="3124200"/>
            <a:ext cx="3657600" cy="2895600"/>
          </a:xfrm>
        </p:spPr>
        <p:txBody>
          <a:bodyPr>
            <a:normAutofit/>
          </a:bodyPr>
          <a:lstStyle>
            <a:lvl1pPr marL="0" indent="0">
              <a:spcBef>
                <a:spcPts val="1200"/>
              </a:spcBef>
              <a:buNone/>
              <a:defRPr sz="2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Rectangle 7"/>
          <p:cNvSpPr/>
          <p:nvPr/>
        </p:nvSpPr>
        <p:spPr>
          <a:xfrm>
            <a:off x="7239000" y="0"/>
            <a:ext cx="228600" cy="6858000"/>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44115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3762EC29-B8C5-4C7A-B6DA-418494D5CB21}" type="datetimeFigureOut">
              <a:rPr lang="en-US" smtClean="0"/>
              <a:t>5/2/2025</a:t>
            </a:fld>
            <a:endParaRPr lang="en-US"/>
          </a:p>
        </p:txBody>
      </p:sp>
      <p:sp>
        <p:nvSpPr>
          <p:cNvPr id="6" name="Slide Number Placeholder 5"/>
          <p:cNvSpPr>
            <a:spLocks noGrp="1"/>
          </p:cNvSpPr>
          <p:nvPr>
            <p:ph type="sldNum" sz="quarter" idx="12"/>
          </p:nvPr>
        </p:nvSpPr>
        <p:spPr/>
        <p:txBody>
          <a:bodyPr/>
          <a:lstStyle/>
          <a:p>
            <a:fld id="{F9043838-BFF5-400C-B067-3DF4A5F395D6}" type="slidenum">
              <a:rPr lang="en-US" smtClean="0"/>
              <a:t>‹#›</a:t>
            </a:fld>
            <a:endParaRPr lang="en-US"/>
          </a:p>
        </p:txBody>
      </p:sp>
    </p:spTree>
    <p:extLst>
      <p:ext uri="{BB962C8B-B14F-4D97-AF65-F5344CB8AC3E}">
        <p14:creationId xmlns:p14="http://schemas.microsoft.com/office/powerpoint/2010/main" val="3174512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6400" y="365125"/>
            <a:ext cx="1828800" cy="565467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066800" y="365125"/>
            <a:ext cx="8001000" cy="56546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Add a footer</a:t>
            </a:r>
          </a:p>
        </p:txBody>
      </p:sp>
      <p:sp>
        <p:nvSpPr>
          <p:cNvPr id="4" name="Date Placeholder 3"/>
          <p:cNvSpPr>
            <a:spLocks noGrp="1"/>
          </p:cNvSpPr>
          <p:nvPr>
            <p:ph type="dt" sz="half" idx="10"/>
          </p:nvPr>
        </p:nvSpPr>
        <p:spPr/>
        <p:txBody>
          <a:bodyPr/>
          <a:lstStyle/>
          <a:p>
            <a:fld id="{3762EC29-B8C5-4C7A-B6DA-418494D5CB21}" type="datetimeFigureOut">
              <a:rPr lang="en-US" smtClean="0"/>
              <a:t>5/2/2025</a:t>
            </a:fld>
            <a:endParaRPr lang="en-US"/>
          </a:p>
        </p:txBody>
      </p:sp>
      <p:sp>
        <p:nvSpPr>
          <p:cNvPr id="6" name="Slide Number Placeholder 5"/>
          <p:cNvSpPr>
            <a:spLocks noGrp="1"/>
          </p:cNvSpPr>
          <p:nvPr>
            <p:ph type="sldNum" sz="quarter" idx="12"/>
          </p:nvPr>
        </p:nvSpPr>
        <p:spPr/>
        <p:txBody>
          <a:bodyPr/>
          <a:lstStyle/>
          <a:p>
            <a:fld id="{F9043838-BFF5-400C-B067-3DF4A5F395D6}" type="slidenum">
              <a:rPr lang="en-US" smtClean="0"/>
              <a:t>‹#›</a:t>
            </a:fld>
            <a:endParaRPr lang="en-US"/>
          </a:p>
        </p:txBody>
      </p:sp>
    </p:spTree>
    <p:extLst>
      <p:ext uri="{BB962C8B-B14F-4D97-AF65-F5344CB8AC3E}">
        <p14:creationId xmlns:p14="http://schemas.microsoft.com/office/powerpoint/2010/main" val="4473790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6800" y="304800"/>
            <a:ext cx="10058400" cy="1143000"/>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1066800" y="1676400"/>
            <a:ext cx="10058400" cy="43434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1070918" y="6392562"/>
            <a:ext cx="7082481" cy="180976"/>
          </a:xfrm>
          <a:prstGeom prst="rect">
            <a:avLst/>
          </a:prstGeom>
        </p:spPr>
        <p:txBody>
          <a:bodyPr vert="horz" lIns="91440" tIns="45720" rIns="91440" bIns="45720" rtlCol="0" anchor="ctr"/>
          <a:lstStyle>
            <a:lvl1pPr algn="l">
              <a:defRPr sz="1100">
                <a:solidFill>
                  <a:schemeClr val="tx1">
                    <a:tint val="75000"/>
                  </a:schemeClr>
                </a:solidFill>
              </a:defRPr>
            </a:lvl1pPr>
          </a:lstStyle>
          <a:p>
            <a:r>
              <a:rPr lang="en-US" dirty="0"/>
              <a:t>Add a footer</a:t>
            </a:r>
          </a:p>
        </p:txBody>
      </p:sp>
      <p:sp>
        <p:nvSpPr>
          <p:cNvPr id="4" name="Date Placeholder 3"/>
          <p:cNvSpPr>
            <a:spLocks noGrp="1"/>
          </p:cNvSpPr>
          <p:nvPr>
            <p:ph type="dt" sz="half" idx="2"/>
          </p:nvPr>
        </p:nvSpPr>
        <p:spPr>
          <a:xfrm>
            <a:off x="8534400" y="6392562"/>
            <a:ext cx="1295400" cy="180976"/>
          </a:xfrm>
          <a:prstGeom prst="rect">
            <a:avLst/>
          </a:prstGeom>
        </p:spPr>
        <p:txBody>
          <a:bodyPr vert="horz" lIns="91440" tIns="45720" rIns="91440" bIns="45720" rtlCol="0" anchor="ctr"/>
          <a:lstStyle>
            <a:lvl1pPr algn="r">
              <a:defRPr sz="1100">
                <a:solidFill>
                  <a:schemeClr val="tx1">
                    <a:tint val="75000"/>
                  </a:schemeClr>
                </a:solidFill>
              </a:defRPr>
            </a:lvl1pPr>
          </a:lstStyle>
          <a:p>
            <a:fld id="{3762EC29-B8C5-4C7A-B6DA-418494D5CB21}" type="datetimeFigureOut">
              <a:rPr lang="en-US" smtClean="0"/>
              <a:pPr/>
              <a:t>5/2/2025</a:t>
            </a:fld>
            <a:endParaRPr lang="en-US"/>
          </a:p>
        </p:txBody>
      </p:sp>
      <p:sp>
        <p:nvSpPr>
          <p:cNvPr id="6" name="Slide Number Placeholder 5"/>
          <p:cNvSpPr>
            <a:spLocks noGrp="1"/>
          </p:cNvSpPr>
          <p:nvPr>
            <p:ph type="sldNum" sz="quarter" idx="4"/>
          </p:nvPr>
        </p:nvSpPr>
        <p:spPr>
          <a:xfrm>
            <a:off x="10058400" y="6392562"/>
            <a:ext cx="1066800" cy="180976"/>
          </a:xfrm>
          <a:prstGeom prst="rect">
            <a:avLst/>
          </a:prstGeom>
        </p:spPr>
        <p:txBody>
          <a:bodyPr vert="horz" lIns="91440" tIns="45720" rIns="91440" bIns="45720" rtlCol="0" anchor="ctr"/>
          <a:lstStyle>
            <a:lvl1pPr algn="r">
              <a:defRPr sz="1100">
                <a:solidFill>
                  <a:schemeClr val="tx1">
                    <a:tint val="75000"/>
                  </a:schemeClr>
                </a:solidFill>
              </a:defRPr>
            </a:lvl1pPr>
          </a:lstStyle>
          <a:p>
            <a:fld id="{F9043838-BFF5-400C-B067-3DF4A5F395D6}" type="slidenum">
              <a:rPr lang="en-US" smtClean="0"/>
              <a:pPr/>
              <a:t>‹#›</a:t>
            </a:fld>
            <a:endParaRPr lang="en-US"/>
          </a:p>
        </p:txBody>
      </p:sp>
    </p:spTree>
    <p:extLst>
      <p:ext uri="{BB962C8B-B14F-4D97-AF65-F5344CB8AC3E}">
        <p14:creationId xmlns:p14="http://schemas.microsoft.com/office/powerpoint/2010/main" val="2569209519"/>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800"/>
        </a:spcBef>
        <a:buFont typeface="Arial" panose="020B0604020202020204" pitchFamily="34" charset="0"/>
        <a:buChar char="•"/>
        <a:defRPr sz="2400" kern="1200">
          <a:solidFill>
            <a:schemeClr val="tx1"/>
          </a:solidFill>
          <a:latin typeface="+mn-lt"/>
          <a:ea typeface="+mn-ea"/>
          <a:cs typeface="+mn-cs"/>
        </a:defRPr>
      </a:lvl1pPr>
      <a:lvl2pPr marL="502920" indent="-228600" algn="l" defTabSz="914400" rtl="0" eaLnBrk="1" latinLnBrk="0" hangingPunct="1">
        <a:lnSpc>
          <a:spcPct val="90000"/>
        </a:lnSpc>
        <a:spcBef>
          <a:spcPts val="1200"/>
        </a:spcBef>
        <a:buFont typeface="Arial" panose="020B0604020202020204" pitchFamily="34" charset="0"/>
        <a:buChar char="•"/>
        <a:defRPr sz="2000" kern="1200">
          <a:solidFill>
            <a:schemeClr val="tx1"/>
          </a:solidFill>
          <a:latin typeface="+mn-lt"/>
          <a:ea typeface="+mn-ea"/>
          <a:cs typeface="+mn-cs"/>
        </a:defRPr>
      </a:lvl2pPr>
      <a:lvl3pPr marL="777240" indent="-228600" algn="l" defTabSz="914400" rtl="0" eaLnBrk="1" latinLnBrk="0" hangingPunct="1">
        <a:lnSpc>
          <a:spcPct val="90000"/>
        </a:lnSpc>
        <a:spcBef>
          <a:spcPts val="600"/>
        </a:spcBef>
        <a:buFont typeface="Arial" panose="020B0604020202020204" pitchFamily="34" charset="0"/>
        <a:buChar char="•"/>
        <a:defRPr sz="1800" kern="1200">
          <a:solidFill>
            <a:schemeClr val="tx1"/>
          </a:solidFill>
          <a:latin typeface="+mn-lt"/>
          <a:ea typeface="+mn-ea"/>
          <a:cs typeface="+mn-cs"/>
        </a:defRPr>
      </a:lvl3pPr>
      <a:lvl4pPr marL="1051560" indent="-228600" algn="l" defTabSz="914400" rtl="0" eaLnBrk="1" latinLnBrk="0" hangingPunct="1">
        <a:lnSpc>
          <a:spcPct val="90000"/>
        </a:lnSpc>
        <a:spcBef>
          <a:spcPts val="600"/>
        </a:spcBef>
        <a:buFont typeface="Arial" panose="020B0604020202020204" pitchFamily="34" charset="0"/>
        <a:buChar char="•"/>
        <a:defRPr sz="1600" kern="1200">
          <a:solidFill>
            <a:schemeClr val="tx1"/>
          </a:solidFill>
          <a:latin typeface="+mn-lt"/>
          <a:ea typeface="+mn-ea"/>
          <a:cs typeface="+mn-cs"/>
        </a:defRPr>
      </a:lvl4pPr>
      <a:lvl5pPr marL="1325880" indent="-228600" algn="l" defTabSz="914400" rtl="0" eaLnBrk="1" latinLnBrk="0" hangingPunct="1">
        <a:lnSpc>
          <a:spcPct val="90000"/>
        </a:lnSpc>
        <a:spcBef>
          <a:spcPts val="600"/>
        </a:spcBef>
        <a:buFont typeface="Arial" panose="020B0604020202020204" pitchFamily="34" charset="0"/>
        <a:buChar char="•"/>
        <a:defRPr sz="1600" kern="1200">
          <a:solidFill>
            <a:schemeClr val="tx1"/>
          </a:solidFill>
          <a:latin typeface="+mn-lt"/>
          <a:ea typeface="+mn-ea"/>
          <a:cs typeface="+mn-cs"/>
        </a:defRPr>
      </a:lvl5pPr>
      <a:lvl6pPr marL="1600200" indent="-228600" algn="l" defTabSz="914400" rtl="0" eaLnBrk="1" latinLnBrk="0" hangingPunct="1">
        <a:lnSpc>
          <a:spcPct val="90000"/>
        </a:lnSpc>
        <a:spcBef>
          <a:spcPts val="600"/>
        </a:spcBef>
        <a:buFont typeface="Arial" panose="020B0604020202020204" pitchFamily="34" charset="0"/>
        <a:buChar char="•"/>
        <a:defRPr sz="1600" kern="1200">
          <a:solidFill>
            <a:schemeClr val="tx1"/>
          </a:solidFill>
          <a:latin typeface="+mn-lt"/>
          <a:ea typeface="+mn-ea"/>
          <a:cs typeface="+mn-cs"/>
        </a:defRPr>
      </a:lvl6pPr>
      <a:lvl7pPr marL="1874520" indent="-228600" algn="l" defTabSz="914400" rtl="0" eaLnBrk="1" latinLnBrk="0" hangingPunct="1">
        <a:lnSpc>
          <a:spcPct val="90000"/>
        </a:lnSpc>
        <a:spcBef>
          <a:spcPts val="600"/>
        </a:spcBef>
        <a:buFont typeface="Arial" panose="020B0604020202020204" pitchFamily="34" charset="0"/>
        <a:buChar char="•"/>
        <a:defRPr sz="1600" kern="1200">
          <a:solidFill>
            <a:schemeClr val="tx1"/>
          </a:solidFill>
          <a:latin typeface="+mn-lt"/>
          <a:ea typeface="+mn-ea"/>
          <a:cs typeface="+mn-cs"/>
        </a:defRPr>
      </a:lvl7pPr>
      <a:lvl8pPr marL="2148840" indent="-228600" algn="l" defTabSz="914400" rtl="0" eaLnBrk="1" latinLnBrk="0" hangingPunct="1">
        <a:lnSpc>
          <a:spcPct val="90000"/>
        </a:lnSpc>
        <a:spcBef>
          <a:spcPts val="600"/>
        </a:spcBef>
        <a:buFont typeface="Arial" panose="020B0604020202020204" pitchFamily="34" charset="0"/>
        <a:buChar char="•"/>
        <a:defRPr sz="1600" kern="1200">
          <a:solidFill>
            <a:schemeClr val="tx1"/>
          </a:solidFill>
          <a:latin typeface="+mn-lt"/>
          <a:ea typeface="+mn-ea"/>
          <a:cs typeface="+mn-cs"/>
        </a:defRPr>
      </a:lvl8pPr>
      <a:lvl9pPr marL="2423160" indent="-228600" algn="l" defTabSz="914400" rtl="0" eaLnBrk="1" latinLnBrk="0" hangingPunct="1">
        <a:lnSpc>
          <a:spcPct val="90000"/>
        </a:lnSpc>
        <a:spcBef>
          <a:spcPts val="6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userDrawn="1">
          <p15:clr>
            <a:srgbClr val="F26B43"/>
          </p15:clr>
        </p15:guide>
        <p15:guide id="2" orient="horz" pos="216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9.xml"/><Relationship Id="rId7" Type="http://schemas.openxmlformats.org/officeDocument/2006/relationships/image" Target="../media/image5.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8.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15.png"/><Relationship Id="rId1" Type="http://schemas.openxmlformats.org/officeDocument/2006/relationships/slideLayout" Target="../slideLayouts/slideLayout8.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xml"/><Relationship Id="rId1" Type="http://schemas.openxmlformats.org/officeDocument/2006/relationships/slideLayout" Target="../slideLayouts/slideLayout8.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17.png"/><Relationship Id="rId7" Type="http://schemas.openxmlformats.org/officeDocument/2006/relationships/diagramColors" Target="../diagrams/colors4.xml"/><Relationship Id="rId2" Type="http://schemas.openxmlformats.org/officeDocument/2006/relationships/notesSlide" Target="../notesSlides/notesSlide4.xml"/><Relationship Id="rId1" Type="http://schemas.openxmlformats.org/officeDocument/2006/relationships/slideLayout" Target="../slideLayouts/slideLayout8.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6.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5.xml"/><Relationship Id="rId1" Type="http://schemas.openxmlformats.org/officeDocument/2006/relationships/slideLayout" Target="../slideLayouts/slideLayout8.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7.xml.rels><?xml version="1.0" encoding="UTF-8" standalone="yes"?>
<Relationships xmlns="http://schemas.openxmlformats.org/package/2006/relationships"><Relationship Id="rId8" Type="http://schemas.microsoft.com/office/2007/relationships/diagramDrawing" Target="../diagrams/drawing6.xml"/><Relationship Id="rId3" Type="http://schemas.openxmlformats.org/officeDocument/2006/relationships/image" Target="../media/image30.png"/><Relationship Id="rId7" Type="http://schemas.openxmlformats.org/officeDocument/2006/relationships/diagramColors" Target="../diagrams/colors6.xml"/><Relationship Id="rId2" Type="http://schemas.openxmlformats.org/officeDocument/2006/relationships/slide" Target="slide23.xml"/><Relationship Id="rId1" Type="http://schemas.openxmlformats.org/officeDocument/2006/relationships/slideLayout" Target="../slideLayouts/slideLayout8.xml"/><Relationship Id="rId6" Type="http://schemas.openxmlformats.org/officeDocument/2006/relationships/diagramQuickStyle" Target="../diagrams/quickStyle6.xml"/><Relationship Id="rId5" Type="http://schemas.openxmlformats.org/officeDocument/2006/relationships/diagramLayout" Target="../diagrams/layout6.xml"/><Relationship Id="rId4" Type="http://schemas.openxmlformats.org/officeDocument/2006/relationships/diagramData" Target="../diagrams/data6.xml"/></Relationships>
</file>

<file path=ppt/slides/_rels/slide8.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6.xml"/><Relationship Id="rId1" Type="http://schemas.openxmlformats.org/officeDocument/2006/relationships/slideLayout" Target="../slideLayouts/slideLayout8.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8.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1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openxmlformats.org/officeDocument/2006/relationships/image" Target="../media/image37.png"/></Relationships>
</file>

<file path=ppt/slides/_rels/slide1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2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2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5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40884" y="1447800"/>
            <a:ext cx="3657600" cy="2133600"/>
          </a:xfrm>
        </p:spPr>
        <p:txBody>
          <a:bodyPr anchor="b">
            <a:normAutofit/>
          </a:bodyPr>
          <a:lstStyle/>
          <a:p>
            <a:r>
              <a:rPr lang="en-US" sz="2800" dirty="0"/>
              <a:t>Game Report: Milwaukee Bucks vs Oklahoma City Thunder NBA Cup Final 12/17/2024</a:t>
            </a:r>
          </a:p>
        </p:txBody>
      </p:sp>
      <p:pic>
        <p:nvPicPr>
          <p:cNvPr id="5" name="Video 4" descr="Basketball Ring Shot">
            <a:extLst>
              <a:ext uri="{FF2B5EF4-FFF2-40B4-BE49-F238E27FC236}">
                <a16:creationId xmlns:a16="http://schemas.microsoft.com/office/drawing/2014/main" id="{D0DE3E80-1786-D425-8943-DD6D64816424}"/>
              </a:ext>
            </a:extLst>
          </p:cNvPr>
          <p:cNvPicPr>
            <a:picLocks noChangeAspect="1"/>
          </p:cNvPicPr>
          <p:nvPr>
            <a:videoFile r:link="rId2"/>
            <p:extLst>
              <p:ext uri="{DAA4B4D4-6D71-4841-9C94-3DE7FCFB9230}">
                <p14:media xmlns:p14="http://schemas.microsoft.com/office/powerpoint/2010/main" r:embed="rId1"/>
              </p:ext>
            </p:extLst>
          </p:nvPr>
        </p:nvPicPr>
        <p:blipFill>
          <a:blip r:embed="rId5"/>
          <a:srcRect l="15950" r="24505" b="-1"/>
          <a:stretch/>
        </p:blipFill>
        <p:spPr>
          <a:xfrm>
            <a:off x="20" y="10"/>
            <a:ext cx="7238980" cy="6857990"/>
          </a:xfrm>
          <a:prstGeom prst="rect">
            <a:avLst/>
          </a:prstGeom>
          <a:noFill/>
        </p:spPr>
      </p:pic>
      <p:sp>
        <p:nvSpPr>
          <p:cNvPr id="3" name="Subtitle 2"/>
          <p:cNvSpPr>
            <a:spLocks noGrp="1"/>
          </p:cNvSpPr>
          <p:nvPr>
            <p:ph type="body" sz="half" idx="2"/>
          </p:nvPr>
        </p:nvSpPr>
        <p:spPr>
          <a:xfrm>
            <a:off x="7924800" y="4128655"/>
            <a:ext cx="3657600" cy="609600"/>
          </a:xfrm>
        </p:spPr>
        <p:txBody>
          <a:bodyPr>
            <a:normAutofit/>
          </a:bodyPr>
          <a:lstStyle/>
          <a:p>
            <a:r>
              <a:rPr lang="en-US" dirty="0"/>
              <a:t>By: Bryant Connolly </a:t>
            </a:r>
          </a:p>
        </p:txBody>
      </p:sp>
      <p:pic>
        <p:nvPicPr>
          <p:cNvPr id="4" name="Picture 3">
            <a:extLst>
              <a:ext uri="{FF2B5EF4-FFF2-40B4-BE49-F238E27FC236}">
                <a16:creationId xmlns:a16="http://schemas.microsoft.com/office/drawing/2014/main" id="{F5771D68-2446-9870-6C72-8B7499F9D9E9}"/>
              </a:ext>
            </a:extLst>
          </p:cNvPr>
          <p:cNvPicPr>
            <a:picLocks noChangeAspect="1"/>
          </p:cNvPicPr>
          <p:nvPr/>
        </p:nvPicPr>
        <p:blipFill>
          <a:blip r:embed="rId6"/>
          <a:stretch>
            <a:fillRect/>
          </a:stretch>
        </p:blipFill>
        <p:spPr>
          <a:xfrm>
            <a:off x="10660284" y="5181600"/>
            <a:ext cx="1676400" cy="1676400"/>
          </a:xfrm>
          <a:prstGeom prst="rect">
            <a:avLst/>
          </a:prstGeom>
        </p:spPr>
      </p:pic>
      <p:pic>
        <p:nvPicPr>
          <p:cNvPr id="6" name="Picture 5">
            <a:extLst>
              <a:ext uri="{FF2B5EF4-FFF2-40B4-BE49-F238E27FC236}">
                <a16:creationId xmlns:a16="http://schemas.microsoft.com/office/drawing/2014/main" id="{C745A315-CEC7-3933-1BEC-F33C2C17D63F}"/>
              </a:ext>
            </a:extLst>
          </p:cNvPr>
          <p:cNvPicPr>
            <a:picLocks noChangeAspect="1"/>
          </p:cNvPicPr>
          <p:nvPr/>
        </p:nvPicPr>
        <p:blipFill>
          <a:blip r:embed="rId7"/>
          <a:stretch>
            <a:fillRect/>
          </a:stretch>
        </p:blipFill>
        <p:spPr>
          <a:xfrm>
            <a:off x="10591011" y="0"/>
            <a:ext cx="1600969" cy="900545"/>
          </a:xfrm>
          <a:prstGeom prst="rect">
            <a:avLst/>
          </a:prstGeom>
        </p:spPr>
      </p:pic>
    </p:spTree>
    <p:extLst>
      <p:ext uri="{BB962C8B-B14F-4D97-AF65-F5344CB8AC3E}">
        <p14:creationId xmlns:p14="http://schemas.microsoft.com/office/powerpoint/2010/main" val="5760909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529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5"/>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5"/>
                                        </p:tgtEl>
                                      </p:cBhvr>
                                    </p:cmd>
                                  </p:childTnLst>
                                </p:cTn>
                              </p:par>
                            </p:childTnLst>
                          </p:cTn>
                        </p:par>
                      </p:childTnLst>
                    </p:cTn>
                  </p:par>
                </p:childTnLst>
              </p:cTn>
              <p:nextCondLst>
                <p:cond evt="onClick" delay="0">
                  <p:tgtEl>
                    <p:spTgt spid="5"/>
                  </p:tgtEl>
                </p:cond>
              </p:nextCondLst>
            </p:seq>
            <p:video>
              <p:cMediaNode mute="1">
                <p:cTn id="12" repeatCount="indefinite" fill="hold" display="0">
                  <p:stCondLst>
                    <p:cond delay="indefinite"/>
                  </p:stCondLst>
                </p:cTn>
                <p:tgtEl>
                  <p:spTgt spid="5"/>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58200" y="838200"/>
            <a:ext cx="2819400" cy="1295400"/>
          </a:xfrm>
        </p:spPr>
        <p:txBody>
          <a:bodyPr anchor="b">
            <a:normAutofit/>
          </a:bodyPr>
          <a:lstStyle/>
          <a:p>
            <a:r>
              <a:rPr lang="en-US" dirty="0"/>
              <a:t>Game Context </a:t>
            </a:r>
          </a:p>
        </p:txBody>
      </p:sp>
      <p:graphicFrame>
        <p:nvGraphicFramePr>
          <p:cNvPr id="13" name="Content Placeholder 2">
            <a:extLst>
              <a:ext uri="{FF2B5EF4-FFF2-40B4-BE49-F238E27FC236}">
                <a16:creationId xmlns:a16="http://schemas.microsoft.com/office/drawing/2014/main" id="{547B27F3-B42B-CA39-560F-4B65999D1D48}"/>
              </a:ext>
            </a:extLst>
          </p:cNvPr>
          <p:cNvGraphicFramePr>
            <a:graphicFrameLocks noGrp="1"/>
          </p:cNvGraphicFramePr>
          <p:nvPr>
            <p:ph idx="1"/>
            <p:extLst>
              <p:ext uri="{D42A27DB-BD31-4B8C-83A1-F6EECF244321}">
                <p14:modId xmlns:p14="http://schemas.microsoft.com/office/powerpoint/2010/main" val="160427286"/>
              </p:ext>
            </p:extLst>
          </p:nvPr>
        </p:nvGraphicFramePr>
        <p:xfrm>
          <a:off x="609600" y="838200"/>
          <a:ext cx="6172200" cy="518160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3" name="Picture 2">
            <a:extLst>
              <a:ext uri="{FF2B5EF4-FFF2-40B4-BE49-F238E27FC236}">
                <a16:creationId xmlns:a16="http://schemas.microsoft.com/office/drawing/2014/main" id="{74381E58-7C87-2D4F-4F9D-4EE762E0B81E}"/>
              </a:ext>
            </a:extLst>
          </p:cNvPr>
          <p:cNvPicPr>
            <a:picLocks noChangeAspect="1"/>
          </p:cNvPicPr>
          <p:nvPr/>
        </p:nvPicPr>
        <p:blipFill>
          <a:blip r:embed="rId8"/>
          <a:stretch>
            <a:fillRect/>
          </a:stretch>
        </p:blipFill>
        <p:spPr>
          <a:xfrm>
            <a:off x="7543800" y="3200400"/>
            <a:ext cx="4490359" cy="2514601"/>
          </a:xfrm>
          <a:prstGeom prst="rect">
            <a:avLst/>
          </a:prstGeom>
        </p:spPr>
      </p:pic>
    </p:spTree>
    <p:extLst>
      <p:ext uri="{BB962C8B-B14F-4D97-AF65-F5344CB8AC3E}">
        <p14:creationId xmlns:p14="http://schemas.microsoft.com/office/powerpoint/2010/main" val="25983913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49C44F4F-6647-26F2-0BF6-A8C58428B86F}"/>
              </a:ext>
            </a:extLst>
          </p:cNvPr>
          <p:cNvSpPr>
            <a:spLocks noGrp="1"/>
          </p:cNvSpPr>
          <p:nvPr>
            <p:ph type="title"/>
          </p:nvPr>
        </p:nvSpPr>
        <p:spPr>
          <a:xfrm>
            <a:off x="7924800" y="838200"/>
            <a:ext cx="3657600" cy="2133600"/>
          </a:xfrm>
        </p:spPr>
        <p:txBody>
          <a:bodyPr/>
          <a:lstStyle/>
          <a:p>
            <a:pPr algn="ctr"/>
            <a:r>
              <a:rPr lang="en-US" dirty="0"/>
              <a:t>How the Bucks Won Their First NBA Cup: 5 Key Takeaways</a:t>
            </a:r>
          </a:p>
        </p:txBody>
      </p:sp>
      <p:pic>
        <p:nvPicPr>
          <p:cNvPr id="7" name="Picture 6">
            <a:extLst>
              <a:ext uri="{FF2B5EF4-FFF2-40B4-BE49-F238E27FC236}">
                <a16:creationId xmlns:a16="http://schemas.microsoft.com/office/drawing/2014/main" id="{C4913208-6974-F080-DA73-C4111BB9DB9F}"/>
              </a:ext>
            </a:extLst>
          </p:cNvPr>
          <p:cNvPicPr>
            <a:picLocks noChangeAspect="1"/>
          </p:cNvPicPr>
          <p:nvPr/>
        </p:nvPicPr>
        <p:blipFill>
          <a:blip r:embed="rId2"/>
          <a:stretch>
            <a:fillRect/>
          </a:stretch>
        </p:blipFill>
        <p:spPr>
          <a:xfrm>
            <a:off x="8117006" y="3451746"/>
            <a:ext cx="3429000" cy="2863215"/>
          </a:xfrm>
          <a:prstGeom prst="rect">
            <a:avLst/>
          </a:prstGeom>
        </p:spPr>
      </p:pic>
      <p:graphicFrame>
        <p:nvGraphicFramePr>
          <p:cNvPr id="12" name="Rectangle 1">
            <a:extLst>
              <a:ext uri="{FF2B5EF4-FFF2-40B4-BE49-F238E27FC236}">
                <a16:creationId xmlns:a16="http://schemas.microsoft.com/office/drawing/2014/main" id="{16F1ED04-9ACE-D631-B7AE-0D216DC3E4FB}"/>
              </a:ext>
            </a:extLst>
          </p:cNvPr>
          <p:cNvGraphicFramePr>
            <a:graphicFrameLocks noGrp="1"/>
          </p:cNvGraphicFramePr>
          <p:nvPr>
            <p:ph idx="1"/>
            <p:extLst>
              <p:ext uri="{D42A27DB-BD31-4B8C-83A1-F6EECF244321}">
                <p14:modId xmlns:p14="http://schemas.microsoft.com/office/powerpoint/2010/main" val="1759093911"/>
              </p:ext>
            </p:extLst>
          </p:nvPr>
        </p:nvGraphicFramePr>
        <p:xfrm>
          <a:off x="609600" y="838200"/>
          <a:ext cx="6172200" cy="518160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289013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24800" y="838200"/>
            <a:ext cx="3657600" cy="2133600"/>
          </a:xfrm>
        </p:spPr>
        <p:txBody>
          <a:bodyPr vert="horz" lIns="91440" tIns="45720" rIns="91440" bIns="45720" rtlCol="0" anchor="b">
            <a:normAutofit/>
          </a:bodyPr>
          <a:lstStyle/>
          <a:p>
            <a:pPr algn="ctr"/>
            <a:r>
              <a:rPr lang="en-US" kern="1200" dirty="0">
                <a:latin typeface="+mj-lt"/>
                <a:ea typeface="+mj-ea"/>
                <a:cs typeface="+mj-cs"/>
              </a:rPr>
              <a:t>Bucks' Shot Efficiency and Zone Control Outpaced Thunder</a:t>
            </a:r>
          </a:p>
        </p:txBody>
      </p:sp>
      <p:graphicFrame>
        <p:nvGraphicFramePr>
          <p:cNvPr id="5" name="TextBox 2">
            <a:extLst>
              <a:ext uri="{FF2B5EF4-FFF2-40B4-BE49-F238E27FC236}">
                <a16:creationId xmlns:a16="http://schemas.microsoft.com/office/drawing/2014/main" id="{F507BC8C-CA34-ADA8-738C-F4D6943B1377}"/>
              </a:ext>
            </a:extLst>
          </p:cNvPr>
          <p:cNvGraphicFramePr/>
          <p:nvPr>
            <p:extLst>
              <p:ext uri="{D42A27DB-BD31-4B8C-83A1-F6EECF244321}">
                <p14:modId xmlns:p14="http://schemas.microsoft.com/office/powerpoint/2010/main" val="3974769231"/>
              </p:ext>
            </p:extLst>
          </p:nvPr>
        </p:nvGraphicFramePr>
        <p:xfrm>
          <a:off x="609600" y="838200"/>
          <a:ext cx="6172200" cy="518160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6" name="Picture 5">
            <a:extLst>
              <a:ext uri="{FF2B5EF4-FFF2-40B4-BE49-F238E27FC236}">
                <a16:creationId xmlns:a16="http://schemas.microsoft.com/office/drawing/2014/main" id="{AE337ACF-097C-EBC5-AF7B-9155FA620F51}"/>
              </a:ext>
            </a:extLst>
          </p:cNvPr>
          <p:cNvPicPr>
            <a:picLocks noChangeAspect="1"/>
          </p:cNvPicPr>
          <p:nvPr/>
        </p:nvPicPr>
        <p:blipFill>
          <a:blip r:embed="rId8"/>
          <a:stretch>
            <a:fillRect/>
          </a:stretch>
        </p:blipFill>
        <p:spPr>
          <a:xfrm>
            <a:off x="8077200" y="3429000"/>
            <a:ext cx="3657600" cy="2433967"/>
          </a:xfrm>
          <a:prstGeom prst="rect">
            <a:avLst/>
          </a:prstGeom>
        </p:spPr>
      </p:pic>
    </p:spTree>
    <p:extLst>
      <p:ext uri="{BB962C8B-B14F-4D97-AF65-F5344CB8AC3E}">
        <p14:creationId xmlns:p14="http://schemas.microsoft.com/office/powerpoint/2010/main" val="18645515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DB4E5A-8888-A5CD-F4F2-4437ABFBC303}"/>
              </a:ext>
            </a:extLst>
          </p:cNvPr>
          <p:cNvSpPr>
            <a:spLocks noGrp="1"/>
          </p:cNvSpPr>
          <p:nvPr>
            <p:ph type="title"/>
          </p:nvPr>
        </p:nvSpPr>
        <p:spPr>
          <a:xfrm>
            <a:off x="7924800" y="685800"/>
            <a:ext cx="3657600" cy="2286000"/>
          </a:xfrm>
        </p:spPr>
        <p:txBody>
          <a:bodyPr anchor="b">
            <a:normAutofit fontScale="90000"/>
          </a:bodyPr>
          <a:lstStyle/>
          <a:p>
            <a:pPr algn="ctr"/>
            <a:r>
              <a:rPr lang="en-US" dirty="0"/>
              <a:t>Efficiency Under Pressure: Milwaukee Delivered, OKC Faltered</a:t>
            </a:r>
          </a:p>
        </p:txBody>
      </p:sp>
      <p:pic>
        <p:nvPicPr>
          <p:cNvPr id="4" name="Picture 3">
            <a:extLst>
              <a:ext uri="{FF2B5EF4-FFF2-40B4-BE49-F238E27FC236}">
                <a16:creationId xmlns:a16="http://schemas.microsoft.com/office/drawing/2014/main" id="{E4ADACDF-07CB-B80F-1D9C-7A3FEDE98CB4}"/>
              </a:ext>
            </a:extLst>
          </p:cNvPr>
          <p:cNvPicPr>
            <a:picLocks noChangeAspect="1"/>
          </p:cNvPicPr>
          <p:nvPr/>
        </p:nvPicPr>
        <p:blipFill>
          <a:blip r:embed="rId3"/>
          <a:stretch>
            <a:fillRect/>
          </a:stretch>
        </p:blipFill>
        <p:spPr>
          <a:xfrm>
            <a:off x="7924800" y="3352800"/>
            <a:ext cx="3764457" cy="2505075"/>
          </a:xfrm>
          <a:prstGeom prst="rect">
            <a:avLst/>
          </a:prstGeom>
        </p:spPr>
      </p:pic>
      <p:graphicFrame>
        <p:nvGraphicFramePr>
          <p:cNvPr id="5" name="Content Placeholder 2">
            <a:extLst>
              <a:ext uri="{FF2B5EF4-FFF2-40B4-BE49-F238E27FC236}">
                <a16:creationId xmlns:a16="http://schemas.microsoft.com/office/drawing/2014/main" id="{B7F66DFC-630F-F51A-512A-905448D292C5}"/>
              </a:ext>
            </a:extLst>
          </p:cNvPr>
          <p:cNvGraphicFramePr>
            <a:graphicFrameLocks noGrp="1"/>
          </p:cNvGraphicFramePr>
          <p:nvPr>
            <p:ph idx="1"/>
            <p:extLst>
              <p:ext uri="{D42A27DB-BD31-4B8C-83A1-F6EECF244321}">
                <p14:modId xmlns:p14="http://schemas.microsoft.com/office/powerpoint/2010/main" val="1376240752"/>
              </p:ext>
            </p:extLst>
          </p:nvPr>
        </p:nvGraphicFramePr>
        <p:xfrm>
          <a:off x="609600" y="838200"/>
          <a:ext cx="6172200" cy="518160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4226219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1B1FE2-3B53-228C-6CAA-440CAE2F7D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D2AA31-A679-C38C-702C-65126652434B}"/>
              </a:ext>
            </a:extLst>
          </p:cNvPr>
          <p:cNvSpPr>
            <a:spLocks noGrp="1"/>
          </p:cNvSpPr>
          <p:nvPr>
            <p:ph type="title"/>
          </p:nvPr>
        </p:nvSpPr>
        <p:spPr>
          <a:xfrm>
            <a:off x="7924800" y="685800"/>
            <a:ext cx="3657600" cy="2286000"/>
          </a:xfrm>
        </p:spPr>
        <p:txBody>
          <a:bodyPr anchor="b">
            <a:normAutofit/>
          </a:bodyPr>
          <a:lstStyle/>
          <a:p>
            <a:pPr algn="ctr"/>
            <a:r>
              <a:rPr lang="en-US" dirty="0"/>
              <a:t>Bucks Capitalized on Limited Open Looks; Thunder Failed to Convert</a:t>
            </a:r>
          </a:p>
        </p:txBody>
      </p:sp>
      <p:graphicFrame>
        <p:nvGraphicFramePr>
          <p:cNvPr id="5" name="Content Placeholder 2">
            <a:extLst>
              <a:ext uri="{FF2B5EF4-FFF2-40B4-BE49-F238E27FC236}">
                <a16:creationId xmlns:a16="http://schemas.microsoft.com/office/drawing/2014/main" id="{51C17738-775F-3AE5-EA21-C679774A2F67}"/>
              </a:ext>
            </a:extLst>
          </p:cNvPr>
          <p:cNvGraphicFramePr>
            <a:graphicFrameLocks noGrp="1"/>
          </p:cNvGraphicFramePr>
          <p:nvPr>
            <p:ph idx="1"/>
            <p:extLst>
              <p:ext uri="{D42A27DB-BD31-4B8C-83A1-F6EECF244321}">
                <p14:modId xmlns:p14="http://schemas.microsoft.com/office/powerpoint/2010/main" val="964341808"/>
              </p:ext>
            </p:extLst>
          </p:nvPr>
        </p:nvGraphicFramePr>
        <p:xfrm>
          <a:off x="609600" y="838200"/>
          <a:ext cx="6172200" cy="518160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3" name="Picture 2">
            <a:extLst>
              <a:ext uri="{FF2B5EF4-FFF2-40B4-BE49-F238E27FC236}">
                <a16:creationId xmlns:a16="http://schemas.microsoft.com/office/drawing/2014/main" id="{47988B93-D257-A128-0936-C37FD481C4A2}"/>
              </a:ext>
            </a:extLst>
          </p:cNvPr>
          <p:cNvPicPr>
            <a:picLocks noChangeAspect="1"/>
          </p:cNvPicPr>
          <p:nvPr/>
        </p:nvPicPr>
        <p:blipFill>
          <a:blip r:embed="rId8"/>
          <a:stretch>
            <a:fillRect/>
          </a:stretch>
        </p:blipFill>
        <p:spPr>
          <a:xfrm>
            <a:off x="7772400" y="3290675"/>
            <a:ext cx="4103938" cy="2733675"/>
          </a:xfrm>
          <a:prstGeom prst="rect">
            <a:avLst/>
          </a:prstGeom>
        </p:spPr>
      </p:pic>
    </p:spTree>
    <p:extLst>
      <p:ext uri="{BB962C8B-B14F-4D97-AF65-F5344CB8AC3E}">
        <p14:creationId xmlns:p14="http://schemas.microsoft.com/office/powerpoint/2010/main" val="3034175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D21B50-3953-EB9D-60F4-FA8492C860C3}"/>
              </a:ext>
            </a:extLst>
          </p:cNvPr>
          <p:cNvSpPr>
            <a:spLocks noGrp="1"/>
          </p:cNvSpPr>
          <p:nvPr>
            <p:ph type="title"/>
          </p:nvPr>
        </p:nvSpPr>
        <p:spPr>
          <a:xfrm>
            <a:off x="7924800" y="838200"/>
            <a:ext cx="3657600" cy="2133600"/>
          </a:xfrm>
        </p:spPr>
        <p:txBody>
          <a:bodyPr anchor="b">
            <a:normAutofit/>
          </a:bodyPr>
          <a:lstStyle/>
          <a:p>
            <a:pPr algn="ctr"/>
            <a:r>
              <a:rPr lang="en-US" sz="3100" dirty="0"/>
              <a:t>What the Data Reveals About the Bucks’ Shot Success</a:t>
            </a:r>
            <a:br>
              <a:rPr lang="en-US" sz="3100" dirty="0"/>
            </a:br>
            <a:r>
              <a:rPr lang="en-US" sz="3200" dirty="0">
                <a:hlinkClick r:id="rId2" action="ppaction://hlinksldjump"/>
              </a:rPr>
              <a:t>(A12)</a:t>
            </a:r>
            <a:endParaRPr lang="en-US" sz="3100" dirty="0"/>
          </a:p>
        </p:txBody>
      </p:sp>
      <p:pic>
        <p:nvPicPr>
          <p:cNvPr id="4" name="Picture 3">
            <a:extLst>
              <a:ext uri="{FF2B5EF4-FFF2-40B4-BE49-F238E27FC236}">
                <a16:creationId xmlns:a16="http://schemas.microsoft.com/office/drawing/2014/main" id="{2A20F1F6-FD50-3B73-F2B9-042599865356}"/>
              </a:ext>
            </a:extLst>
          </p:cNvPr>
          <p:cNvPicPr>
            <a:picLocks noChangeAspect="1"/>
          </p:cNvPicPr>
          <p:nvPr/>
        </p:nvPicPr>
        <p:blipFill>
          <a:blip r:embed="rId3"/>
          <a:stretch>
            <a:fillRect/>
          </a:stretch>
        </p:blipFill>
        <p:spPr>
          <a:xfrm>
            <a:off x="8077200" y="3657600"/>
            <a:ext cx="3657600" cy="2055106"/>
          </a:xfrm>
          <a:prstGeom prst="rect">
            <a:avLst/>
          </a:prstGeom>
        </p:spPr>
      </p:pic>
      <p:graphicFrame>
        <p:nvGraphicFramePr>
          <p:cNvPr id="5" name="Content Placeholder 2">
            <a:extLst>
              <a:ext uri="{FF2B5EF4-FFF2-40B4-BE49-F238E27FC236}">
                <a16:creationId xmlns:a16="http://schemas.microsoft.com/office/drawing/2014/main" id="{EDC00EE7-8B63-7099-E12D-BF675B37C389}"/>
              </a:ext>
            </a:extLst>
          </p:cNvPr>
          <p:cNvGraphicFramePr>
            <a:graphicFrameLocks noGrp="1"/>
          </p:cNvGraphicFramePr>
          <p:nvPr>
            <p:ph idx="1"/>
            <p:extLst>
              <p:ext uri="{D42A27DB-BD31-4B8C-83A1-F6EECF244321}">
                <p14:modId xmlns:p14="http://schemas.microsoft.com/office/powerpoint/2010/main" val="4134489601"/>
              </p:ext>
            </p:extLst>
          </p:nvPr>
        </p:nvGraphicFramePr>
        <p:xfrm>
          <a:off x="609600" y="838200"/>
          <a:ext cx="6172200" cy="518160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698435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CCE36AE-BD80-6FB8-E12C-2035F48DAA7E}"/>
              </a:ext>
            </a:extLst>
          </p:cNvPr>
          <p:cNvSpPr>
            <a:spLocks noGrp="1"/>
          </p:cNvSpPr>
          <p:nvPr>
            <p:ph type="title"/>
          </p:nvPr>
        </p:nvSpPr>
        <p:spPr>
          <a:xfrm>
            <a:off x="7924800" y="838200"/>
            <a:ext cx="3657600" cy="2133600"/>
          </a:xfrm>
        </p:spPr>
        <p:txBody>
          <a:bodyPr/>
          <a:lstStyle/>
          <a:p>
            <a:pPr algn="ctr"/>
            <a:r>
              <a:rPr lang="en-US" dirty="0"/>
              <a:t>Analytical Insights Behind the Bucks’ Victory </a:t>
            </a:r>
          </a:p>
        </p:txBody>
      </p:sp>
      <p:graphicFrame>
        <p:nvGraphicFramePr>
          <p:cNvPr id="5" name="Content Placeholder 2">
            <a:extLst>
              <a:ext uri="{FF2B5EF4-FFF2-40B4-BE49-F238E27FC236}">
                <a16:creationId xmlns:a16="http://schemas.microsoft.com/office/drawing/2014/main" id="{2676C374-F713-25B6-4D89-A26AB8177A18}"/>
              </a:ext>
            </a:extLst>
          </p:cNvPr>
          <p:cNvGraphicFramePr>
            <a:graphicFrameLocks noGrp="1"/>
          </p:cNvGraphicFramePr>
          <p:nvPr>
            <p:ph idx="1"/>
            <p:extLst>
              <p:ext uri="{D42A27DB-BD31-4B8C-83A1-F6EECF244321}">
                <p14:modId xmlns:p14="http://schemas.microsoft.com/office/powerpoint/2010/main" val="2668006344"/>
              </p:ext>
            </p:extLst>
          </p:nvPr>
        </p:nvGraphicFramePr>
        <p:xfrm>
          <a:off x="609600" y="838200"/>
          <a:ext cx="6172200" cy="518160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Picture 3">
            <a:extLst>
              <a:ext uri="{FF2B5EF4-FFF2-40B4-BE49-F238E27FC236}">
                <a16:creationId xmlns:a16="http://schemas.microsoft.com/office/drawing/2014/main" id="{62C0233B-807B-87BC-AD2A-C988644C8C99}"/>
              </a:ext>
            </a:extLst>
          </p:cNvPr>
          <p:cNvPicPr>
            <a:picLocks noChangeAspect="1"/>
          </p:cNvPicPr>
          <p:nvPr/>
        </p:nvPicPr>
        <p:blipFill>
          <a:blip r:embed="rId8"/>
          <a:stretch>
            <a:fillRect/>
          </a:stretch>
        </p:blipFill>
        <p:spPr>
          <a:xfrm>
            <a:off x="7924800" y="3429000"/>
            <a:ext cx="3791174" cy="2490952"/>
          </a:xfrm>
          <a:prstGeom prst="rect">
            <a:avLst/>
          </a:prstGeom>
        </p:spPr>
      </p:pic>
    </p:spTree>
    <p:extLst>
      <p:ext uri="{BB962C8B-B14F-4D97-AF65-F5344CB8AC3E}">
        <p14:creationId xmlns:p14="http://schemas.microsoft.com/office/powerpoint/2010/main" val="24583519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9DF31270-8C51-C369-5B7E-35BB09FCD64E}"/>
              </a:ext>
            </a:extLst>
          </p:cNvPr>
          <p:cNvSpPr>
            <a:spLocks noGrp="1"/>
          </p:cNvSpPr>
          <p:nvPr>
            <p:ph type="title"/>
          </p:nvPr>
        </p:nvSpPr>
        <p:spPr>
          <a:xfrm>
            <a:off x="7974724" y="832944"/>
            <a:ext cx="3657600" cy="1219200"/>
          </a:xfrm>
        </p:spPr>
        <p:txBody>
          <a:bodyPr anchor="b">
            <a:normAutofit/>
          </a:bodyPr>
          <a:lstStyle/>
          <a:p>
            <a:pPr algn="ctr"/>
            <a:r>
              <a:rPr lang="en-US" dirty="0"/>
              <a:t>Next Steps </a:t>
            </a:r>
          </a:p>
        </p:txBody>
      </p:sp>
      <p:sp>
        <p:nvSpPr>
          <p:cNvPr id="11" name="Content Placeholder 2">
            <a:extLst>
              <a:ext uri="{FF2B5EF4-FFF2-40B4-BE49-F238E27FC236}">
                <a16:creationId xmlns:a16="http://schemas.microsoft.com/office/drawing/2014/main" id="{D4830986-60A8-8CE9-6E31-47EBFDCBF4D8}"/>
              </a:ext>
            </a:extLst>
          </p:cNvPr>
          <p:cNvSpPr>
            <a:spLocks noGrp="1"/>
          </p:cNvSpPr>
          <p:nvPr>
            <p:ph idx="1"/>
          </p:nvPr>
        </p:nvSpPr>
        <p:spPr>
          <a:xfrm>
            <a:off x="609600" y="838200"/>
            <a:ext cx="6172200" cy="5181601"/>
          </a:xfrm>
        </p:spPr>
        <p:txBody>
          <a:bodyPr>
            <a:normAutofit fontScale="92500" lnSpcReduction="20000"/>
          </a:bodyPr>
          <a:lstStyle/>
          <a:p>
            <a:pPr marL="342900" indent="-342900">
              <a:buAutoNum type="arabicPeriod"/>
            </a:pPr>
            <a:r>
              <a:rPr lang="en-US" sz="1700" b="1" dirty="0"/>
              <a:t>Start Stronger in Early Quarters                                            </a:t>
            </a:r>
          </a:p>
          <a:p>
            <a:r>
              <a:rPr lang="en-US" sz="1700" dirty="0"/>
              <a:t>Milwaukee’s slow first-half start left room for risk. Emphasize pace, spacing, and play execution early to set the tone.</a:t>
            </a:r>
          </a:p>
          <a:p>
            <a:pPr>
              <a:buNone/>
            </a:pPr>
            <a:r>
              <a:rPr lang="en-US" sz="1700" b="1" dirty="0"/>
              <a:t>2. Keep Pressure on Opposing Stars                                                          </a:t>
            </a:r>
          </a:p>
          <a:p>
            <a:r>
              <a:rPr lang="en-US" sz="1700" dirty="0"/>
              <a:t>The Bucks limited Shai's shot quality and scoring. Use a similar defensive strategy to contain the next opponent’s primary scorer.</a:t>
            </a:r>
          </a:p>
          <a:p>
            <a:pPr>
              <a:buNone/>
            </a:pPr>
            <a:r>
              <a:rPr lang="en-US" sz="1700" b="1" dirty="0"/>
              <a:t>3. Evaluate High-Quality Shooters Who Underperformed</a:t>
            </a:r>
          </a:p>
          <a:p>
            <a:r>
              <a:rPr lang="en-US" sz="1700" dirty="0"/>
              <a:t>Jackson Jr. and Prince had great shot quality but low conversion — focus on boosting confidence and consistency. </a:t>
            </a:r>
          </a:p>
          <a:p>
            <a:pPr marL="0" indent="0">
              <a:buNone/>
            </a:pPr>
            <a:r>
              <a:rPr lang="en-US" sz="1700" b="1" dirty="0"/>
              <a:t>4. Keep Creating Space — and Contesting It                                             </a:t>
            </a:r>
          </a:p>
          <a:p>
            <a:r>
              <a:rPr lang="en-US" sz="1700" dirty="0"/>
              <a:t>MIL shot over 50% when defenders were 6+ feet away, while OKC missed many of those same looks. Maintain offensive spacing and defensive pressure to swing efficiency.</a:t>
            </a:r>
          </a:p>
          <a:p>
            <a:pPr marL="0" indent="0">
              <a:buNone/>
            </a:pPr>
            <a:r>
              <a:rPr lang="en-US" sz="1700" dirty="0"/>
              <a:t>5. </a:t>
            </a:r>
            <a:r>
              <a:rPr lang="en-US" sz="1700" b="1" dirty="0"/>
              <a:t>Optimize Shot Selection Based on Contest Level                                      </a:t>
            </a:r>
          </a:p>
          <a:p>
            <a:pPr marL="0" indent="0">
              <a:buNone/>
            </a:pPr>
            <a:r>
              <a:rPr lang="en-US" sz="1700" dirty="0"/>
              <a:t>Bucks took a balanced mix of uncontested and lightly contested shots across distances. Keep prioritizing cleaner looks and avoiding rushed attempts.</a:t>
            </a:r>
          </a:p>
        </p:txBody>
      </p:sp>
      <p:pic>
        <p:nvPicPr>
          <p:cNvPr id="5" name="Picture 4">
            <a:extLst>
              <a:ext uri="{FF2B5EF4-FFF2-40B4-BE49-F238E27FC236}">
                <a16:creationId xmlns:a16="http://schemas.microsoft.com/office/drawing/2014/main" id="{FA1E156E-E88F-AACC-AA64-A3FC53568245}"/>
              </a:ext>
            </a:extLst>
          </p:cNvPr>
          <p:cNvPicPr>
            <a:picLocks noChangeAspect="1"/>
          </p:cNvPicPr>
          <p:nvPr/>
        </p:nvPicPr>
        <p:blipFill>
          <a:blip r:embed="rId2"/>
          <a:stretch>
            <a:fillRect/>
          </a:stretch>
        </p:blipFill>
        <p:spPr>
          <a:xfrm>
            <a:off x="8285211" y="2819400"/>
            <a:ext cx="3352800" cy="3352800"/>
          </a:xfrm>
          <a:prstGeom prst="rect">
            <a:avLst/>
          </a:prstGeom>
        </p:spPr>
      </p:pic>
    </p:spTree>
    <p:extLst>
      <p:ext uri="{BB962C8B-B14F-4D97-AF65-F5344CB8AC3E}">
        <p14:creationId xmlns:p14="http://schemas.microsoft.com/office/powerpoint/2010/main" val="12494202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B988451-B50F-FE7C-A20B-49910A6EBD83}"/>
              </a:ext>
            </a:extLst>
          </p:cNvPr>
          <p:cNvSpPr>
            <a:spLocks noGrp="1"/>
          </p:cNvSpPr>
          <p:nvPr>
            <p:ph type="title"/>
          </p:nvPr>
        </p:nvSpPr>
        <p:spPr>
          <a:xfrm>
            <a:off x="7924800" y="838200"/>
            <a:ext cx="3657600" cy="2133600"/>
          </a:xfrm>
        </p:spPr>
        <p:txBody>
          <a:bodyPr anchor="b">
            <a:normAutofit/>
          </a:bodyPr>
          <a:lstStyle/>
          <a:p>
            <a:r>
              <a:rPr lang="en-US" dirty="0"/>
              <a:t>Executive Summary: Bucks vs Thunder (NBA Cup Final)</a:t>
            </a:r>
          </a:p>
        </p:txBody>
      </p:sp>
      <p:sp>
        <p:nvSpPr>
          <p:cNvPr id="16" name="Text Placeholder 3">
            <a:extLst>
              <a:ext uri="{FF2B5EF4-FFF2-40B4-BE49-F238E27FC236}">
                <a16:creationId xmlns:a16="http://schemas.microsoft.com/office/drawing/2014/main" id="{5B91C2FC-97A4-8386-8149-8A6FF557564C}"/>
              </a:ext>
            </a:extLst>
          </p:cNvPr>
          <p:cNvSpPr>
            <a:spLocks noGrp="1"/>
          </p:cNvSpPr>
          <p:nvPr>
            <p:ph type="body" sz="half" idx="2"/>
          </p:nvPr>
        </p:nvSpPr>
        <p:spPr>
          <a:xfrm>
            <a:off x="7924802" y="3124200"/>
            <a:ext cx="3657600" cy="2895600"/>
          </a:xfrm>
        </p:spPr>
        <p:txBody>
          <a:bodyPr>
            <a:normAutofit/>
          </a:bodyPr>
          <a:lstStyle/>
          <a:p>
            <a:r>
              <a:rPr lang="en-US" dirty="0"/>
              <a:t>Milwaukee's 97–81 win over OKC was driven by balanced scoring, high-efficiency shooting, and smart defensive execution</a:t>
            </a:r>
          </a:p>
        </p:txBody>
      </p:sp>
      <p:graphicFrame>
        <p:nvGraphicFramePr>
          <p:cNvPr id="18" name="Content Placeholder 2">
            <a:extLst>
              <a:ext uri="{FF2B5EF4-FFF2-40B4-BE49-F238E27FC236}">
                <a16:creationId xmlns:a16="http://schemas.microsoft.com/office/drawing/2014/main" id="{D93A5E38-2989-C367-07B6-4B749BB38AA9}"/>
              </a:ext>
            </a:extLst>
          </p:cNvPr>
          <p:cNvGraphicFramePr>
            <a:graphicFrameLocks noGrp="1"/>
          </p:cNvGraphicFramePr>
          <p:nvPr>
            <p:ph idx="1"/>
            <p:extLst>
              <p:ext uri="{D42A27DB-BD31-4B8C-83A1-F6EECF244321}">
                <p14:modId xmlns:p14="http://schemas.microsoft.com/office/powerpoint/2010/main" val="291894209"/>
              </p:ext>
            </p:extLst>
          </p:nvPr>
        </p:nvGraphicFramePr>
        <p:xfrm>
          <a:off x="609600" y="838200"/>
          <a:ext cx="6172200" cy="51816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665525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A3D4849-FF3B-0C02-00DC-56023D62C31F}"/>
              </a:ext>
            </a:extLst>
          </p:cNvPr>
          <p:cNvSpPr>
            <a:spLocks noGrp="1"/>
          </p:cNvSpPr>
          <p:nvPr>
            <p:ph type="ctrTitle"/>
          </p:nvPr>
        </p:nvSpPr>
        <p:spPr>
          <a:xfrm>
            <a:off x="5638800" y="304801"/>
            <a:ext cx="5486400" cy="2514599"/>
          </a:xfrm>
        </p:spPr>
        <p:txBody>
          <a:bodyPr/>
          <a:lstStyle/>
          <a:p>
            <a:r>
              <a:rPr lang="en-US" dirty="0"/>
              <a:t>Appendix </a:t>
            </a:r>
          </a:p>
        </p:txBody>
      </p:sp>
    </p:spTree>
    <p:extLst>
      <p:ext uri="{BB962C8B-B14F-4D97-AF65-F5344CB8AC3E}">
        <p14:creationId xmlns:p14="http://schemas.microsoft.com/office/powerpoint/2010/main" val="4246087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title"/>
          </p:nvPr>
        </p:nvSpPr>
        <p:spPr>
          <a:xfrm>
            <a:off x="533400" y="228600"/>
            <a:ext cx="9677400" cy="844532"/>
          </a:xfrm>
        </p:spPr>
        <p:txBody>
          <a:bodyPr anchor="b">
            <a:normAutofit/>
          </a:bodyPr>
          <a:lstStyle/>
          <a:p>
            <a:r>
              <a:rPr lang="en-US" dirty="0"/>
              <a:t>A1: Shot Chart For the Bucks &amp; Thunder </a:t>
            </a:r>
          </a:p>
        </p:txBody>
      </p:sp>
      <p:pic>
        <p:nvPicPr>
          <p:cNvPr id="22" name="Picture 21">
            <a:extLst>
              <a:ext uri="{FF2B5EF4-FFF2-40B4-BE49-F238E27FC236}">
                <a16:creationId xmlns:a16="http://schemas.microsoft.com/office/drawing/2014/main" id="{0D539A2E-7D30-A216-BB7C-DFC922AA66E8}"/>
              </a:ext>
            </a:extLst>
          </p:cNvPr>
          <p:cNvPicPr>
            <a:picLocks noChangeAspect="1"/>
          </p:cNvPicPr>
          <p:nvPr/>
        </p:nvPicPr>
        <p:blipFill>
          <a:blip r:embed="rId3"/>
          <a:stretch>
            <a:fillRect/>
          </a:stretch>
        </p:blipFill>
        <p:spPr>
          <a:xfrm>
            <a:off x="-6677" y="1208138"/>
            <a:ext cx="6029876" cy="5649862"/>
          </a:xfrm>
          <a:prstGeom prst="rect">
            <a:avLst/>
          </a:prstGeom>
        </p:spPr>
      </p:pic>
      <p:pic>
        <p:nvPicPr>
          <p:cNvPr id="24" name="Picture 23">
            <a:extLst>
              <a:ext uri="{FF2B5EF4-FFF2-40B4-BE49-F238E27FC236}">
                <a16:creationId xmlns:a16="http://schemas.microsoft.com/office/drawing/2014/main" id="{56B5F261-6407-B5C5-65EE-A02D9EF834E4}"/>
              </a:ext>
            </a:extLst>
          </p:cNvPr>
          <p:cNvPicPr>
            <a:picLocks noChangeAspect="1"/>
          </p:cNvPicPr>
          <p:nvPr/>
        </p:nvPicPr>
        <p:blipFill>
          <a:blip r:embed="rId4"/>
          <a:stretch>
            <a:fillRect/>
          </a:stretch>
        </p:blipFill>
        <p:spPr>
          <a:xfrm>
            <a:off x="6023199" y="1206587"/>
            <a:ext cx="6168801" cy="5649862"/>
          </a:xfrm>
          <a:prstGeom prst="rect">
            <a:avLst/>
          </a:prstGeom>
        </p:spPr>
      </p:pic>
    </p:spTree>
    <p:extLst>
      <p:ext uri="{BB962C8B-B14F-4D97-AF65-F5344CB8AC3E}">
        <p14:creationId xmlns:p14="http://schemas.microsoft.com/office/powerpoint/2010/main" val="19495776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10058400" cy="1143000"/>
          </a:xfrm>
        </p:spPr>
        <p:txBody>
          <a:bodyPr anchor="b">
            <a:normAutofit/>
          </a:bodyPr>
          <a:lstStyle/>
          <a:p>
            <a:pPr algn="ctr"/>
            <a:r>
              <a:rPr lang="en-US" dirty="0"/>
              <a:t>A2: Shooting Efficiency Between MIL VS OKC</a:t>
            </a:r>
          </a:p>
        </p:txBody>
      </p:sp>
      <p:pic>
        <p:nvPicPr>
          <p:cNvPr id="7" name="Picture 6">
            <a:extLst>
              <a:ext uri="{FF2B5EF4-FFF2-40B4-BE49-F238E27FC236}">
                <a16:creationId xmlns:a16="http://schemas.microsoft.com/office/drawing/2014/main" id="{74FDAB68-95E0-DC67-4E76-188D05D2F7E5}"/>
              </a:ext>
            </a:extLst>
          </p:cNvPr>
          <p:cNvPicPr>
            <a:picLocks noChangeAspect="1"/>
          </p:cNvPicPr>
          <p:nvPr/>
        </p:nvPicPr>
        <p:blipFill>
          <a:blip r:embed="rId3"/>
          <a:stretch>
            <a:fillRect/>
          </a:stretch>
        </p:blipFill>
        <p:spPr>
          <a:xfrm>
            <a:off x="1219200" y="1360932"/>
            <a:ext cx="9882094" cy="5039868"/>
          </a:xfrm>
          <a:prstGeom prst="rect">
            <a:avLst/>
          </a:prstGeom>
          <a:noFill/>
        </p:spPr>
      </p:pic>
    </p:spTree>
    <p:extLst>
      <p:ext uri="{BB962C8B-B14F-4D97-AF65-F5344CB8AC3E}">
        <p14:creationId xmlns:p14="http://schemas.microsoft.com/office/powerpoint/2010/main" val="2993111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74914" y="1219200"/>
            <a:ext cx="5227320" cy="823912"/>
          </a:xfrm>
        </p:spPr>
        <p:txBody>
          <a:bodyPr/>
          <a:lstStyle/>
          <a:p>
            <a:r>
              <a:rPr lang="en-US" dirty="0"/>
              <a:t>Field Goal % by Shot Zone MIL VS OKC</a:t>
            </a:r>
          </a:p>
        </p:txBody>
      </p:sp>
      <p:pic>
        <p:nvPicPr>
          <p:cNvPr id="8" name="Content Placeholder 7">
            <a:extLst>
              <a:ext uri="{FF2B5EF4-FFF2-40B4-BE49-F238E27FC236}">
                <a16:creationId xmlns:a16="http://schemas.microsoft.com/office/drawing/2014/main" id="{BA612B8D-3B43-7C68-FD30-30631BCBAC09}"/>
              </a:ext>
            </a:extLst>
          </p:cNvPr>
          <p:cNvPicPr>
            <a:picLocks noGrp="1" noChangeAspect="1"/>
          </p:cNvPicPr>
          <p:nvPr>
            <p:ph sz="half" idx="2"/>
          </p:nvPr>
        </p:nvPicPr>
        <p:blipFill>
          <a:blip r:embed="rId3"/>
          <a:stretch>
            <a:fillRect/>
          </a:stretch>
        </p:blipFill>
        <p:spPr>
          <a:xfrm>
            <a:off x="304800" y="2405743"/>
            <a:ext cx="5422795" cy="3411000"/>
          </a:xfrm>
        </p:spPr>
      </p:pic>
      <p:sp>
        <p:nvSpPr>
          <p:cNvPr id="5" name="Text Placeholder 4"/>
          <p:cNvSpPr>
            <a:spLocks noGrp="1"/>
          </p:cNvSpPr>
          <p:nvPr>
            <p:ph type="body" sz="quarter" idx="3"/>
          </p:nvPr>
        </p:nvSpPr>
        <p:spPr>
          <a:xfrm>
            <a:off x="6322425" y="1251857"/>
            <a:ext cx="5489331" cy="823912"/>
          </a:xfrm>
        </p:spPr>
        <p:txBody>
          <a:bodyPr/>
          <a:lstStyle/>
          <a:p>
            <a:r>
              <a:rPr lang="en-US" dirty="0"/>
              <a:t>Field Goal % by Shot Type MIL VS OKC</a:t>
            </a:r>
          </a:p>
        </p:txBody>
      </p:sp>
      <p:pic>
        <p:nvPicPr>
          <p:cNvPr id="7" name="Picture 6">
            <a:extLst>
              <a:ext uri="{FF2B5EF4-FFF2-40B4-BE49-F238E27FC236}">
                <a16:creationId xmlns:a16="http://schemas.microsoft.com/office/drawing/2014/main" id="{D62C8ECA-0DD4-FF58-84E4-E874F8DFFD72}"/>
              </a:ext>
            </a:extLst>
          </p:cNvPr>
          <p:cNvPicPr>
            <a:picLocks noChangeAspect="1"/>
          </p:cNvPicPr>
          <p:nvPr/>
        </p:nvPicPr>
        <p:blipFill>
          <a:blip r:embed="rId4"/>
          <a:stretch>
            <a:fillRect/>
          </a:stretch>
        </p:blipFill>
        <p:spPr>
          <a:xfrm>
            <a:off x="6121557" y="2405743"/>
            <a:ext cx="5765643" cy="3421886"/>
          </a:xfrm>
          <a:prstGeom prst="rect">
            <a:avLst/>
          </a:prstGeom>
        </p:spPr>
      </p:pic>
      <p:sp>
        <p:nvSpPr>
          <p:cNvPr id="12" name="TextBox 11">
            <a:extLst>
              <a:ext uri="{FF2B5EF4-FFF2-40B4-BE49-F238E27FC236}">
                <a16:creationId xmlns:a16="http://schemas.microsoft.com/office/drawing/2014/main" id="{4D5B18D5-5308-65C0-02A3-3BF63D94CD63}"/>
              </a:ext>
            </a:extLst>
          </p:cNvPr>
          <p:cNvSpPr txBox="1"/>
          <p:nvPr/>
        </p:nvSpPr>
        <p:spPr>
          <a:xfrm>
            <a:off x="2283825" y="308209"/>
            <a:ext cx="8077200" cy="646331"/>
          </a:xfrm>
          <a:prstGeom prst="rect">
            <a:avLst/>
          </a:prstGeom>
          <a:noFill/>
        </p:spPr>
        <p:txBody>
          <a:bodyPr wrap="square">
            <a:spAutoFit/>
          </a:bodyPr>
          <a:lstStyle/>
          <a:p>
            <a:r>
              <a:rPr kumimoji="0" lang="en-US" sz="3600" b="0" i="0" u="none" strike="noStrike" kern="1200" cap="none" spc="0" normalizeH="0" baseline="0" noProof="0" dirty="0">
                <a:ln>
                  <a:noFill/>
                </a:ln>
                <a:solidFill>
                  <a:prstClr val="white"/>
                </a:solidFill>
                <a:effectLst/>
                <a:uLnTx/>
                <a:uFillTx/>
                <a:latin typeface="Impact"/>
                <a:ea typeface="+mj-ea"/>
                <a:cs typeface="+mj-cs"/>
              </a:rPr>
              <a:t>A3: Shot Zone &amp; Shot Type Percentages</a:t>
            </a:r>
            <a:endParaRPr lang="en-US" dirty="0"/>
          </a:p>
        </p:txBody>
      </p:sp>
    </p:spTree>
    <p:extLst>
      <p:ext uri="{BB962C8B-B14F-4D97-AF65-F5344CB8AC3E}">
        <p14:creationId xmlns:p14="http://schemas.microsoft.com/office/powerpoint/2010/main" val="4078798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665D6328-2424-6BBA-0D92-9AAE85AE8053}"/>
              </a:ext>
            </a:extLst>
          </p:cNvPr>
          <p:cNvSpPr>
            <a:spLocks noGrp="1"/>
          </p:cNvSpPr>
          <p:nvPr>
            <p:ph type="title"/>
          </p:nvPr>
        </p:nvSpPr>
        <p:spPr>
          <a:xfrm>
            <a:off x="1066800" y="304800"/>
            <a:ext cx="10058400" cy="1143000"/>
          </a:xfrm>
        </p:spPr>
        <p:txBody>
          <a:bodyPr anchor="b">
            <a:normAutofit/>
          </a:bodyPr>
          <a:lstStyle/>
          <a:p>
            <a:pPr algn="ctr"/>
            <a:r>
              <a:rPr lang="en-US" dirty="0"/>
              <a:t>A4: Average Shot Quality Team &amp; Individual </a:t>
            </a:r>
          </a:p>
        </p:txBody>
      </p:sp>
      <p:pic>
        <p:nvPicPr>
          <p:cNvPr id="8" name="Content Placeholder 2">
            <a:extLst>
              <a:ext uri="{FF2B5EF4-FFF2-40B4-BE49-F238E27FC236}">
                <a16:creationId xmlns:a16="http://schemas.microsoft.com/office/drawing/2014/main" id="{89A2F097-5997-7007-3CA1-C2BDE43F0B4F}"/>
              </a:ext>
            </a:extLst>
          </p:cNvPr>
          <p:cNvPicPr>
            <a:picLocks noChangeAspect="1"/>
          </p:cNvPicPr>
          <p:nvPr/>
        </p:nvPicPr>
        <p:blipFill>
          <a:blip r:embed="rId3"/>
          <a:srcRect l="11573" r="3" b="3"/>
          <a:stretch/>
        </p:blipFill>
        <p:spPr>
          <a:xfrm>
            <a:off x="2971800" y="1676400"/>
            <a:ext cx="5943600" cy="4780452"/>
          </a:xfrm>
          <a:prstGeom prst="rect">
            <a:avLst/>
          </a:prstGeom>
          <a:noFill/>
        </p:spPr>
      </p:pic>
    </p:spTree>
    <p:extLst>
      <p:ext uri="{BB962C8B-B14F-4D97-AF65-F5344CB8AC3E}">
        <p14:creationId xmlns:p14="http://schemas.microsoft.com/office/powerpoint/2010/main" val="19017974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C1E2F-6A81-CC09-B2FB-86A396C9AFCE}"/>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9CB8F43C-F23F-3170-EE1B-13ADB556172B}"/>
              </a:ext>
            </a:extLst>
          </p:cNvPr>
          <p:cNvSpPr>
            <a:spLocks noGrp="1"/>
          </p:cNvSpPr>
          <p:nvPr>
            <p:ph type="title"/>
          </p:nvPr>
        </p:nvSpPr>
        <p:spPr>
          <a:xfrm>
            <a:off x="1066800" y="304800"/>
            <a:ext cx="10058400" cy="1143000"/>
          </a:xfrm>
        </p:spPr>
        <p:txBody>
          <a:bodyPr anchor="b">
            <a:normAutofit/>
          </a:bodyPr>
          <a:lstStyle/>
          <a:p>
            <a:r>
              <a:rPr lang="en-US" dirty="0"/>
              <a:t>A5:Individual Shot Quality &amp; Field Goal Percentage</a:t>
            </a:r>
          </a:p>
        </p:txBody>
      </p:sp>
      <p:pic>
        <p:nvPicPr>
          <p:cNvPr id="5" name="Content Placeholder 4">
            <a:extLst>
              <a:ext uri="{FF2B5EF4-FFF2-40B4-BE49-F238E27FC236}">
                <a16:creationId xmlns:a16="http://schemas.microsoft.com/office/drawing/2014/main" id="{0F34D5ED-5EC6-9E0C-A867-8CEEA437936F}"/>
              </a:ext>
            </a:extLst>
          </p:cNvPr>
          <p:cNvPicPr>
            <a:picLocks noGrp="1" noChangeAspect="1"/>
          </p:cNvPicPr>
          <p:nvPr>
            <p:ph idx="1"/>
          </p:nvPr>
        </p:nvPicPr>
        <p:blipFill>
          <a:blip r:embed="rId3"/>
          <a:stretch>
            <a:fillRect/>
          </a:stretch>
        </p:blipFill>
        <p:spPr>
          <a:xfrm>
            <a:off x="1617896" y="1676400"/>
            <a:ext cx="8956207" cy="4724400"/>
          </a:xfrm>
          <a:noFill/>
        </p:spPr>
      </p:pic>
    </p:spTree>
    <p:extLst>
      <p:ext uri="{BB962C8B-B14F-4D97-AF65-F5344CB8AC3E}">
        <p14:creationId xmlns:p14="http://schemas.microsoft.com/office/powerpoint/2010/main" val="27870706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7ECFE349-B38C-DA37-EFD0-9EDB07412BBC}"/>
              </a:ext>
            </a:extLst>
          </p:cNvPr>
          <p:cNvSpPr>
            <a:spLocks noGrp="1"/>
          </p:cNvSpPr>
          <p:nvPr>
            <p:ph type="title"/>
          </p:nvPr>
        </p:nvSpPr>
        <p:spPr>
          <a:xfrm>
            <a:off x="1066800" y="304800"/>
            <a:ext cx="10058400" cy="1143000"/>
          </a:xfrm>
        </p:spPr>
        <p:txBody>
          <a:bodyPr/>
          <a:lstStyle/>
          <a:p>
            <a:pPr algn="ctr"/>
            <a:r>
              <a:rPr lang="en-US" dirty="0"/>
              <a:t>A6: Individual Shot Quality &amp; Field Goal Percentage (Important Time) </a:t>
            </a:r>
          </a:p>
        </p:txBody>
      </p:sp>
      <p:pic>
        <p:nvPicPr>
          <p:cNvPr id="5" name="Content Placeholder 4">
            <a:extLst>
              <a:ext uri="{FF2B5EF4-FFF2-40B4-BE49-F238E27FC236}">
                <a16:creationId xmlns:a16="http://schemas.microsoft.com/office/drawing/2014/main" id="{6B2F8A9B-C88F-C90F-52D8-4A8E2497B683}"/>
              </a:ext>
            </a:extLst>
          </p:cNvPr>
          <p:cNvPicPr>
            <a:picLocks noGrp="1" noChangeAspect="1"/>
          </p:cNvPicPr>
          <p:nvPr>
            <p:ph idx="1"/>
          </p:nvPr>
        </p:nvPicPr>
        <p:blipFill>
          <a:blip r:embed="rId3"/>
          <a:stretch>
            <a:fillRect/>
          </a:stretch>
        </p:blipFill>
        <p:spPr>
          <a:xfrm>
            <a:off x="1617896" y="1676400"/>
            <a:ext cx="8956207" cy="4724400"/>
          </a:xfrm>
          <a:noFill/>
        </p:spPr>
      </p:pic>
    </p:spTree>
    <p:extLst>
      <p:ext uri="{BB962C8B-B14F-4D97-AF65-F5344CB8AC3E}">
        <p14:creationId xmlns:p14="http://schemas.microsoft.com/office/powerpoint/2010/main" val="40485038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C06184A3-A78E-5FD3-CFF2-E78ABF30B935}"/>
              </a:ext>
            </a:extLst>
          </p:cNvPr>
          <p:cNvSpPr>
            <a:spLocks noGrp="1"/>
          </p:cNvSpPr>
          <p:nvPr>
            <p:ph type="title"/>
          </p:nvPr>
        </p:nvSpPr>
        <p:spPr>
          <a:xfrm>
            <a:off x="8001000" y="1828800"/>
            <a:ext cx="3657600" cy="2133600"/>
          </a:xfrm>
        </p:spPr>
        <p:txBody>
          <a:bodyPr anchor="b">
            <a:normAutofit fontScale="90000"/>
          </a:bodyPr>
          <a:lstStyle/>
          <a:p>
            <a:pPr algn="ctr"/>
            <a:r>
              <a:rPr lang="en-US" dirty="0"/>
              <a:t>A7: Important Time: Last 4 Minutes of 1st and 2nd Quarters, Full 3rd Quarter (OKC vs MIL)</a:t>
            </a:r>
          </a:p>
        </p:txBody>
      </p:sp>
      <p:pic>
        <p:nvPicPr>
          <p:cNvPr id="6" name="Content Placeholder 5">
            <a:extLst>
              <a:ext uri="{FF2B5EF4-FFF2-40B4-BE49-F238E27FC236}">
                <a16:creationId xmlns:a16="http://schemas.microsoft.com/office/drawing/2014/main" id="{AC8B613C-B8AB-1256-B368-CBC50E4EE10D}"/>
              </a:ext>
            </a:extLst>
          </p:cNvPr>
          <p:cNvPicPr>
            <a:picLocks noGrp="1" noChangeAspect="1"/>
          </p:cNvPicPr>
          <p:nvPr>
            <p:ph type="pic" idx="1"/>
          </p:nvPr>
        </p:nvPicPr>
        <p:blipFill>
          <a:blip r:embed="rId3"/>
          <a:stretch/>
        </p:blipFill>
        <p:spPr>
          <a:xfrm>
            <a:off x="0" y="578644"/>
            <a:ext cx="7239000" cy="5700712"/>
          </a:xfrm>
          <a:noFill/>
        </p:spPr>
      </p:pic>
    </p:spTree>
    <p:extLst>
      <p:ext uri="{BB962C8B-B14F-4D97-AF65-F5344CB8AC3E}">
        <p14:creationId xmlns:p14="http://schemas.microsoft.com/office/powerpoint/2010/main" val="12515333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DB6EF08A-E94E-320B-7EF1-F1BB45C53A78}"/>
              </a:ext>
            </a:extLst>
          </p:cNvPr>
          <p:cNvSpPr>
            <a:spLocks noGrp="1"/>
          </p:cNvSpPr>
          <p:nvPr>
            <p:ph type="title"/>
          </p:nvPr>
        </p:nvSpPr>
        <p:spPr>
          <a:xfrm>
            <a:off x="1066800" y="304800"/>
            <a:ext cx="10058400" cy="1143000"/>
          </a:xfrm>
        </p:spPr>
        <p:txBody>
          <a:bodyPr/>
          <a:lstStyle/>
          <a:p>
            <a:r>
              <a:rPr lang="en-US" dirty="0"/>
              <a:t>A8: Shot Contest Model </a:t>
            </a:r>
          </a:p>
        </p:txBody>
      </p:sp>
      <p:pic>
        <p:nvPicPr>
          <p:cNvPr id="5" name="Content Placeholder 4">
            <a:extLst>
              <a:ext uri="{FF2B5EF4-FFF2-40B4-BE49-F238E27FC236}">
                <a16:creationId xmlns:a16="http://schemas.microsoft.com/office/drawing/2014/main" id="{99524D39-6E20-BE25-9EBF-D9FD2995DC45}"/>
              </a:ext>
            </a:extLst>
          </p:cNvPr>
          <p:cNvPicPr>
            <a:picLocks noGrp="1" noChangeAspect="1"/>
          </p:cNvPicPr>
          <p:nvPr>
            <p:ph idx="1"/>
          </p:nvPr>
        </p:nvPicPr>
        <p:blipFill>
          <a:blip r:embed="rId3"/>
          <a:stretch>
            <a:fillRect/>
          </a:stretch>
        </p:blipFill>
        <p:spPr>
          <a:xfrm>
            <a:off x="35257" y="2057400"/>
            <a:ext cx="6096000" cy="4343400"/>
          </a:xfrm>
        </p:spPr>
      </p:pic>
      <p:pic>
        <p:nvPicPr>
          <p:cNvPr id="8" name="Picture 7">
            <a:extLst>
              <a:ext uri="{FF2B5EF4-FFF2-40B4-BE49-F238E27FC236}">
                <a16:creationId xmlns:a16="http://schemas.microsoft.com/office/drawing/2014/main" id="{995CF88E-0AD3-33E1-3F23-BDD0FEC94622}"/>
              </a:ext>
            </a:extLst>
          </p:cNvPr>
          <p:cNvPicPr>
            <a:picLocks noChangeAspect="1"/>
          </p:cNvPicPr>
          <p:nvPr/>
        </p:nvPicPr>
        <p:blipFill>
          <a:blip r:embed="rId4"/>
          <a:stretch>
            <a:fillRect/>
          </a:stretch>
        </p:blipFill>
        <p:spPr>
          <a:xfrm>
            <a:off x="6365543" y="2057400"/>
            <a:ext cx="5791200" cy="4343400"/>
          </a:xfrm>
          <a:prstGeom prst="rect">
            <a:avLst/>
          </a:prstGeom>
        </p:spPr>
      </p:pic>
    </p:spTree>
    <p:extLst>
      <p:ext uri="{BB962C8B-B14F-4D97-AF65-F5344CB8AC3E}">
        <p14:creationId xmlns:p14="http://schemas.microsoft.com/office/powerpoint/2010/main" val="746266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A09DC5DA-78C6-595B-EB1D-72074B3139D2}"/>
              </a:ext>
            </a:extLst>
          </p:cNvPr>
          <p:cNvSpPr>
            <a:spLocks noGrp="1"/>
          </p:cNvSpPr>
          <p:nvPr>
            <p:ph type="title"/>
          </p:nvPr>
        </p:nvSpPr>
        <p:spPr>
          <a:xfrm>
            <a:off x="1066800" y="304800"/>
            <a:ext cx="10058400" cy="1143000"/>
          </a:xfrm>
        </p:spPr>
        <p:txBody>
          <a:bodyPr anchor="b">
            <a:normAutofit/>
          </a:bodyPr>
          <a:lstStyle/>
          <a:p>
            <a:r>
              <a:rPr lang="en-US" dirty="0"/>
              <a:t>A9: Points Per Shot Top 10 </a:t>
            </a:r>
          </a:p>
        </p:txBody>
      </p:sp>
      <p:pic>
        <p:nvPicPr>
          <p:cNvPr id="5" name="Content Placeholder 4">
            <a:extLst>
              <a:ext uri="{FF2B5EF4-FFF2-40B4-BE49-F238E27FC236}">
                <a16:creationId xmlns:a16="http://schemas.microsoft.com/office/drawing/2014/main" id="{07051D42-2169-9CC9-2CE3-BA13DC3E99A6}"/>
              </a:ext>
            </a:extLst>
          </p:cNvPr>
          <p:cNvPicPr>
            <a:picLocks noGrp="1" noChangeAspect="1"/>
          </p:cNvPicPr>
          <p:nvPr>
            <p:ph idx="1"/>
          </p:nvPr>
        </p:nvPicPr>
        <p:blipFill>
          <a:blip r:embed="rId3"/>
          <a:stretch>
            <a:fillRect/>
          </a:stretch>
        </p:blipFill>
        <p:spPr>
          <a:xfrm>
            <a:off x="2461356" y="1676400"/>
            <a:ext cx="7269288" cy="4343400"/>
          </a:xfrm>
          <a:noFill/>
        </p:spPr>
      </p:pic>
    </p:spTree>
    <p:extLst>
      <p:ext uri="{BB962C8B-B14F-4D97-AF65-F5344CB8AC3E}">
        <p14:creationId xmlns:p14="http://schemas.microsoft.com/office/powerpoint/2010/main" val="7164742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A0E5EB18-78BE-5B4F-1594-F5B9FC4FDB2C}"/>
              </a:ext>
            </a:extLst>
          </p:cNvPr>
          <p:cNvSpPr>
            <a:spLocks noGrp="1"/>
          </p:cNvSpPr>
          <p:nvPr>
            <p:ph type="title"/>
          </p:nvPr>
        </p:nvSpPr>
        <p:spPr>
          <a:xfrm>
            <a:off x="1066800" y="304800"/>
            <a:ext cx="10058400" cy="1143000"/>
          </a:xfrm>
        </p:spPr>
        <p:txBody>
          <a:bodyPr>
            <a:normAutofit/>
          </a:bodyPr>
          <a:lstStyle/>
          <a:p>
            <a:r>
              <a:rPr lang="en-US" sz="3200" dirty="0"/>
              <a:t>A10: Contest Level Graph Results &amp; Defender Distance FG% </a:t>
            </a:r>
          </a:p>
        </p:txBody>
      </p:sp>
      <p:pic>
        <p:nvPicPr>
          <p:cNvPr id="5" name="Picture 4">
            <a:extLst>
              <a:ext uri="{FF2B5EF4-FFF2-40B4-BE49-F238E27FC236}">
                <a16:creationId xmlns:a16="http://schemas.microsoft.com/office/drawing/2014/main" id="{74D46526-0FE9-1509-6971-02917E262224}"/>
              </a:ext>
            </a:extLst>
          </p:cNvPr>
          <p:cNvPicPr>
            <a:picLocks noChangeAspect="1"/>
          </p:cNvPicPr>
          <p:nvPr/>
        </p:nvPicPr>
        <p:blipFill>
          <a:blip r:embed="rId3"/>
          <a:stretch>
            <a:fillRect/>
          </a:stretch>
        </p:blipFill>
        <p:spPr>
          <a:xfrm>
            <a:off x="8313" y="2514600"/>
            <a:ext cx="6376568" cy="3810000"/>
          </a:xfrm>
          <a:prstGeom prst="rect">
            <a:avLst/>
          </a:prstGeom>
          <a:noFill/>
        </p:spPr>
      </p:pic>
      <p:pic>
        <p:nvPicPr>
          <p:cNvPr id="7" name="Picture 6">
            <a:extLst>
              <a:ext uri="{FF2B5EF4-FFF2-40B4-BE49-F238E27FC236}">
                <a16:creationId xmlns:a16="http://schemas.microsoft.com/office/drawing/2014/main" id="{80F20992-1D3E-4256-8D04-2915E0A179F2}"/>
              </a:ext>
            </a:extLst>
          </p:cNvPr>
          <p:cNvPicPr>
            <a:picLocks noChangeAspect="1"/>
          </p:cNvPicPr>
          <p:nvPr/>
        </p:nvPicPr>
        <p:blipFill>
          <a:blip r:embed="rId4"/>
          <a:stretch>
            <a:fillRect/>
          </a:stretch>
        </p:blipFill>
        <p:spPr>
          <a:xfrm>
            <a:off x="6485140" y="2431472"/>
            <a:ext cx="5705475" cy="3976255"/>
          </a:xfrm>
          <a:prstGeom prst="rect">
            <a:avLst/>
          </a:prstGeom>
        </p:spPr>
      </p:pic>
    </p:spTree>
    <p:extLst>
      <p:ext uri="{BB962C8B-B14F-4D97-AF65-F5344CB8AC3E}">
        <p14:creationId xmlns:p14="http://schemas.microsoft.com/office/powerpoint/2010/main" val="42279567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2BC42DB-E71D-AF78-ABFC-14463AE841C7}"/>
              </a:ext>
            </a:extLst>
          </p:cNvPr>
          <p:cNvSpPr>
            <a:spLocks noGrp="1"/>
          </p:cNvSpPr>
          <p:nvPr>
            <p:ph type="title"/>
          </p:nvPr>
        </p:nvSpPr>
        <p:spPr>
          <a:xfrm>
            <a:off x="1524000" y="304800"/>
            <a:ext cx="10058400" cy="1143000"/>
          </a:xfrm>
        </p:spPr>
        <p:txBody>
          <a:bodyPr/>
          <a:lstStyle/>
          <a:p>
            <a:r>
              <a:rPr lang="en-US" dirty="0"/>
              <a:t>A11: Distance of Defender and Contest level</a:t>
            </a:r>
          </a:p>
        </p:txBody>
      </p:sp>
      <p:pic>
        <p:nvPicPr>
          <p:cNvPr id="3" name="Picture 2">
            <a:extLst>
              <a:ext uri="{FF2B5EF4-FFF2-40B4-BE49-F238E27FC236}">
                <a16:creationId xmlns:a16="http://schemas.microsoft.com/office/drawing/2014/main" id="{959810A6-5191-A66D-4FC9-96FF239A6E66}"/>
              </a:ext>
            </a:extLst>
          </p:cNvPr>
          <p:cNvPicPr>
            <a:picLocks noChangeAspect="1"/>
          </p:cNvPicPr>
          <p:nvPr/>
        </p:nvPicPr>
        <p:blipFill>
          <a:blip r:embed="rId3"/>
          <a:stretch>
            <a:fillRect/>
          </a:stretch>
        </p:blipFill>
        <p:spPr>
          <a:xfrm>
            <a:off x="457200" y="1600200"/>
            <a:ext cx="10813200" cy="5181600"/>
          </a:xfrm>
          <a:prstGeom prst="rect">
            <a:avLst/>
          </a:prstGeom>
          <a:noFill/>
        </p:spPr>
      </p:pic>
    </p:spTree>
    <p:extLst>
      <p:ext uri="{BB962C8B-B14F-4D97-AF65-F5344CB8AC3E}">
        <p14:creationId xmlns:p14="http://schemas.microsoft.com/office/powerpoint/2010/main" val="1756642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A08FE77C-60E8-2D48-EDC1-890C3A6ED5EE}"/>
              </a:ext>
            </a:extLst>
          </p:cNvPr>
          <p:cNvSpPr>
            <a:spLocks noGrp="1"/>
          </p:cNvSpPr>
          <p:nvPr>
            <p:ph type="title"/>
          </p:nvPr>
        </p:nvSpPr>
        <p:spPr>
          <a:xfrm>
            <a:off x="1066800" y="304800"/>
            <a:ext cx="10058400" cy="1143000"/>
          </a:xfrm>
        </p:spPr>
        <p:txBody>
          <a:bodyPr/>
          <a:lstStyle/>
          <a:p>
            <a:r>
              <a:rPr lang="en-US" dirty="0"/>
              <a:t>A12: Shot Prediction For the Milwaukee Bucks </a:t>
            </a:r>
          </a:p>
        </p:txBody>
      </p:sp>
      <p:pic>
        <p:nvPicPr>
          <p:cNvPr id="6" name="Content Placeholder 5">
            <a:extLst>
              <a:ext uri="{FF2B5EF4-FFF2-40B4-BE49-F238E27FC236}">
                <a16:creationId xmlns:a16="http://schemas.microsoft.com/office/drawing/2014/main" id="{98DE5F1E-580C-42B8-6295-1845C61356A2}"/>
              </a:ext>
            </a:extLst>
          </p:cNvPr>
          <p:cNvPicPr>
            <a:picLocks noGrp="1" noChangeAspect="1"/>
          </p:cNvPicPr>
          <p:nvPr>
            <p:ph idx="1"/>
          </p:nvPr>
        </p:nvPicPr>
        <p:blipFill>
          <a:blip r:embed="rId3"/>
          <a:stretch>
            <a:fillRect/>
          </a:stretch>
        </p:blipFill>
        <p:spPr>
          <a:xfrm>
            <a:off x="1693101" y="1676400"/>
            <a:ext cx="8805797" cy="4343400"/>
          </a:xfrm>
        </p:spPr>
      </p:pic>
    </p:spTree>
    <p:extLst>
      <p:ext uri="{BB962C8B-B14F-4D97-AF65-F5344CB8AC3E}">
        <p14:creationId xmlns:p14="http://schemas.microsoft.com/office/powerpoint/2010/main" val="34379209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B3697-AD00-B8B7-694F-146FA9B08818}"/>
              </a:ext>
            </a:extLst>
          </p:cNvPr>
          <p:cNvSpPr>
            <a:spLocks noGrp="1"/>
          </p:cNvSpPr>
          <p:nvPr>
            <p:ph type="title"/>
          </p:nvPr>
        </p:nvSpPr>
        <p:spPr/>
        <p:txBody>
          <a:bodyPr/>
          <a:lstStyle/>
          <a:p>
            <a:r>
              <a:rPr lang="en-US" dirty="0"/>
              <a:t>Field Goal Percent (Angle &amp; Shot Distance)</a:t>
            </a:r>
          </a:p>
        </p:txBody>
      </p:sp>
      <p:pic>
        <p:nvPicPr>
          <p:cNvPr id="5" name="Content Placeholder 4">
            <a:extLst>
              <a:ext uri="{FF2B5EF4-FFF2-40B4-BE49-F238E27FC236}">
                <a16:creationId xmlns:a16="http://schemas.microsoft.com/office/drawing/2014/main" id="{69EC6E8E-9E0B-6B01-E294-0044966C4CCC}"/>
              </a:ext>
            </a:extLst>
          </p:cNvPr>
          <p:cNvPicPr>
            <a:picLocks noGrp="1" noChangeAspect="1"/>
          </p:cNvPicPr>
          <p:nvPr>
            <p:ph idx="1"/>
          </p:nvPr>
        </p:nvPicPr>
        <p:blipFill>
          <a:blip r:embed="rId3"/>
          <a:stretch>
            <a:fillRect/>
          </a:stretch>
        </p:blipFill>
        <p:spPr>
          <a:xfrm>
            <a:off x="152401" y="1981200"/>
            <a:ext cx="5943600" cy="3657600"/>
          </a:xfrm>
        </p:spPr>
      </p:pic>
      <p:pic>
        <p:nvPicPr>
          <p:cNvPr id="7" name="Picture 6">
            <a:extLst>
              <a:ext uri="{FF2B5EF4-FFF2-40B4-BE49-F238E27FC236}">
                <a16:creationId xmlns:a16="http://schemas.microsoft.com/office/drawing/2014/main" id="{7D442549-ECA7-B572-C76A-2FEFA38D774F}"/>
              </a:ext>
            </a:extLst>
          </p:cNvPr>
          <p:cNvPicPr>
            <a:picLocks noChangeAspect="1"/>
          </p:cNvPicPr>
          <p:nvPr/>
        </p:nvPicPr>
        <p:blipFill>
          <a:blip r:embed="rId4"/>
          <a:stretch>
            <a:fillRect/>
          </a:stretch>
        </p:blipFill>
        <p:spPr>
          <a:xfrm>
            <a:off x="6419398" y="1981200"/>
            <a:ext cx="5620202" cy="3657600"/>
          </a:xfrm>
          <a:prstGeom prst="rect">
            <a:avLst/>
          </a:prstGeom>
        </p:spPr>
      </p:pic>
    </p:spTree>
    <p:extLst>
      <p:ext uri="{BB962C8B-B14F-4D97-AF65-F5344CB8AC3E}">
        <p14:creationId xmlns:p14="http://schemas.microsoft.com/office/powerpoint/2010/main" val="22891051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Basketball 16x9">
  <a:themeElements>
    <a:clrScheme name="Basketball">
      <a:dk1>
        <a:sysClr val="windowText" lastClr="000000"/>
      </a:dk1>
      <a:lt1>
        <a:sysClr val="window" lastClr="FFFFFF"/>
      </a:lt1>
      <a:dk2>
        <a:srgbClr val="51270B"/>
      </a:dk2>
      <a:lt2>
        <a:srgbClr val="CAAF92"/>
      </a:lt2>
      <a:accent1>
        <a:srgbClr val="8C061E"/>
      </a:accent1>
      <a:accent2>
        <a:srgbClr val="CD0205"/>
      </a:accent2>
      <a:accent3>
        <a:srgbClr val="D05002"/>
      </a:accent3>
      <a:accent4>
        <a:srgbClr val="052A5E"/>
      </a:accent4>
      <a:accent5>
        <a:srgbClr val="1A559C"/>
      </a:accent5>
      <a:accent6>
        <a:srgbClr val="156645"/>
      </a:accent6>
      <a:hlink>
        <a:srgbClr val="D05002"/>
      </a:hlink>
      <a:folHlink>
        <a:srgbClr val="808080"/>
      </a:folHlink>
    </a:clrScheme>
    <a:fontScheme name="Impact - Franklin Gothic Medium">
      <a:majorFont>
        <a:latin typeface="Impact"/>
        <a:ea typeface=""/>
        <a:cs typeface=""/>
      </a:majorFont>
      <a:minorFont>
        <a:latin typeface="Franklin Gothic Medium"/>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sketball presentation (widescreen).potx" id="{CC5AF3F1-F1AD-46F5-B229-4E1329F06412}" vid="{B7E1BF64-2168-4738-AA42-CF7C9F7F9E95}"/>
    </a:ext>
  </a:extLst>
</a:theme>
</file>

<file path=ppt/theme/theme2.xml><?xml version="1.0" encoding="utf-8"?>
<a:theme xmlns:a="http://schemas.openxmlformats.org/drawingml/2006/main" name="Office Theme">
  <a:themeElements>
    <a:clrScheme name="Basketball">
      <a:dk1>
        <a:sysClr val="windowText" lastClr="000000"/>
      </a:dk1>
      <a:lt1>
        <a:sysClr val="window" lastClr="FFFFFF"/>
      </a:lt1>
      <a:dk2>
        <a:srgbClr val="51270B"/>
      </a:dk2>
      <a:lt2>
        <a:srgbClr val="CAAF92"/>
      </a:lt2>
      <a:accent1>
        <a:srgbClr val="8C061E"/>
      </a:accent1>
      <a:accent2>
        <a:srgbClr val="CD0205"/>
      </a:accent2>
      <a:accent3>
        <a:srgbClr val="D05002"/>
      </a:accent3>
      <a:accent4>
        <a:srgbClr val="052A5E"/>
      </a:accent4>
      <a:accent5>
        <a:srgbClr val="1A559C"/>
      </a:accent5>
      <a:accent6>
        <a:srgbClr val="156645"/>
      </a:accent6>
      <a:hlink>
        <a:srgbClr val="D05002"/>
      </a:hlink>
      <a:folHlink>
        <a:srgbClr val="808080"/>
      </a:folHlink>
    </a:clrScheme>
    <a:fontScheme name="Impact - Franklin Gothic Medium">
      <a:majorFont>
        <a:latin typeface="Impact"/>
        <a:ea typeface=""/>
        <a:cs typeface=""/>
      </a:majorFont>
      <a:minorFont>
        <a:latin typeface="Franklin Gothic Medium"/>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Basketball">
      <a:dk1>
        <a:sysClr val="windowText" lastClr="000000"/>
      </a:dk1>
      <a:lt1>
        <a:sysClr val="window" lastClr="FFFFFF"/>
      </a:lt1>
      <a:dk2>
        <a:srgbClr val="51270B"/>
      </a:dk2>
      <a:lt2>
        <a:srgbClr val="CAAF92"/>
      </a:lt2>
      <a:accent1>
        <a:srgbClr val="8C061E"/>
      </a:accent1>
      <a:accent2>
        <a:srgbClr val="CD0205"/>
      </a:accent2>
      <a:accent3>
        <a:srgbClr val="D05002"/>
      </a:accent3>
      <a:accent4>
        <a:srgbClr val="052A5E"/>
      </a:accent4>
      <a:accent5>
        <a:srgbClr val="1A559C"/>
      </a:accent5>
      <a:accent6>
        <a:srgbClr val="156645"/>
      </a:accent6>
      <a:hlink>
        <a:srgbClr val="D05002"/>
      </a:hlink>
      <a:folHlink>
        <a:srgbClr val="808080"/>
      </a:folHlink>
    </a:clrScheme>
    <a:fontScheme name="Impact - Franklin Gothic Medium">
      <a:majorFont>
        <a:latin typeface="Impact"/>
        <a:ea typeface=""/>
        <a:cs typeface=""/>
      </a:majorFont>
      <a:minorFont>
        <a:latin typeface="Franklin Gothic Medium"/>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Basketball presentation (widescreen)</Template>
  <TotalTime>2929</TotalTime>
  <Words>3184</Words>
  <Application>Microsoft Office PowerPoint</Application>
  <PresentationFormat>Widescreen</PresentationFormat>
  <Paragraphs>126</Paragraphs>
  <Slides>24</Slides>
  <Notes>19</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Franklin Gothic Medium</vt:lpstr>
      <vt:lpstr>Impact</vt:lpstr>
      <vt:lpstr>Basketball 16x9</vt:lpstr>
      <vt:lpstr>Game Report: Milwaukee Bucks vs Oklahoma City Thunder NBA Cup Final 12/17/2024</vt:lpstr>
      <vt:lpstr>Game Context </vt:lpstr>
      <vt:lpstr>How the Bucks Won Their First NBA Cup: 5 Key Takeaways</vt:lpstr>
      <vt:lpstr>Bucks' Shot Efficiency and Zone Control Outpaced Thunder</vt:lpstr>
      <vt:lpstr>Efficiency Under Pressure: Milwaukee Delivered, OKC Faltered</vt:lpstr>
      <vt:lpstr>Bucks Capitalized on Limited Open Looks; Thunder Failed to Convert</vt:lpstr>
      <vt:lpstr>What the Data Reveals About the Bucks’ Shot Success (A12)</vt:lpstr>
      <vt:lpstr>Analytical Insights Behind the Bucks’ Victory </vt:lpstr>
      <vt:lpstr>Next Steps </vt:lpstr>
      <vt:lpstr>Executive Summary: Bucks vs Thunder (NBA Cup Final)</vt:lpstr>
      <vt:lpstr>Appendix </vt:lpstr>
      <vt:lpstr>A1: Shot Chart For the Bucks &amp; Thunder </vt:lpstr>
      <vt:lpstr>A2: Shooting Efficiency Between MIL VS OKC</vt:lpstr>
      <vt:lpstr>PowerPoint Presentation</vt:lpstr>
      <vt:lpstr>A4: Average Shot Quality Team &amp; Individual </vt:lpstr>
      <vt:lpstr>A5:Individual Shot Quality &amp; Field Goal Percentage</vt:lpstr>
      <vt:lpstr>A6: Individual Shot Quality &amp; Field Goal Percentage (Important Time) </vt:lpstr>
      <vt:lpstr>A7: Important Time: Last 4 Minutes of 1st and 2nd Quarters, Full 3rd Quarter (OKC vs MIL)</vt:lpstr>
      <vt:lpstr>A8: Shot Contest Model </vt:lpstr>
      <vt:lpstr>A9: Points Per Shot Top 10 </vt:lpstr>
      <vt:lpstr>A10: Contest Level Graph Results &amp; Defender Distance FG% </vt:lpstr>
      <vt:lpstr>A11: Distance of Defender and Contest level</vt:lpstr>
      <vt:lpstr>A12: Shot Prediction For the Milwaukee Bucks </vt:lpstr>
      <vt:lpstr>Field Goal Percent (Angle &amp; Shot Distance)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Bryant Connolly</dc:creator>
  <cp:lastModifiedBy>Bryant Connolly</cp:lastModifiedBy>
  <cp:revision>2</cp:revision>
  <dcterms:created xsi:type="dcterms:W3CDTF">2025-04-29T20:22:06Z</dcterms:created>
  <dcterms:modified xsi:type="dcterms:W3CDTF">2025-05-03T01:58:05Z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